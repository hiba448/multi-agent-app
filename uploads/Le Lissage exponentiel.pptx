
<file path=[Content_Types].xml><?xml version="1.0" encoding="utf-8"?>
<Types xmlns="http://schemas.openxmlformats.org/package/2006/content-types">
  <Default Extension="bin" ContentType="application/vnd.openxmlformats-officedocument.oleObject"/>
  <Default Extension="png" ContentType="image/png"/>
  <Default Extension="wmf" ContentType="image/x-wmf"/>
  <Default Extension="emf" ContentType="image/x-emf"/>
  <Default Extension="jpeg" ContentType="image/jpeg"/>
  <Default Extension="rels" ContentType="application/vnd.openxmlformats-package.relationships+xml"/>
  <Default Extension="xml" ContentType="application/xml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74"/>
  </p:notesMasterIdLst>
  <p:sldIdLst>
    <p:sldId id="257" r:id="rId5"/>
    <p:sldId id="323" r:id="rId6"/>
    <p:sldId id="324" r:id="rId7"/>
    <p:sldId id="256" r:id="rId8"/>
    <p:sldId id="258" r:id="rId9"/>
    <p:sldId id="260" r:id="rId10"/>
    <p:sldId id="288" r:id="rId11"/>
    <p:sldId id="272" r:id="rId12"/>
    <p:sldId id="325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5" r:id="rId22"/>
    <p:sldId id="271" r:id="rId23"/>
    <p:sldId id="326" r:id="rId24"/>
    <p:sldId id="273" r:id="rId25"/>
    <p:sldId id="274" r:id="rId26"/>
    <p:sldId id="327" r:id="rId27"/>
    <p:sldId id="276" r:id="rId28"/>
    <p:sldId id="277" r:id="rId29"/>
    <p:sldId id="278" r:id="rId30"/>
    <p:sldId id="279" r:id="rId31"/>
    <p:sldId id="280" r:id="rId32"/>
    <p:sldId id="281" r:id="rId33"/>
    <p:sldId id="289" r:id="rId34"/>
    <p:sldId id="283" r:id="rId35"/>
    <p:sldId id="282" r:id="rId36"/>
    <p:sldId id="284" r:id="rId37"/>
    <p:sldId id="285" r:id="rId38"/>
    <p:sldId id="286" r:id="rId39"/>
    <p:sldId id="287" r:id="rId40"/>
    <p:sldId id="290" r:id="rId41"/>
    <p:sldId id="291" r:id="rId42"/>
    <p:sldId id="292" r:id="rId43"/>
    <p:sldId id="293" r:id="rId44"/>
    <p:sldId id="297" r:id="rId45"/>
    <p:sldId id="294" r:id="rId46"/>
    <p:sldId id="295" r:id="rId47"/>
    <p:sldId id="328" r:id="rId48"/>
    <p:sldId id="296" r:id="rId49"/>
    <p:sldId id="322" r:id="rId50"/>
    <p:sldId id="298" r:id="rId51"/>
    <p:sldId id="299" r:id="rId52"/>
    <p:sldId id="300" r:id="rId53"/>
    <p:sldId id="301" r:id="rId54"/>
    <p:sldId id="302" r:id="rId55"/>
    <p:sldId id="303" r:id="rId56"/>
    <p:sldId id="304" r:id="rId57"/>
    <p:sldId id="305" r:id="rId58"/>
    <p:sldId id="306" r:id="rId59"/>
    <p:sldId id="307" r:id="rId60"/>
    <p:sldId id="316" r:id="rId61"/>
    <p:sldId id="308" r:id="rId62"/>
    <p:sldId id="309" r:id="rId63"/>
    <p:sldId id="310" r:id="rId64"/>
    <p:sldId id="311" r:id="rId65"/>
    <p:sldId id="313" r:id="rId66"/>
    <p:sldId id="314" r:id="rId67"/>
    <p:sldId id="315" r:id="rId68"/>
    <p:sldId id="317" r:id="rId69"/>
    <p:sldId id="318" r:id="rId70"/>
    <p:sldId id="320" r:id="rId71"/>
    <p:sldId id="319" r:id="rId72"/>
    <p:sldId id="321" r:id="rId73"/>
  </p:sldIdLst>
  <p:sldSz cx="9144000" cy="6858000" type="screen4x3"/>
  <p:notesSz cx="6858000" cy="9144000"/>
  <p:defaultTextStyle>
    <a:defPPr>
      <a:defRPr lang="fr-FR"/>
    </a:defPPr>
    <a:lvl1pPr algn="l" rtl="0" fontAlgn="base">
      <a:spcBef>
        <a:spcPct val="0"/>
      </a:spcBef>
      <a:spcAft>
        <a:spcPct val="0"/>
      </a:spcAft>
      <a:defRPr sz="2000"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fontAlgn="base">
      <a:spcBef>
        <a:spcPct val="0"/>
      </a:spcBef>
      <a:spcAft>
        <a:spcPct val="0"/>
      </a:spcAft>
      <a:defRPr sz="2000"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fontAlgn="base">
      <a:spcBef>
        <a:spcPct val="0"/>
      </a:spcBef>
      <a:spcAft>
        <a:spcPct val="0"/>
      </a:spcAft>
      <a:defRPr sz="2000"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fontAlgn="base">
      <a:spcBef>
        <a:spcPct val="0"/>
      </a:spcBef>
      <a:spcAft>
        <a:spcPct val="0"/>
      </a:spcAft>
      <a:defRPr sz="2000"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fontAlgn="base">
      <a:spcBef>
        <a:spcPct val="0"/>
      </a:spcBef>
      <a:spcAft>
        <a:spcPct val="0"/>
      </a:spcAft>
      <a:defRPr sz="2000"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sz="2000" kern="1200">
        <a:solidFill>
          <a:schemeClr val="tx1"/>
        </a:solidFill>
        <a:latin typeface="Arial" charset="0"/>
        <a:ea typeface="+mn-ea"/>
        <a:cs typeface="Arial" charset="0"/>
      </a:defRPr>
    </a:lvl6pPr>
    <a:lvl7pPr marL="2743200" algn="l" defTabSz="914400" rtl="0" eaLnBrk="1" latinLnBrk="0" hangingPunct="1">
      <a:defRPr sz="2000" kern="1200">
        <a:solidFill>
          <a:schemeClr val="tx1"/>
        </a:solidFill>
        <a:latin typeface="Arial" charset="0"/>
        <a:ea typeface="+mn-ea"/>
        <a:cs typeface="Arial" charset="0"/>
      </a:defRPr>
    </a:lvl7pPr>
    <a:lvl8pPr marL="3200400" algn="l" defTabSz="914400" rtl="0" eaLnBrk="1" latinLnBrk="0" hangingPunct="1">
      <a:defRPr sz="2000" kern="1200">
        <a:solidFill>
          <a:schemeClr val="tx1"/>
        </a:solidFill>
        <a:latin typeface="Arial" charset="0"/>
        <a:ea typeface="+mn-ea"/>
        <a:cs typeface="Arial" charset="0"/>
      </a:defRPr>
    </a:lvl8pPr>
    <a:lvl9pPr marL="3657600" algn="l" defTabSz="914400" rtl="0" eaLnBrk="1" latinLnBrk="0" hangingPunct="1">
      <a:defRPr sz="2000" kern="1200">
        <a:solidFill>
          <a:schemeClr val="tx1"/>
        </a:solidFill>
        <a:latin typeface="Arial" charset="0"/>
        <a:ea typeface="+mn-ea"/>
        <a:cs typeface="Arial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0000"/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Style moyen 2 - Accentuation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F2DE63D5-997A-4646-A377-4702673A728D}" styleName="Style léger 2 - Accentuation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5" d="100"/>
          <a:sy n="65" d="100"/>
        </p:scale>
        <p:origin x="948" y="6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2.xml"/><Relationship Id="rId21" Type="http://schemas.openxmlformats.org/officeDocument/2006/relationships/slide" Target="slides/slide17.xml"/><Relationship Id="rId42" Type="http://schemas.openxmlformats.org/officeDocument/2006/relationships/slide" Target="slides/slide38.xml"/><Relationship Id="rId47" Type="http://schemas.openxmlformats.org/officeDocument/2006/relationships/slide" Target="slides/slide43.xml"/><Relationship Id="rId63" Type="http://schemas.openxmlformats.org/officeDocument/2006/relationships/slide" Target="slides/slide59.xml"/><Relationship Id="rId68" Type="http://schemas.openxmlformats.org/officeDocument/2006/relationships/slide" Target="slides/slide64.xml"/><Relationship Id="rId16" Type="http://schemas.openxmlformats.org/officeDocument/2006/relationships/slide" Target="slides/slide1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slide" Target="slides/slide41.xml"/><Relationship Id="rId53" Type="http://schemas.openxmlformats.org/officeDocument/2006/relationships/slide" Target="slides/slide49.xml"/><Relationship Id="rId58" Type="http://schemas.openxmlformats.org/officeDocument/2006/relationships/slide" Target="slides/slide54.xml"/><Relationship Id="rId66" Type="http://schemas.openxmlformats.org/officeDocument/2006/relationships/slide" Target="slides/slide62.xml"/><Relationship Id="rId74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61" Type="http://schemas.openxmlformats.org/officeDocument/2006/relationships/slide" Target="slides/slide57.xml"/><Relationship Id="rId19" Type="http://schemas.openxmlformats.org/officeDocument/2006/relationships/slide" Target="slides/slide1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slide" Target="slides/slide39.xml"/><Relationship Id="rId48" Type="http://schemas.openxmlformats.org/officeDocument/2006/relationships/slide" Target="slides/slide44.xml"/><Relationship Id="rId56" Type="http://schemas.openxmlformats.org/officeDocument/2006/relationships/slide" Target="slides/slide52.xml"/><Relationship Id="rId64" Type="http://schemas.openxmlformats.org/officeDocument/2006/relationships/slide" Target="slides/slide60.xml"/><Relationship Id="rId69" Type="http://schemas.openxmlformats.org/officeDocument/2006/relationships/slide" Target="slides/slide65.xml"/><Relationship Id="rId77" Type="http://schemas.openxmlformats.org/officeDocument/2006/relationships/theme" Target="theme/theme1.xml"/><Relationship Id="rId8" Type="http://schemas.openxmlformats.org/officeDocument/2006/relationships/slide" Target="slides/slide4.xml"/><Relationship Id="rId51" Type="http://schemas.openxmlformats.org/officeDocument/2006/relationships/slide" Target="slides/slide47.xml"/><Relationship Id="rId72" Type="http://schemas.openxmlformats.org/officeDocument/2006/relationships/slide" Target="slides/slide68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slide" Target="slides/slide42.xml"/><Relationship Id="rId59" Type="http://schemas.openxmlformats.org/officeDocument/2006/relationships/slide" Target="slides/slide55.xml"/><Relationship Id="rId67" Type="http://schemas.openxmlformats.org/officeDocument/2006/relationships/slide" Target="slides/slide63.xml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54" Type="http://schemas.openxmlformats.org/officeDocument/2006/relationships/slide" Target="slides/slide50.xml"/><Relationship Id="rId62" Type="http://schemas.openxmlformats.org/officeDocument/2006/relationships/slide" Target="slides/slide58.xml"/><Relationship Id="rId70" Type="http://schemas.openxmlformats.org/officeDocument/2006/relationships/slide" Target="slides/slide66.xml"/><Relationship Id="rId75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slide" Target="slides/slide45.xml"/><Relationship Id="rId57" Type="http://schemas.openxmlformats.org/officeDocument/2006/relationships/slide" Target="slides/slide53.xml"/><Relationship Id="rId10" Type="http://schemas.openxmlformats.org/officeDocument/2006/relationships/slide" Target="slides/slide6.xml"/><Relationship Id="rId31" Type="http://schemas.openxmlformats.org/officeDocument/2006/relationships/slide" Target="slides/slide27.xml"/><Relationship Id="rId44" Type="http://schemas.openxmlformats.org/officeDocument/2006/relationships/slide" Target="slides/slide40.xml"/><Relationship Id="rId52" Type="http://schemas.openxmlformats.org/officeDocument/2006/relationships/slide" Target="slides/slide48.xml"/><Relationship Id="rId60" Type="http://schemas.openxmlformats.org/officeDocument/2006/relationships/slide" Target="slides/slide56.xml"/><Relationship Id="rId65" Type="http://schemas.openxmlformats.org/officeDocument/2006/relationships/slide" Target="slides/slide61.xml"/><Relationship Id="rId73" Type="http://schemas.openxmlformats.org/officeDocument/2006/relationships/slide" Target="slides/slide69.xml"/><Relationship Id="rId78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9" Type="http://schemas.openxmlformats.org/officeDocument/2006/relationships/slide" Target="slides/slide35.xml"/><Relationship Id="rId34" Type="http://schemas.openxmlformats.org/officeDocument/2006/relationships/slide" Target="slides/slide30.xml"/><Relationship Id="rId50" Type="http://schemas.openxmlformats.org/officeDocument/2006/relationships/slide" Target="slides/slide46.xml"/><Relationship Id="rId55" Type="http://schemas.openxmlformats.org/officeDocument/2006/relationships/slide" Target="slides/slide51.xml"/><Relationship Id="rId76" Type="http://schemas.openxmlformats.org/officeDocument/2006/relationships/viewProps" Target="viewProps.xml"/><Relationship Id="rId7" Type="http://schemas.openxmlformats.org/officeDocument/2006/relationships/slide" Target="slides/slide3.xml"/><Relationship Id="rId71" Type="http://schemas.openxmlformats.org/officeDocument/2006/relationships/slide" Target="slides/slide67.xml"/><Relationship Id="rId2" Type="http://schemas.openxmlformats.org/officeDocument/2006/relationships/customXml" Target="../customXml/item2.xml"/><Relationship Id="rId29" Type="http://schemas.openxmlformats.org/officeDocument/2006/relationships/slide" Target="slides/slide25.xml"/></Relationships>
</file>

<file path=ppt/drawings/_rels/vmlDrawing1.vml.rels><?xml version="1.0" encoding="UTF-8" standalone="yes"?>
<Relationships xmlns="http://schemas.openxmlformats.org/package/2006/relationships"><Relationship Id="rId2" Type="http://schemas.openxmlformats.org/officeDocument/2006/relationships/image" Target="../media/image2.wmf"/><Relationship Id="rId1" Type="http://schemas.openxmlformats.org/officeDocument/2006/relationships/image" Target="../media/image1.wmf"/></Relationships>
</file>

<file path=ppt/drawings/_rels/vmlDrawing2.vml.rels><?xml version="1.0" encoding="UTF-8" standalone="yes"?>
<Relationships xmlns="http://schemas.openxmlformats.org/package/2006/relationships"><Relationship Id="rId3" Type="http://schemas.openxmlformats.org/officeDocument/2006/relationships/image" Target="../media/image5.wmf"/><Relationship Id="rId2" Type="http://schemas.openxmlformats.org/officeDocument/2006/relationships/image" Target="../media/image4.wmf"/><Relationship Id="rId1" Type="http://schemas.openxmlformats.org/officeDocument/2006/relationships/image" Target="../media/image3.wmf"/><Relationship Id="rId4" Type="http://schemas.openxmlformats.org/officeDocument/2006/relationships/image" Target="../media/image6.w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7.emf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8.emf"/></Relationships>
</file>

<file path=ppt/drawings/_rels/vmlDrawing5.vml.rels><?xml version="1.0" encoding="UTF-8" standalone="yes"?>
<Relationships xmlns="http://schemas.openxmlformats.org/package/2006/relationships"><Relationship Id="rId3" Type="http://schemas.openxmlformats.org/officeDocument/2006/relationships/image" Target="../media/image11.wmf"/><Relationship Id="rId2" Type="http://schemas.openxmlformats.org/officeDocument/2006/relationships/image" Target="../media/image10.wmf"/><Relationship Id="rId1" Type="http://schemas.openxmlformats.org/officeDocument/2006/relationships/image" Target="../media/image9.wmf"/><Relationship Id="rId5" Type="http://schemas.openxmlformats.org/officeDocument/2006/relationships/image" Target="../media/image13.wmf"/><Relationship Id="rId4" Type="http://schemas.openxmlformats.org/officeDocument/2006/relationships/image" Target="../media/image12.wmf"/></Relationships>
</file>

<file path=ppt/drawings/_rels/vmlDrawing6.vml.rels><?xml version="1.0" encoding="UTF-8" standalone="yes"?>
<Relationships xmlns="http://schemas.openxmlformats.org/package/2006/relationships"><Relationship Id="rId3" Type="http://schemas.openxmlformats.org/officeDocument/2006/relationships/image" Target="../media/image16.wmf"/><Relationship Id="rId7" Type="http://schemas.openxmlformats.org/officeDocument/2006/relationships/image" Target="../media/image20.wmf"/><Relationship Id="rId2" Type="http://schemas.openxmlformats.org/officeDocument/2006/relationships/image" Target="../media/image15.wmf"/><Relationship Id="rId1" Type="http://schemas.openxmlformats.org/officeDocument/2006/relationships/image" Target="../media/image14.wmf"/><Relationship Id="rId6" Type="http://schemas.openxmlformats.org/officeDocument/2006/relationships/image" Target="../media/image19.wmf"/><Relationship Id="rId5" Type="http://schemas.openxmlformats.org/officeDocument/2006/relationships/image" Target="../media/image18.wmf"/><Relationship Id="rId4" Type="http://schemas.openxmlformats.org/officeDocument/2006/relationships/image" Target="../media/image17.wmf"/></Relationships>
</file>

<file path=ppt/drawings/_rels/vmlDrawing7.vml.rels><?xml version="1.0" encoding="UTF-8" standalone="yes"?>
<Relationships xmlns="http://schemas.openxmlformats.org/package/2006/relationships"><Relationship Id="rId8" Type="http://schemas.openxmlformats.org/officeDocument/2006/relationships/image" Target="../media/image28.emf"/><Relationship Id="rId3" Type="http://schemas.openxmlformats.org/officeDocument/2006/relationships/image" Target="../media/image23.wmf"/><Relationship Id="rId7" Type="http://schemas.openxmlformats.org/officeDocument/2006/relationships/image" Target="../media/image27.wmf"/><Relationship Id="rId2" Type="http://schemas.openxmlformats.org/officeDocument/2006/relationships/image" Target="../media/image22.wmf"/><Relationship Id="rId1" Type="http://schemas.openxmlformats.org/officeDocument/2006/relationships/image" Target="../media/image21.wmf"/><Relationship Id="rId6" Type="http://schemas.openxmlformats.org/officeDocument/2006/relationships/image" Target="../media/image26.wmf"/><Relationship Id="rId5" Type="http://schemas.openxmlformats.org/officeDocument/2006/relationships/image" Target="../media/image25.emf"/><Relationship Id="rId4" Type="http://schemas.openxmlformats.org/officeDocument/2006/relationships/image" Target="../media/image24.wmf"/></Relationships>
</file>

<file path=ppt/drawings/_rels/vmlDrawing8.vml.rels><?xml version="1.0" encoding="UTF-8" standalone="yes"?>
<Relationships xmlns="http://schemas.openxmlformats.org/package/2006/relationships"><Relationship Id="rId3" Type="http://schemas.openxmlformats.org/officeDocument/2006/relationships/image" Target="../media/image31.wmf"/><Relationship Id="rId2" Type="http://schemas.openxmlformats.org/officeDocument/2006/relationships/image" Target="../media/image30.wmf"/><Relationship Id="rId1" Type="http://schemas.openxmlformats.org/officeDocument/2006/relationships/image" Target="../media/image29.wmf"/><Relationship Id="rId6" Type="http://schemas.openxmlformats.org/officeDocument/2006/relationships/image" Target="../media/image34.wmf"/><Relationship Id="rId5" Type="http://schemas.openxmlformats.org/officeDocument/2006/relationships/image" Target="../media/image33.wmf"/><Relationship Id="rId4" Type="http://schemas.openxmlformats.org/officeDocument/2006/relationships/image" Target="../media/image32.wmf"/></Relationships>
</file>

<file path=ppt/drawings/_rels/vmlDrawing9.vml.rels><?xml version="1.0" encoding="UTF-8" standalone="yes"?>
<Relationships xmlns="http://schemas.openxmlformats.org/package/2006/relationships"><Relationship Id="rId8" Type="http://schemas.openxmlformats.org/officeDocument/2006/relationships/image" Target="../media/image41.emf"/><Relationship Id="rId3" Type="http://schemas.openxmlformats.org/officeDocument/2006/relationships/image" Target="../media/image36.emf"/><Relationship Id="rId7" Type="http://schemas.openxmlformats.org/officeDocument/2006/relationships/image" Target="../media/image40.wmf"/><Relationship Id="rId2" Type="http://schemas.openxmlformats.org/officeDocument/2006/relationships/image" Target="../media/image35.wmf"/><Relationship Id="rId1" Type="http://schemas.openxmlformats.org/officeDocument/2006/relationships/image" Target="../media/image30.wmf"/><Relationship Id="rId6" Type="http://schemas.openxmlformats.org/officeDocument/2006/relationships/image" Target="../media/image39.wmf"/><Relationship Id="rId5" Type="http://schemas.openxmlformats.org/officeDocument/2006/relationships/image" Target="../media/image38.wmf"/><Relationship Id="rId4" Type="http://schemas.openxmlformats.org/officeDocument/2006/relationships/image" Target="../media/image37.emf"/><Relationship Id="rId9" Type="http://schemas.openxmlformats.org/officeDocument/2006/relationships/image" Target="../media/image42.wmf"/></Relationships>
</file>

<file path=ppt/drawings/_rels/vmlDrawing10.vml.rels><?xml version="1.0" encoding="UTF-8" standalone="yes"?>
<Relationships xmlns="http://schemas.openxmlformats.org/package/2006/relationships"><Relationship Id="rId8" Type="http://schemas.openxmlformats.org/officeDocument/2006/relationships/image" Target="../media/image49.emf"/><Relationship Id="rId3" Type="http://schemas.openxmlformats.org/officeDocument/2006/relationships/image" Target="../media/image44.wmf"/><Relationship Id="rId7" Type="http://schemas.openxmlformats.org/officeDocument/2006/relationships/image" Target="../media/image48.wmf"/><Relationship Id="rId2" Type="http://schemas.openxmlformats.org/officeDocument/2006/relationships/image" Target="../media/image43.wmf"/><Relationship Id="rId1" Type="http://schemas.openxmlformats.org/officeDocument/2006/relationships/image" Target="../media/image29.wmf"/><Relationship Id="rId6" Type="http://schemas.openxmlformats.org/officeDocument/2006/relationships/image" Target="../media/image47.emf"/><Relationship Id="rId5" Type="http://schemas.openxmlformats.org/officeDocument/2006/relationships/image" Target="../media/image46.emf"/><Relationship Id="rId4" Type="http://schemas.openxmlformats.org/officeDocument/2006/relationships/image" Target="../media/image45.wmf"/><Relationship Id="rId9" Type="http://schemas.openxmlformats.org/officeDocument/2006/relationships/image" Target="../media/image50.emf"/></Relationships>
</file>

<file path=ppt/drawings/_rels/vmlDrawing11.vml.rels><?xml version="1.0" encoding="UTF-8" standalone="yes"?>
<Relationships xmlns="http://schemas.openxmlformats.org/package/2006/relationships"><Relationship Id="rId3" Type="http://schemas.openxmlformats.org/officeDocument/2006/relationships/image" Target="../media/image53.emf"/><Relationship Id="rId2" Type="http://schemas.openxmlformats.org/officeDocument/2006/relationships/image" Target="../media/image52.emf"/><Relationship Id="rId1" Type="http://schemas.openxmlformats.org/officeDocument/2006/relationships/image" Target="../media/image51.emf"/><Relationship Id="rId5" Type="http://schemas.openxmlformats.org/officeDocument/2006/relationships/image" Target="../media/image55.emf"/><Relationship Id="rId4" Type="http://schemas.openxmlformats.org/officeDocument/2006/relationships/image" Target="../media/image54.emf"/></Relationships>
</file>

<file path=ppt/drawings/_rels/vmlDrawing12.vml.rels><?xml version="1.0" encoding="UTF-8" standalone="yes"?>
<Relationships xmlns="http://schemas.openxmlformats.org/package/2006/relationships"><Relationship Id="rId3" Type="http://schemas.openxmlformats.org/officeDocument/2006/relationships/image" Target="../media/image58.wmf"/><Relationship Id="rId2" Type="http://schemas.openxmlformats.org/officeDocument/2006/relationships/image" Target="../media/image57.emf"/><Relationship Id="rId1" Type="http://schemas.openxmlformats.org/officeDocument/2006/relationships/image" Target="../media/image56.emf"/></Relationships>
</file>

<file path=ppt/drawings/_rels/vmlDrawing13.vml.rels><?xml version="1.0" encoding="UTF-8" standalone="yes"?>
<Relationships xmlns="http://schemas.openxmlformats.org/package/2006/relationships"><Relationship Id="rId1" Type="http://schemas.openxmlformats.org/officeDocument/2006/relationships/image" Target="../media/image60.emf"/></Relationships>
</file>

<file path=ppt/drawings/_rels/vmlDrawing14.vml.rels><?xml version="1.0" encoding="UTF-8" standalone="yes"?>
<Relationships xmlns="http://schemas.openxmlformats.org/package/2006/relationships"><Relationship Id="rId1" Type="http://schemas.openxmlformats.org/officeDocument/2006/relationships/image" Target="../media/image61.emf"/></Relationships>
</file>

<file path=ppt/drawings/_rels/vmlDrawing15.vml.rels><?xml version="1.0" encoding="UTF-8" standalone="yes"?>
<Relationships xmlns="http://schemas.openxmlformats.org/package/2006/relationships"><Relationship Id="rId3" Type="http://schemas.openxmlformats.org/officeDocument/2006/relationships/image" Target="../media/image9.wmf"/><Relationship Id="rId2" Type="http://schemas.openxmlformats.org/officeDocument/2006/relationships/image" Target="../media/image63.emf"/><Relationship Id="rId1" Type="http://schemas.openxmlformats.org/officeDocument/2006/relationships/image" Target="../media/image62.emf"/></Relationships>
</file>

<file path=ppt/drawings/_rels/vmlDrawing16.vml.rels><?xml version="1.0" encoding="UTF-8" standalone="yes"?>
<Relationships xmlns="http://schemas.openxmlformats.org/package/2006/relationships"><Relationship Id="rId1" Type="http://schemas.openxmlformats.org/officeDocument/2006/relationships/image" Target="../media/image64.wmf"/></Relationships>
</file>

<file path=ppt/drawings/_rels/vmlDrawing17.vml.rels><?xml version="1.0" encoding="UTF-8" standalone="yes"?>
<Relationships xmlns="http://schemas.openxmlformats.org/package/2006/relationships"><Relationship Id="rId1" Type="http://schemas.openxmlformats.org/officeDocument/2006/relationships/image" Target="../media/image65.wmf"/></Relationships>
</file>

<file path=ppt/drawings/_rels/vmlDrawing18.vml.rels><?xml version="1.0" encoding="UTF-8" standalone="yes"?>
<Relationships xmlns="http://schemas.openxmlformats.org/package/2006/relationships"><Relationship Id="rId1" Type="http://schemas.openxmlformats.org/officeDocument/2006/relationships/image" Target="../media/image66.wmf"/></Relationships>
</file>

<file path=ppt/drawings/_rels/vmlDrawing19.vml.rels><?xml version="1.0" encoding="UTF-8" standalone="yes"?>
<Relationships xmlns="http://schemas.openxmlformats.org/package/2006/relationships"><Relationship Id="rId3" Type="http://schemas.openxmlformats.org/officeDocument/2006/relationships/image" Target="../media/image69.wmf"/><Relationship Id="rId2" Type="http://schemas.openxmlformats.org/officeDocument/2006/relationships/image" Target="../media/image68.wmf"/><Relationship Id="rId1" Type="http://schemas.openxmlformats.org/officeDocument/2006/relationships/image" Target="../media/image67.wmf"/></Relationships>
</file>

<file path=ppt/drawings/_rels/vmlDrawing20.vml.rels><?xml version="1.0" encoding="UTF-8" standalone="yes"?>
<Relationships xmlns="http://schemas.openxmlformats.org/package/2006/relationships"><Relationship Id="rId2" Type="http://schemas.openxmlformats.org/officeDocument/2006/relationships/image" Target="../media/image71.wmf"/><Relationship Id="rId1" Type="http://schemas.openxmlformats.org/officeDocument/2006/relationships/image" Target="../media/image70.wmf"/></Relationships>
</file>

<file path=ppt/drawings/_rels/vmlDrawing21.vml.rels><?xml version="1.0" encoding="UTF-8" standalone="yes"?>
<Relationships xmlns="http://schemas.openxmlformats.org/package/2006/relationships"><Relationship Id="rId3" Type="http://schemas.openxmlformats.org/officeDocument/2006/relationships/image" Target="../media/image74.wmf"/><Relationship Id="rId2" Type="http://schemas.openxmlformats.org/officeDocument/2006/relationships/image" Target="../media/image73.wmf"/><Relationship Id="rId1" Type="http://schemas.openxmlformats.org/officeDocument/2006/relationships/image" Target="../media/image72.wmf"/><Relationship Id="rId4" Type="http://schemas.openxmlformats.org/officeDocument/2006/relationships/image" Target="../media/image75.wmf"/></Relationships>
</file>

<file path=ppt/drawings/_rels/vmlDrawing22.vml.rels><?xml version="1.0" encoding="UTF-8" standalone="yes"?>
<Relationships xmlns="http://schemas.openxmlformats.org/package/2006/relationships"><Relationship Id="rId3" Type="http://schemas.openxmlformats.org/officeDocument/2006/relationships/image" Target="../media/image78.wmf"/><Relationship Id="rId2" Type="http://schemas.openxmlformats.org/officeDocument/2006/relationships/image" Target="../media/image77.wmf"/><Relationship Id="rId1" Type="http://schemas.openxmlformats.org/officeDocument/2006/relationships/image" Target="../media/image76.wmf"/></Relationships>
</file>

<file path=ppt/drawings/_rels/vmlDrawing23.vml.rels><?xml version="1.0" encoding="UTF-8" standalone="yes"?>
<Relationships xmlns="http://schemas.openxmlformats.org/package/2006/relationships"><Relationship Id="rId3" Type="http://schemas.openxmlformats.org/officeDocument/2006/relationships/image" Target="../media/image81.wmf"/><Relationship Id="rId2" Type="http://schemas.openxmlformats.org/officeDocument/2006/relationships/image" Target="../media/image80.wmf"/><Relationship Id="rId1" Type="http://schemas.openxmlformats.org/officeDocument/2006/relationships/image" Target="../media/image79.wmf"/><Relationship Id="rId4" Type="http://schemas.openxmlformats.org/officeDocument/2006/relationships/image" Target="../media/image82.wmf"/></Relationships>
</file>

<file path=ppt/drawings/_rels/vmlDrawing24.vml.rels><?xml version="1.0" encoding="UTF-8" standalone="yes"?>
<Relationships xmlns="http://schemas.openxmlformats.org/package/2006/relationships"><Relationship Id="rId3" Type="http://schemas.openxmlformats.org/officeDocument/2006/relationships/image" Target="../media/image85.wmf"/><Relationship Id="rId2" Type="http://schemas.openxmlformats.org/officeDocument/2006/relationships/image" Target="../media/image84.wmf"/><Relationship Id="rId1" Type="http://schemas.openxmlformats.org/officeDocument/2006/relationships/image" Target="../media/image83.wmf"/><Relationship Id="rId6" Type="http://schemas.openxmlformats.org/officeDocument/2006/relationships/image" Target="../media/image88.wmf"/><Relationship Id="rId5" Type="http://schemas.openxmlformats.org/officeDocument/2006/relationships/image" Target="../media/image87.wmf"/><Relationship Id="rId4" Type="http://schemas.openxmlformats.org/officeDocument/2006/relationships/image" Target="../media/image86.wmf"/></Relationships>
</file>

<file path=ppt/drawings/_rels/vmlDrawing25.vml.rels><?xml version="1.0" encoding="UTF-8" standalone="yes"?>
<Relationships xmlns="http://schemas.openxmlformats.org/package/2006/relationships"><Relationship Id="rId2" Type="http://schemas.openxmlformats.org/officeDocument/2006/relationships/image" Target="../media/image90.wmf"/><Relationship Id="rId1" Type="http://schemas.openxmlformats.org/officeDocument/2006/relationships/image" Target="../media/image89.wmf"/></Relationships>
</file>

<file path=ppt/drawings/_rels/vmlDrawing26.vml.rels><?xml version="1.0" encoding="UTF-8" standalone="yes"?>
<Relationships xmlns="http://schemas.openxmlformats.org/package/2006/relationships"><Relationship Id="rId2" Type="http://schemas.openxmlformats.org/officeDocument/2006/relationships/image" Target="../media/image92.wmf"/><Relationship Id="rId1" Type="http://schemas.openxmlformats.org/officeDocument/2006/relationships/image" Target="../media/image91.wmf"/></Relationships>
</file>

<file path=ppt/drawings/_rels/vmlDrawing27.vml.rels><?xml version="1.0" encoding="UTF-8" standalone="yes"?>
<Relationships xmlns="http://schemas.openxmlformats.org/package/2006/relationships"><Relationship Id="rId1" Type="http://schemas.openxmlformats.org/officeDocument/2006/relationships/image" Target="../media/image93.wmf"/></Relationships>
</file>

<file path=ppt/drawings/_rels/vmlDrawing28.vml.rels><?xml version="1.0" encoding="UTF-8" standalone="yes"?>
<Relationships xmlns="http://schemas.openxmlformats.org/package/2006/relationships"><Relationship Id="rId2" Type="http://schemas.openxmlformats.org/officeDocument/2006/relationships/image" Target="../media/image92.wmf"/><Relationship Id="rId1" Type="http://schemas.openxmlformats.org/officeDocument/2006/relationships/image" Target="../media/image94.wmf"/></Relationships>
</file>

<file path=ppt/drawings/_rels/vmlDrawing29.vml.rels><?xml version="1.0" encoding="UTF-8" standalone="yes"?>
<Relationships xmlns="http://schemas.openxmlformats.org/package/2006/relationships"><Relationship Id="rId3" Type="http://schemas.openxmlformats.org/officeDocument/2006/relationships/image" Target="../media/image97.wmf"/><Relationship Id="rId2" Type="http://schemas.openxmlformats.org/officeDocument/2006/relationships/image" Target="../media/image96.wmf"/><Relationship Id="rId1" Type="http://schemas.openxmlformats.org/officeDocument/2006/relationships/image" Target="../media/image95.wmf"/></Relationships>
</file>

<file path=ppt/drawings/_rels/vmlDrawing30.vml.rels><?xml version="1.0" encoding="UTF-8" standalone="yes"?>
<Relationships xmlns="http://schemas.openxmlformats.org/package/2006/relationships"><Relationship Id="rId1" Type="http://schemas.openxmlformats.org/officeDocument/2006/relationships/image" Target="../media/image98.wmf"/></Relationships>
</file>

<file path=ppt/drawings/_rels/vmlDrawing3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05.e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B9FFCFD-9501-436B-B522-521519267EFD}" type="datetimeFigureOut">
              <a:rPr lang="fr-FR" smtClean="0"/>
              <a:t>06/02/2025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31D185A-28AC-4B2F-A203-3F454D4DE92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485058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31D185A-28AC-4B2F-A203-3F454D4DE928}" type="slidenum">
              <a:rPr lang="fr-FR" smtClean="0"/>
              <a:t>2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42547155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31D185A-28AC-4B2F-A203-3F454D4DE928}" type="slidenum">
              <a:rPr lang="fr-FR" smtClean="0"/>
              <a:t>9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82096158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31D185A-28AC-4B2F-A203-3F454D4DE928}" type="slidenum">
              <a:rPr lang="fr-FR" smtClean="0"/>
              <a:t>51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98041165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31D185A-28AC-4B2F-A203-3F454D4DE928}" type="slidenum">
              <a:rPr lang="fr-FR" smtClean="0"/>
              <a:t>60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00855980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31D185A-28AC-4B2F-A203-3F454D4DE928}" type="slidenum">
              <a:rPr lang="fr-FR" smtClean="0"/>
              <a:t>62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79632929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fr-FR" smtClean="0"/>
              <a:t>Modifiez le style des sous-titres du masque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 altLang="fr-FR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 altLang="fr-FR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70E7326-4D92-4675-A146-CA6D1A20B598}" type="slidenum">
              <a:rPr lang="fr-FR" altLang="fr-FR"/>
              <a:pPr>
                <a:defRPr/>
              </a:pPr>
              <a:t>‹N°›</a:t>
            </a:fld>
            <a:endParaRPr lang="fr-FR" altLang="fr-FR"/>
          </a:p>
        </p:txBody>
      </p:sp>
    </p:spTree>
    <p:extLst>
      <p:ext uri="{BB962C8B-B14F-4D97-AF65-F5344CB8AC3E}">
        <p14:creationId xmlns:p14="http://schemas.microsoft.com/office/powerpoint/2010/main" val="140809780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 altLang="fr-FR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 altLang="fr-FR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6DC0BB6-21B3-4BFC-A65D-03B15991B6F1}" type="slidenum">
              <a:rPr lang="fr-FR" altLang="fr-FR"/>
              <a:pPr>
                <a:defRPr/>
              </a:pPr>
              <a:t>‹N°›</a:t>
            </a:fld>
            <a:endParaRPr lang="fr-FR" altLang="fr-FR"/>
          </a:p>
        </p:txBody>
      </p:sp>
    </p:spTree>
    <p:extLst>
      <p:ext uri="{BB962C8B-B14F-4D97-AF65-F5344CB8AC3E}">
        <p14:creationId xmlns:p14="http://schemas.microsoft.com/office/powerpoint/2010/main" val="18521749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 altLang="fr-FR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 altLang="fr-FR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909882A-009E-45E7-9BED-81C75D69FF23}" type="slidenum">
              <a:rPr lang="fr-FR" altLang="fr-FR"/>
              <a:pPr>
                <a:defRPr/>
              </a:pPr>
              <a:t>‹N°›</a:t>
            </a:fld>
            <a:endParaRPr lang="fr-FR" altLang="fr-FR"/>
          </a:p>
        </p:txBody>
      </p:sp>
    </p:spTree>
    <p:extLst>
      <p:ext uri="{BB962C8B-B14F-4D97-AF65-F5344CB8AC3E}">
        <p14:creationId xmlns:p14="http://schemas.microsoft.com/office/powerpoint/2010/main" val="64554720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 altLang="fr-FR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 altLang="fr-FR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34FACB8-50E7-41DD-BD1B-05856266A9E9}" type="slidenum">
              <a:rPr lang="fr-FR" altLang="fr-FR"/>
              <a:pPr>
                <a:defRPr/>
              </a:pPr>
              <a:t>‹N°›</a:t>
            </a:fld>
            <a:endParaRPr lang="fr-FR" altLang="fr-FR"/>
          </a:p>
        </p:txBody>
      </p:sp>
    </p:spTree>
    <p:extLst>
      <p:ext uri="{BB962C8B-B14F-4D97-AF65-F5344CB8AC3E}">
        <p14:creationId xmlns:p14="http://schemas.microsoft.com/office/powerpoint/2010/main" val="23322040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 altLang="fr-FR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 altLang="fr-FR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7BB8519-C7BE-4A16-BF71-7D5082F9C160}" type="slidenum">
              <a:rPr lang="fr-FR" altLang="fr-FR"/>
              <a:pPr>
                <a:defRPr/>
              </a:pPr>
              <a:t>‹N°›</a:t>
            </a:fld>
            <a:endParaRPr lang="fr-FR" altLang="fr-FR"/>
          </a:p>
        </p:txBody>
      </p:sp>
    </p:spTree>
    <p:extLst>
      <p:ext uri="{BB962C8B-B14F-4D97-AF65-F5344CB8AC3E}">
        <p14:creationId xmlns:p14="http://schemas.microsoft.com/office/powerpoint/2010/main" val="175055972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 altLang="fr-FR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 altLang="fr-FR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7098C3F-27F4-49A9-A39C-176CBABF5DD7}" type="slidenum">
              <a:rPr lang="fr-FR" altLang="fr-FR"/>
              <a:pPr>
                <a:defRPr/>
              </a:pPr>
              <a:t>‹N°›</a:t>
            </a:fld>
            <a:endParaRPr lang="fr-FR" altLang="fr-FR"/>
          </a:p>
        </p:txBody>
      </p:sp>
    </p:spTree>
    <p:extLst>
      <p:ext uri="{BB962C8B-B14F-4D97-AF65-F5344CB8AC3E}">
        <p14:creationId xmlns:p14="http://schemas.microsoft.com/office/powerpoint/2010/main" val="69359910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 altLang="fr-FR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 altLang="fr-FR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5AB16FD-5079-4D91-A033-51063F6D6DCC}" type="slidenum">
              <a:rPr lang="fr-FR" altLang="fr-FR"/>
              <a:pPr>
                <a:defRPr/>
              </a:pPr>
              <a:t>‹N°›</a:t>
            </a:fld>
            <a:endParaRPr lang="fr-FR" altLang="fr-FR"/>
          </a:p>
        </p:txBody>
      </p:sp>
    </p:spTree>
    <p:extLst>
      <p:ext uri="{BB962C8B-B14F-4D97-AF65-F5344CB8AC3E}">
        <p14:creationId xmlns:p14="http://schemas.microsoft.com/office/powerpoint/2010/main" val="18817086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 altLang="fr-FR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 altLang="fr-FR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EE0E159-4902-40C4-BCAA-F7FBA7DDDF25}" type="slidenum">
              <a:rPr lang="fr-FR" altLang="fr-FR"/>
              <a:pPr>
                <a:defRPr/>
              </a:pPr>
              <a:t>‹N°›</a:t>
            </a:fld>
            <a:endParaRPr lang="fr-FR" altLang="fr-FR"/>
          </a:p>
        </p:txBody>
      </p:sp>
    </p:spTree>
    <p:extLst>
      <p:ext uri="{BB962C8B-B14F-4D97-AF65-F5344CB8AC3E}">
        <p14:creationId xmlns:p14="http://schemas.microsoft.com/office/powerpoint/2010/main" val="21168496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fr-FR" noProof="0" smtClean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 altLang="fr-FR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 altLang="fr-FR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986D92D-0B8C-49B7-B121-24804C576B90}" type="slidenum">
              <a:rPr lang="fr-FR" altLang="fr-FR"/>
              <a:pPr>
                <a:defRPr/>
              </a:pPr>
              <a:t>‹N°›</a:t>
            </a:fld>
            <a:endParaRPr lang="fr-FR" altLang="fr-FR"/>
          </a:p>
        </p:txBody>
      </p:sp>
    </p:spTree>
    <p:extLst>
      <p:ext uri="{BB962C8B-B14F-4D97-AF65-F5344CB8AC3E}">
        <p14:creationId xmlns:p14="http://schemas.microsoft.com/office/powerpoint/2010/main" val="117786973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 altLang="fr-FR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 altLang="fr-FR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35CE124-6C74-4455-BA80-08BAB4F85E2B}" type="slidenum">
              <a:rPr lang="fr-FR" altLang="fr-FR"/>
              <a:pPr>
                <a:defRPr/>
              </a:pPr>
              <a:t>‹N°›</a:t>
            </a:fld>
            <a:endParaRPr lang="fr-FR" altLang="fr-FR"/>
          </a:p>
        </p:txBody>
      </p:sp>
    </p:spTree>
    <p:extLst>
      <p:ext uri="{BB962C8B-B14F-4D97-AF65-F5344CB8AC3E}">
        <p14:creationId xmlns:p14="http://schemas.microsoft.com/office/powerpoint/2010/main" val="4152463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 altLang="fr-FR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 altLang="fr-FR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B81B325-14F5-41A3-AE00-7F19D548F927}" type="slidenum">
              <a:rPr lang="fr-FR" altLang="fr-FR"/>
              <a:pPr>
                <a:defRPr/>
              </a:pPr>
              <a:t>‹N°›</a:t>
            </a:fld>
            <a:endParaRPr lang="fr-FR" altLang="fr-FR"/>
          </a:p>
        </p:txBody>
      </p:sp>
    </p:spTree>
    <p:extLst>
      <p:ext uri="{BB962C8B-B14F-4D97-AF65-F5344CB8AC3E}">
        <p14:creationId xmlns:p14="http://schemas.microsoft.com/office/powerpoint/2010/main" val="10422905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fr-FR" altLang="fr-FR" smtClean="0"/>
              <a:t>Cliquez pour modifier le style du titre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fr-FR" altLang="fr-FR" smtClean="0"/>
              <a:t>Cliquez pour modifier les styles du texte du masque</a:t>
            </a:r>
          </a:p>
          <a:p>
            <a:pPr lvl="1"/>
            <a:r>
              <a:rPr lang="fr-FR" altLang="fr-FR" smtClean="0"/>
              <a:t>Deuxième niveau</a:t>
            </a:r>
          </a:p>
          <a:p>
            <a:pPr lvl="2"/>
            <a:r>
              <a:rPr lang="fr-FR" altLang="fr-FR" smtClean="0"/>
              <a:t>Troisième niveau</a:t>
            </a:r>
          </a:p>
          <a:p>
            <a:pPr lvl="3"/>
            <a:r>
              <a:rPr lang="fr-FR" altLang="fr-FR" smtClean="0"/>
              <a:t>Quatrième niveau</a:t>
            </a:r>
          </a:p>
          <a:p>
            <a:pPr lvl="4"/>
            <a:r>
              <a:rPr lang="fr-FR" altLang="fr-FR" smtClean="0"/>
              <a:t>Cinquième niveau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pPr>
              <a:defRPr/>
            </a:pPr>
            <a:endParaRPr lang="fr-FR" altLang="fr-FR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pPr>
              <a:defRPr/>
            </a:pPr>
            <a:endParaRPr lang="fr-FR" altLang="fr-FR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pPr>
              <a:defRPr/>
            </a:pPr>
            <a:fld id="{22E91152-4E1D-4E72-B3ED-A7F0FAB9A688}" type="slidenum">
              <a:rPr lang="fr-FR" altLang="fr-FR"/>
              <a:pPr>
                <a:defRPr/>
              </a:pPr>
              <a:t>‹N°›</a:t>
            </a:fld>
            <a:endParaRPr lang="fr-FR" alt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1.xml"/><Relationship Id="rId1" Type="http://schemas.openxmlformats.org/officeDocument/2006/relationships/vmlDrawing" Target="../drawings/vmlDrawing1.vml"/><Relationship Id="rId6" Type="http://schemas.openxmlformats.org/officeDocument/2006/relationships/image" Target="../media/image2.wmf"/><Relationship Id="rId5" Type="http://schemas.openxmlformats.org/officeDocument/2006/relationships/oleObject" Target="../embeddings/oleObject2.bin"/><Relationship Id="rId4" Type="http://schemas.openxmlformats.org/officeDocument/2006/relationships/image" Target="../media/image1.wmf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wmf"/><Relationship Id="rId3" Type="http://schemas.openxmlformats.org/officeDocument/2006/relationships/oleObject" Target="../embeddings/oleObject3.bin"/><Relationship Id="rId7" Type="http://schemas.openxmlformats.org/officeDocument/2006/relationships/oleObject" Target="../embeddings/oleObject5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.vml"/><Relationship Id="rId6" Type="http://schemas.openxmlformats.org/officeDocument/2006/relationships/image" Target="../media/image4.wmf"/><Relationship Id="rId5" Type="http://schemas.openxmlformats.org/officeDocument/2006/relationships/oleObject" Target="../embeddings/oleObject4.bin"/><Relationship Id="rId10" Type="http://schemas.openxmlformats.org/officeDocument/2006/relationships/image" Target="../media/image6.wmf"/><Relationship Id="rId4" Type="http://schemas.openxmlformats.org/officeDocument/2006/relationships/image" Target="../media/image3.wmf"/><Relationship Id="rId9" Type="http://schemas.openxmlformats.org/officeDocument/2006/relationships/oleObject" Target="../embeddings/oleObject6.bin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7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3.vml"/><Relationship Id="rId4" Type="http://schemas.openxmlformats.org/officeDocument/2006/relationships/image" Target="../media/image7.emf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8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4.vml"/><Relationship Id="rId4" Type="http://schemas.openxmlformats.org/officeDocument/2006/relationships/image" Target="../media/image8.emf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9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wmf"/><Relationship Id="rId3" Type="http://schemas.openxmlformats.org/officeDocument/2006/relationships/oleObject" Target="../embeddings/oleObject9.bin"/><Relationship Id="rId7" Type="http://schemas.openxmlformats.org/officeDocument/2006/relationships/oleObject" Target="../embeddings/oleObject11.bin"/><Relationship Id="rId12" Type="http://schemas.openxmlformats.org/officeDocument/2006/relationships/image" Target="../media/image13.w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5.vml"/><Relationship Id="rId6" Type="http://schemas.openxmlformats.org/officeDocument/2006/relationships/image" Target="../media/image10.wmf"/><Relationship Id="rId11" Type="http://schemas.openxmlformats.org/officeDocument/2006/relationships/oleObject" Target="../embeddings/oleObject13.bin"/><Relationship Id="rId5" Type="http://schemas.openxmlformats.org/officeDocument/2006/relationships/oleObject" Target="../embeddings/oleObject10.bin"/><Relationship Id="rId10" Type="http://schemas.openxmlformats.org/officeDocument/2006/relationships/image" Target="../media/image12.wmf"/><Relationship Id="rId4" Type="http://schemas.openxmlformats.org/officeDocument/2006/relationships/image" Target="../media/image9.wmf"/><Relationship Id="rId9" Type="http://schemas.openxmlformats.org/officeDocument/2006/relationships/oleObject" Target="../embeddings/oleObject12.bin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wmf"/><Relationship Id="rId13" Type="http://schemas.openxmlformats.org/officeDocument/2006/relationships/oleObject" Target="../embeddings/oleObject19.bin"/><Relationship Id="rId3" Type="http://schemas.openxmlformats.org/officeDocument/2006/relationships/oleObject" Target="../embeddings/oleObject14.bin"/><Relationship Id="rId7" Type="http://schemas.openxmlformats.org/officeDocument/2006/relationships/oleObject" Target="../embeddings/oleObject16.bin"/><Relationship Id="rId12" Type="http://schemas.openxmlformats.org/officeDocument/2006/relationships/image" Target="../media/image18.wmf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20.wmf"/><Relationship Id="rId1" Type="http://schemas.openxmlformats.org/officeDocument/2006/relationships/vmlDrawing" Target="../drawings/vmlDrawing6.vml"/><Relationship Id="rId6" Type="http://schemas.openxmlformats.org/officeDocument/2006/relationships/image" Target="../media/image15.wmf"/><Relationship Id="rId11" Type="http://schemas.openxmlformats.org/officeDocument/2006/relationships/oleObject" Target="../embeddings/oleObject18.bin"/><Relationship Id="rId5" Type="http://schemas.openxmlformats.org/officeDocument/2006/relationships/oleObject" Target="../embeddings/oleObject15.bin"/><Relationship Id="rId15" Type="http://schemas.openxmlformats.org/officeDocument/2006/relationships/oleObject" Target="../embeddings/oleObject20.bin"/><Relationship Id="rId10" Type="http://schemas.openxmlformats.org/officeDocument/2006/relationships/image" Target="../media/image17.wmf"/><Relationship Id="rId4" Type="http://schemas.openxmlformats.org/officeDocument/2006/relationships/image" Target="../media/image14.wmf"/><Relationship Id="rId9" Type="http://schemas.openxmlformats.org/officeDocument/2006/relationships/oleObject" Target="../embeddings/oleObject17.bin"/><Relationship Id="rId14" Type="http://schemas.openxmlformats.org/officeDocument/2006/relationships/image" Target="../media/image19.wmf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wmf"/><Relationship Id="rId13" Type="http://schemas.openxmlformats.org/officeDocument/2006/relationships/oleObject" Target="../embeddings/oleObject26.bin"/><Relationship Id="rId18" Type="http://schemas.openxmlformats.org/officeDocument/2006/relationships/image" Target="../media/image28.emf"/><Relationship Id="rId3" Type="http://schemas.openxmlformats.org/officeDocument/2006/relationships/oleObject" Target="../embeddings/oleObject21.bin"/><Relationship Id="rId7" Type="http://schemas.openxmlformats.org/officeDocument/2006/relationships/oleObject" Target="../embeddings/oleObject23.bin"/><Relationship Id="rId12" Type="http://schemas.openxmlformats.org/officeDocument/2006/relationships/image" Target="../media/image25.emf"/><Relationship Id="rId17" Type="http://schemas.openxmlformats.org/officeDocument/2006/relationships/oleObject" Target="../embeddings/oleObject28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27.wmf"/><Relationship Id="rId1" Type="http://schemas.openxmlformats.org/officeDocument/2006/relationships/vmlDrawing" Target="../drawings/vmlDrawing7.vml"/><Relationship Id="rId6" Type="http://schemas.openxmlformats.org/officeDocument/2006/relationships/image" Target="../media/image22.wmf"/><Relationship Id="rId11" Type="http://schemas.openxmlformats.org/officeDocument/2006/relationships/oleObject" Target="../embeddings/oleObject25.bin"/><Relationship Id="rId5" Type="http://schemas.openxmlformats.org/officeDocument/2006/relationships/oleObject" Target="../embeddings/oleObject22.bin"/><Relationship Id="rId15" Type="http://schemas.openxmlformats.org/officeDocument/2006/relationships/oleObject" Target="../embeddings/oleObject27.bin"/><Relationship Id="rId10" Type="http://schemas.openxmlformats.org/officeDocument/2006/relationships/image" Target="../media/image24.wmf"/><Relationship Id="rId4" Type="http://schemas.openxmlformats.org/officeDocument/2006/relationships/image" Target="../media/image21.wmf"/><Relationship Id="rId9" Type="http://schemas.openxmlformats.org/officeDocument/2006/relationships/oleObject" Target="../embeddings/oleObject24.bin"/><Relationship Id="rId14" Type="http://schemas.openxmlformats.org/officeDocument/2006/relationships/image" Target="../media/image26.wmf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.wmf"/><Relationship Id="rId13" Type="http://schemas.openxmlformats.org/officeDocument/2006/relationships/oleObject" Target="../embeddings/oleObject34.bin"/><Relationship Id="rId3" Type="http://schemas.openxmlformats.org/officeDocument/2006/relationships/oleObject" Target="../embeddings/oleObject29.bin"/><Relationship Id="rId7" Type="http://schemas.openxmlformats.org/officeDocument/2006/relationships/oleObject" Target="../embeddings/oleObject31.bin"/><Relationship Id="rId12" Type="http://schemas.openxmlformats.org/officeDocument/2006/relationships/image" Target="../media/image33.w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8.vml"/><Relationship Id="rId6" Type="http://schemas.openxmlformats.org/officeDocument/2006/relationships/image" Target="../media/image30.wmf"/><Relationship Id="rId11" Type="http://schemas.openxmlformats.org/officeDocument/2006/relationships/oleObject" Target="../embeddings/oleObject33.bin"/><Relationship Id="rId5" Type="http://schemas.openxmlformats.org/officeDocument/2006/relationships/oleObject" Target="../embeddings/oleObject30.bin"/><Relationship Id="rId10" Type="http://schemas.openxmlformats.org/officeDocument/2006/relationships/image" Target="../media/image32.wmf"/><Relationship Id="rId4" Type="http://schemas.openxmlformats.org/officeDocument/2006/relationships/image" Target="../media/image29.wmf"/><Relationship Id="rId9" Type="http://schemas.openxmlformats.org/officeDocument/2006/relationships/oleObject" Target="../embeddings/oleObject32.bin"/><Relationship Id="rId14" Type="http://schemas.openxmlformats.org/officeDocument/2006/relationships/image" Target="../media/image34.wmf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6.emf"/><Relationship Id="rId13" Type="http://schemas.openxmlformats.org/officeDocument/2006/relationships/oleObject" Target="../embeddings/oleObject40.bin"/><Relationship Id="rId18" Type="http://schemas.openxmlformats.org/officeDocument/2006/relationships/image" Target="../media/image41.emf"/><Relationship Id="rId3" Type="http://schemas.openxmlformats.org/officeDocument/2006/relationships/oleObject" Target="../embeddings/oleObject35.bin"/><Relationship Id="rId7" Type="http://schemas.openxmlformats.org/officeDocument/2006/relationships/oleObject" Target="../embeddings/oleObject37.bin"/><Relationship Id="rId12" Type="http://schemas.openxmlformats.org/officeDocument/2006/relationships/image" Target="../media/image38.wmf"/><Relationship Id="rId17" Type="http://schemas.openxmlformats.org/officeDocument/2006/relationships/oleObject" Target="../embeddings/oleObject42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40.wmf"/><Relationship Id="rId20" Type="http://schemas.openxmlformats.org/officeDocument/2006/relationships/image" Target="../media/image42.wmf"/><Relationship Id="rId1" Type="http://schemas.openxmlformats.org/officeDocument/2006/relationships/vmlDrawing" Target="../drawings/vmlDrawing9.vml"/><Relationship Id="rId6" Type="http://schemas.openxmlformats.org/officeDocument/2006/relationships/image" Target="../media/image35.wmf"/><Relationship Id="rId11" Type="http://schemas.openxmlformats.org/officeDocument/2006/relationships/oleObject" Target="../embeddings/oleObject39.bin"/><Relationship Id="rId5" Type="http://schemas.openxmlformats.org/officeDocument/2006/relationships/oleObject" Target="../embeddings/oleObject36.bin"/><Relationship Id="rId15" Type="http://schemas.openxmlformats.org/officeDocument/2006/relationships/oleObject" Target="../embeddings/oleObject41.bin"/><Relationship Id="rId10" Type="http://schemas.openxmlformats.org/officeDocument/2006/relationships/image" Target="../media/image37.emf"/><Relationship Id="rId19" Type="http://schemas.openxmlformats.org/officeDocument/2006/relationships/oleObject" Target="../embeddings/oleObject43.bin"/><Relationship Id="rId4" Type="http://schemas.openxmlformats.org/officeDocument/2006/relationships/image" Target="../media/image30.wmf"/><Relationship Id="rId9" Type="http://schemas.openxmlformats.org/officeDocument/2006/relationships/oleObject" Target="../embeddings/oleObject38.bin"/><Relationship Id="rId14" Type="http://schemas.openxmlformats.org/officeDocument/2006/relationships/image" Target="../media/image39.wmf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44.wmf"/><Relationship Id="rId13" Type="http://schemas.openxmlformats.org/officeDocument/2006/relationships/oleObject" Target="../embeddings/oleObject49.bin"/><Relationship Id="rId18" Type="http://schemas.openxmlformats.org/officeDocument/2006/relationships/image" Target="../media/image49.emf"/><Relationship Id="rId3" Type="http://schemas.openxmlformats.org/officeDocument/2006/relationships/oleObject" Target="../embeddings/oleObject44.bin"/><Relationship Id="rId7" Type="http://schemas.openxmlformats.org/officeDocument/2006/relationships/oleObject" Target="../embeddings/oleObject46.bin"/><Relationship Id="rId12" Type="http://schemas.openxmlformats.org/officeDocument/2006/relationships/image" Target="../media/image46.emf"/><Relationship Id="rId17" Type="http://schemas.openxmlformats.org/officeDocument/2006/relationships/oleObject" Target="../embeddings/oleObject51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48.wmf"/><Relationship Id="rId20" Type="http://schemas.openxmlformats.org/officeDocument/2006/relationships/image" Target="../media/image50.emf"/><Relationship Id="rId1" Type="http://schemas.openxmlformats.org/officeDocument/2006/relationships/vmlDrawing" Target="../drawings/vmlDrawing10.vml"/><Relationship Id="rId6" Type="http://schemas.openxmlformats.org/officeDocument/2006/relationships/image" Target="../media/image43.wmf"/><Relationship Id="rId11" Type="http://schemas.openxmlformats.org/officeDocument/2006/relationships/oleObject" Target="../embeddings/oleObject48.bin"/><Relationship Id="rId5" Type="http://schemas.openxmlformats.org/officeDocument/2006/relationships/oleObject" Target="../embeddings/oleObject45.bin"/><Relationship Id="rId15" Type="http://schemas.openxmlformats.org/officeDocument/2006/relationships/oleObject" Target="../embeddings/oleObject50.bin"/><Relationship Id="rId10" Type="http://schemas.openxmlformats.org/officeDocument/2006/relationships/image" Target="../media/image45.wmf"/><Relationship Id="rId19" Type="http://schemas.openxmlformats.org/officeDocument/2006/relationships/oleObject" Target="../embeddings/oleObject52.bin"/><Relationship Id="rId4" Type="http://schemas.openxmlformats.org/officeDocument/2006/relationships/image" Target="../media/image29.wmf"/><Relationship Id="rId9" Type="http://schemas.openxmlformats.org/officeDocument/2006/relationships/oleObject" Target="../embeddings/oleObject47.bin"/><Relationship Id="rId14" Type="http://schemas.openxmlformats.org/officeDocument/2006/relationships/image" Target="../media/image47.emf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53.emf"/><Relationship Id="rId3" Type="http://schemas.openxmlformats.org/officeDocument/2006/relationships/oleObject" Target="../embeddings/oleObject53.bin"/><Relationship Id="rId7" Type="http://schemas.openxmlformats.org/officeDocument/2006/relationships/oleObject" Target="../embeddings/oleObject55.bin"/><Relationship Id="rId12" Type="http://schemas.openxmlformats.org/officeDocument/2006/relationships/image" Target="../media/image55.e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1.vml"/><Relationship Id="rId6" Type="http://schemas.openxmlformats.org/officeDocument/2006/relationships/image" Target="../media/image52.emf"/><Relationship Id="rId11" Type="http://schemas.openxmlformats.org/officeDocument/2006/relationships/oleObject" Target="../embeddings/oleObject57.bin"/><Relationship Id="rId5" Type="http://schemas.openxmlformats.org/officeDocument/2006/relationships/oleObject" Target="../embeddings/oleObject54.bin"/><Relationship Id="rId10" Type="http://schemas.openxmlformats.org/officeDocument/2006/relationships/image" Target="../media/image54.emf"/><Relationship Id="rId4" Type="http://schemas.openxmlformats.org/officeDocument/2006/relationships/image" Target="../media/image51.emf"/><Relationship Id="rId9" Type="http://schemas.openxmlformats.org/officeDocument/2006/relationships/oleObject" Target="../embeddings/oleObject56.bin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58.wmf"/><Relationship Id="rId3" Type="http://schemas.openxmlformats.org/officeDocument/2006/relationships/oleObject" Target="../embeddings/oleObject58.bin"/><Relationship Id="rId7" Type="http://schemas.openxmlformats.org/officeDocument/2006/relationships/oleObject" Target="../embeddings/oleObject60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2.vml"/><Relationship Id="rId6" Type="http://schemas.openxmlformats.org/officeDocument/2006/relationships/image" Target="../media/image57.emf"/><Relationship Id="rId5" Type="http://schemas.openxmlformats.org/officeDocument/2006/relationships/oleObject" Target="../embeddings/oleObject59.bin"/><Relationship Id="rId4" Type="http://schemas.openxmlformats.org/officeDocument/2006/relationships/image" Target="../media/image56.emf"/><Relationship Id="rId9" Type="http://schemas.openxmlformats.org/officeDocument/2006/relationships/image" Target="../media/image59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1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3.vml"/><Relationship Id="rId4" Type="http://schemas.openxmlformats.org/officeDocument/2006/relationships/image" Target="../media/image60.emf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2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4.vml"/><Relationship Id="rId5" Type="http://schemas.openxmlformats.org/officeDocument/2006/relationships/image" Target="../media/image68.png"/><Relationship Id="rId4" Type="http://schemas.openxmlformats.org/officeDocument/2006/relationships/image" Target="../media/image61.emf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0.png"/><Relationship Id="rId2" Type="http://schemas.openxmlformats.org/officeDocument/2006/relationships/image" Target="../media/image6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3.png"/><Relationship Id="rId5" Type="http://schemas.openxmlformats.org/officeDocument/2006/relationships/image" Target="../media/image72.png"/><Relationship Id="rId4" Type="http://schemas.openxmlformats.org/officeDocument/2006/relationships/image" Target="../media/image67.png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wmf"/><Relationship Id="rId3" Type="http://schemas.openxmlformats.org/officeDocument/2006/relationships/oleObject" Target="../embeddings/oleObject63.bin"/><Relationship Id="rId7" Type="http://schemas.openxmlformats.org/officeDocument/2006/relationships/oleObject" Target="../embeddings/oleObject65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5.vml"/><Relationship Id="rId6" Type="http://schemas.openxmlformats.org/officeDocument/2006/relationships/image" Target="../media/image63.emf"/><Relationship Id="rId5" Type="http://schemas.openxmlformats.org/officeDocument/2006/relationships/oleObject" Target="../embeddings/oleObject64.bin"/><Relationship Id="rId4" Type="http://schemas.openxmlformats.org/officeDocument/2006/relationships/image" Target="../media/image62.emf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6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6.vml"/><Relationship Id="rId5" Type="http://schemas.openxmlformats.org/officeDocument/2006/relationships/image" Target="../media/image77.png"/><Relationship Id="rId4" Type="http://schemas.openxmlformats.org/officeDocument/2006/relationships/image" Target="../media/image64.wmf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1.png"/><Relationship Id="rId2" Type="http://schemas.openxmlformats.org/officeDocument/2006/relationships/image" Target="../media/image78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75.png"/><Relationship Id="rId4" Type="http://schemas.openxmlformats.org/officeDocument/2006/relationships/image" Target="../media/image65.png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7.bin"/><Relationship Id="rId7" Type="http://schemas.openxmlformats.org/officeDocument/2006/relationships/image" Target="../media/image710.png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7.vml"/><Relationship Id="rId6" Type="http://schemas.openxmlformats.org/officeDocument/2006/relationships/image" Target="../media/image670.png"/><Relationship Id="rId5" Type="http://schemas.openxmlformats.org/officeDocument/2006/relationships/image" Target="../media/image66.png"/><Relationship Id="rId4" Type="http://schemas.openxmlformats.org/officeDocument/2006/relationships/image" Target="../media/image65.wmf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8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8.vml"/><Relationship Id="rId4" Type="http://schemas.openxmlformats.org/officeDocument/2006/relationships/image" Target="../media/image66.wmf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image" Target="../media/image68.wmf"/><Relationship Id="rId3" Type="http://schemas.openxmlformats.org/officeDocument/2006/relationships/oleObject" Target="../embeddings/oleObject69.bin"/><Relationship Id="rId7" Type="http://schemas.openxmlformats.org/officeDocument/2006/relationships/oleObject" Target="../embeddings/oleObject70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9.vml"/><Relationship Id="rId6" Type="http://schemas.openxmlformats.org/officeDocument/2006/relationships/image" Target="../media/image76.png"/><Relationship Id="rId5" Type="http://schemas.openxmlformats.org/officeDocument/2006/relationships/image" Target="../media/image670.png"/><Relationship Id="rId10" Type="http://schemas.openxmlformats.org/officeDocument/2006/relationships/image" Target="../media/image69.wmf"/><Relationship Id="rId4" Type="http://schemas.openxmlformats.org/officeDocument/2006/relationships/image" Target="../media/image67.wmf"/><Relationship Id="rId9" Type="http://schemas.openxmlformats.org/officeDocument/2006/relationships/oleObject" Target="../embeddings/oleObject71.bin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72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0.vml"/><Relationship Id="rId6" Type="http://schemas.openxmlformats.org/officeDocument/2006/relationships/image" Target="../media/image71.wmf"/><Relationship Id="rId5" Type="http://schemas.openxmlformats.org/officeDocument/2006/relationships/oleObject" Target="../embeddings/oleObject73.bin"/><Relationship Id="rId4" Type="http://schemas.openxmlformats.org/officeDocument/2006/relationships/image" Target="../media/image70.wmf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4.wmf"/><Relationship Id="rId3" Type="http://schemas.openxmlformats.org/officeDocument/2006/relationships/oleObject" Target="../embeddings/oleObject74.bin"/><Relationship Id="rId7" Type="http://schemas.openxmlformats.org/officeDocument/2006/relationships/oleObject" Target="../embeddings/oleObject76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1.vml"/><Relationship Id="rId6" Type="http://schemas.openxmlformats.org/officeDocument/2006/relationships/image" Target="../media/image73.wmf"/><Relationship Id="rId5" Type="http://schemas.openxmlformats.org/officeDocument/2006/relationships/oleObject" Target="../embeddings/oleObject75.bin"/><Relationship Id="rId10" Type="http://schemas.openxmlformats.org/officeDocument/2006/relationships/image" Target="../media/image75.wmf"/><Relationship Id="rId4" Type="http://schemas.openxmlformats.org/officeDocument/2006/relationships/image" Target="../media/image72.wmf"/><Relationship Id="rId9" Type="http://schemas.openxmlformats.org/officeDocument/2006/relationships/oleObject" Target="../embeddings/oleObject77.bin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8.wmf"/><Relationship Id="rId3" Type="http://schemas.openxmlformats.org/officeDocument/2006/relationships/oleObject" Target="../embeddings/oleObject78.bin"/><Relationship Id="rId7" Type="http://schemas.openxmlformats.org/officeDocument/2006/relationships/oleObject" Target="../embeddings/oleObject80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2.vml"/><Relationship Id="rId6" Type="http://schemas.openxmlformats.org/officeDocument/2006/relationships/image" Target="../media/image77.wmf"/><Relationship Id="rId5" Type="http://schemas.openxmlformats.org/officeDocument/2006/relationships/oleObject" Target="../embeddings/oleObject79.bin"/><Relationship Id="rId4" Type="http://schemas.openxmlformats.org/officeDocument/2006/relationships/image" Target="../media/image76.wmf"/></Relationships>
</file>

<file path=ppt/slides/_rels/slide34.xml.rels><?xml version="1.0" encoding="UTF-8" standalone="yes"?>
<Relationships xmlns="http://schemas.openxmlformats.org/package/2006/relationships"><Relationship Id="rId8" Type="http://schemas.openxmlformats.org/officeDocument/2006/relationships/image" Target="../media/image81.wmf"/><Relationship Id="rId3" Type="http://schemas.openxmlformats.org/officeDocument/2006/relationships/oleObject" Target="../embeddings/oleObject81.bin"/><Relationship Id="rId7" Type="http://schemas.openxmlformats.org/officeDocument/2006/relationships/oleObject" Target="../embeddings/oleObject83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3.vml"/><Relationship Id="rId6" Type="http://schemas.openxmlformats.org/officeDocument/2006/relationships/image" Target="../media/image80.wmf"/><Relationship Id="rId5" Type="http://schemas.openxmlformats.org/officeDocument/2006/relationships/oleObject" Target="../embeddings/oleObject82.bin"/><Relationship Id="rId10" Type="http://schemas.openxmlformats.org/officeDocument/2006/relationships/image" Target="../media/image82.wmf"/><Relationship Id="rId4" Type="http://schemas.openxmlformats.org/officeDocument/2006/relationships/image" Target="../media/image79.wmf"/><Relationship Id="rId9" Type="http://schemas.openxmlformats.org/officeDocument/2006/relationships/oleObject" Target="../embeddings/oleObject84.bin"/></Relationships>
</file>

<file path=ppt/slides/_rels/slide35.xml.rels><?xml version="1.0" encoding="UTF-8" standalone="yes"?>
<Relationships xmlns="http://schemas.openxmlformats.org/package/2006/relationships"><Relationship Id="rId8" Type="http://schemas.openxmlformats.org/officeDocument/2006/relationships/image" Target="../media/image85.wmf"/><Relationship Id="rId13" Type="http://schemas.openxmlformats.org/officeDocument/2006/relationships/oleObject" Target="../embeddings/oleObject90.bin"/><Relationship Id="rId3" Type="http://schemas.openxmlformats.org/officeDocument/2006/relationships/oleObject" Target="../embeddings/oleObject85.bin"/><Relationship Id="rId7" Type="http://schemas.openxmlformats.org/officeDocument/2006/relationships/oleObject" Target="../embeddings/oleObject87.bin"/><Relationship Id="rId12" Type="http://schemas.openxmlformats.org/officeDocument/2006/relationships/image" Target="../media/image87.w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4.vml"/><Relationship Id="rId6" Type="http://schemas.openxmlformats.org/officeDocument/2006/relationships/image" Target="../media/image84.wmf"/><Relationship Id="rId11" Type="http://schemas.openxmlformats.org/officeDocument/2006/relationships/oleObject" Target="../embeddings/oleObject89.bin"/><Relationship Id="rId5" Type="http://schemas.openxmlformats.org/officeDocument/2006/relationships/oleObject" Target="../embeddings/oleObject86.bin"/><Relationship Id="rId10" Type="http://schemas.openxmlformats.org/officeDocument/2006/relationships/image" Target="../media/image86.wmf"/><Relationship Id="rId4" Type="http://schemas.openxmlformats.org/officeDocument/2006/relationships/image" Target="../media/image83.wmf"/><Relationship Id="rId9" Type="http://schemas.openxmlformats.org/officeDocument/2006/relationships/oleObject" Target="../embeddings/oleObject88.bin"/><Relationship Id="rId14" Type="http://schemas.openxmlformats.org/officeDocument/2006/relationships/image" Target="../media/image88.wmf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91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5.vml"/><Relationship Id="rId6" Type="http://schemas.openxmlformats.org/officeDocument/2006/relationships/image" Target="../media/image90.wmf"/><Relationship Id="rId5" Type="http://schemas.openxmlformats.org/officeDocument/2006/relationships/oleObject" Target="../embeddings/oleObject92.bin"/><Relationship Id="rId4" Type="http://schemas.openxmlformats.org/officeDocument/2006/relationships/image" Target="../media/image89.wmf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93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6.vml"/><Relationship Id="rId6" Type="http://schemas.openxmlformats.org/officeDocument/2006/relationships/image" Target="../media/image92.wmf"/><Relationship Id="rId5" Type="http://schemas.openxmlformats.org/officeDocument/2006/relationships/oleObject" Target="../embeddings/oleObject94.bin"/><Relationship Id="rId4" Type="http://schemas.openxmlformats.org/officeDocument/2006/relationships/image" Target="../media/image91.wmf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95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7.vml"/><Relationship Id="rId5" Type="http://schemas.openxmlformats.org/officeDocument/2006/relationships/image" Target="../media/image94.png"/><Relationship Id="rId4" Type="http://schemas.openxmlformats.org/officeDocument/2006/relationships/image" Target="../media/image93.wmf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96.bin"/><Relationship Id="rId7" Type="http://schemas.openxmlformats.org/officeDocument/2006/relationships/image" Target="../media/image92.w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8.vml"/><Relationship Id="rId6" Type="http://schemas.openxmlformats.org/officeDocument/2006/relationships/oleObject" Target="../embeddings/oleObject97.bin"/><Relationship Id="rId5" Type="http://schemas.openxmlformats.org/officeDocument/2006/relationships/image" Target="../media/image95.png"/><Relationship Id="rId4" Type="http://schemas.openxmlformats.org/officeDocument/2006/relationships/image" Target="../media/image94.wmf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7.png"/><Relationship Id="rId2" Type="http://schemas.openxmlformats.org/officeDocument/2006/relationships/image" Target="../media/image9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0.png"/><Relationship Id="rId5" Type="http://schemas.openxmlformats.org/officeDocument/2006/relationships/image" Target="../media/image99.png"/><Relationship Id="rId4" Type="http://schemas.openxmlformats.org/officeDocument/2006/relationships/image" Target="../media/image98.png"/></Relationships>
</file>

<file path=ppt/slides/_rels/slide42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00.bin"/><Relationship Id="rId3" Type="http://schemas.openxmlformats.org/officeDocument/2006/relationships/image" Target="../media/image101.png"/><Relationship Id="rId7" Type="http://schemas.openxmlformats.org/officeDocument/2006/relationships/image" Target="../media/image96.w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9.vml"/><Relationship Id="rId6" Type="http://schemas.openxmlformats.org/officeDocument/2006/relationships/oleObject" Target="../embeddings/oleObject99.bin"/><Relationship Id="rId5" Type="http://schemas.openxmlformats.org/officeDocument/2006/relationships/image" Target="../media/image95.wmf"/><Relationship Id="rId10" Type="http://schemas.openxmlformats.org/officeDocument/2006/relationships/image" Target="../media/image102.png"/><Relationship Id="rId4" Type="http://schemas.openxmlformats.org/officeDocument/2006/relationships/oleObject" Target="../embeddings/oleObject98.bin"/><Relationship Id="rId9" Type="http://schemas.openxmlformats.org/officeDocument/2006/relationships/image" Target="../media/image97.wmf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20.png"/><Relationship Id="rId2" Type="http://schemas.openxmlformats.org/officeDocument/2006/relationships/image" Target="../media/image1010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03.png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31.png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30.vml"/><Relationship Id="rId5" Type="http://schemas.openxmlformats.org/officeDocument/2006/relationships/image" Target="../media/image98.wmf"/><Relationship Id="rId4" Type="http://schemas.openxmlformats.org/officeDocument/2006/relationships/oleObject" Target="../embeddings/oleObject101.bin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4.png"/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30.png"/><Relationship Id="rId1" Type="http://schemas.openxmlformats.org/officeDocument/2006/relationships/slideLayout" Target="../slideLayouts/slideLayout7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Feuille_de_calcul_Microsoft_Excel.xlsx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31.vml"/><Relationship Id="rId4" Type="http://schemas.openxmlformats.org/officeDocument/2006/relationships/image" Target="../media/image105.emf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50.png"/><Relationship Id="rId2" Type="http://schemas.openxmlformats.org/officeDocument/2006/relationships/image" Target="../media/image1040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06.png"/></Relationships>
</file>

<file path=ppt/slides/_rels/slide5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30.png"/><Relationship Id="rId3" Type="http://schemas.openxmlformats.org/officeDocument/2006/relationships/image" Target="../media/image108.png"/><Relationship Id="rId7" Type="http://schemas.openxmlformats.org/officeDocument/2006/relationships/image" Target="../media/image112.png"/><Relationship Id="rId2" Type="http://schemas.openxmlformats.org/officeDocument/2006/relationships/image" Target="../media/image10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1.png"/><Relationship Id="rId11" Type="http://schemas.openxmlformats.org/officeDocument/2006/relationships/image" Target="../media/image114.png"/><Relationship Id="rId5" Type="http://schemas.openxmlformats.org/officeDocument/2006/relationships/image" Target="../media/image1100.png"/><Relationship Id="rId10" Type="http://schemas.openxmlformats.org/officeDocument/2006/relationships/image" Target="../media/image115.png"/><Relationship Id="rId4" Type="http://schemas.openxmlformats.org/officeDocument/2006/relationships/image" Target="../media/image109.png"/></Relationships>
</file>

<file path=ppt/slides/_rels/slide5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1.png"/><Relationship Id="rId3" Type="http://schemas.openxmlformats.org/officeDocument/2006/relationships/image" Target="../media/image116.png"/><Relationship Id="rId7" Type="http://schemas.openxmlformats.org/officeDocument/2006/relationships/image" Target="../media/image12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9.png"/><Relationship Id="rId5" Type="http://schemas.openxmlformats.org/officeDocument/2006/relationships/image" Target="../media/image118.png"/><Relationship Id="rId4" Type="http://schemas.openxmlformats.org/officeDocument/2006/relationships/image" Target="../media/image117.png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3.png"/><Relationship Id="rId2" Type="http://schemas.openxmlformats.org/officeDocument/2006/relationships/image" Target="../media/image12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6.png"/><Relationship Id="rId5" Type="http://schemas.openxmlformats.org/officeDocument/2006/relationships/image" Target="../media/image125.png"/><Relationship Id="rId4" Type="http://schemas.openxmlformats.org/officeDocument/2006/relationships/image" Target="../media/image124.png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7.png"/><Relationship Id="rId7" Type="http://schemas.openxmlformats.org/officeDocument/2006/relationships/image" Target="../media/image131.png"/><Relationship Id="rId2" Type="http://schemas.openxmlformats.org/officeDocument/2006/relationships/image" Target="../media/image126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30.png"/><Relationship Id="rId5" Type="http://schemas.openxmlformats.org/officeDocument/2006/relationships/image" Target="../media/image129.png"/><Relationship Id="rId4" Type="http://schemas.openxmlformats.org/officeDocument/2006/relationships/image" Target="../media/image128.png"/></Relationships>
</file>

<file path=ppt/slides/_rels/slide5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8.png"/><Relationship Id="rId3" Type="http://schemas.openxmlformats.org/officeDocument/2006/relationships/image" Target="../media/image133.png"/><Relationship Id="rId7" Type="http://schemas.openxmlformats.org/officeDocument/2006/relationships/image" Target="../media/image137.png"/><Relationship Id="rId2" Type="http://schemas.openxmlformats.org/officeDocument/2006/relationships/image" Target="../media/image13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36.png"/><Relationship Id="rId5" Type="http://schemas.openxmlformats.org/officeDocument/2006/relationships/image" Target="../media/image135.png"/><Relationship Id="rId4" Type="http://schemas.openxmlformats.org/officeDocument/2006/relationships/image" Target="../media/image134.png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0.png"/><Relationship Id="rId2" Type="http://schemas.openxmlformats.org/officeDocument/2006/relationships/image" Target="../media/image13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43.png"/><Relationship Id="rId5" Type="http://schemas.openxmlformats.org/officeDocument/2006/relationships/image" Target="../media/image142.png"/><Relationship Id="rId4" Type="http://schemas.openxmlformats.org/officeDocument/2006/relationships/image" Target="../media/image141.png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4.png"/><Relationship Id="rId1" Type="http://schemas.openxmlformats.org/officeDocument/2006/relationships/slideLayout" Target="../slideLayouts/slideLayout7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0.png"/><Relationship Id="rId1" Type="http://schemas.openxmlformats.org/officeDocument/2006/relationships/slideLayout" Target="../slideLayouts/slideLayout7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6.png"/><Relationship Id="rId7" Type="http://schemas.openxmlformats.org/officeDocument/2006/relationships/image" Target="../media/image150.png"/><Relationship Id="rId2" Type="http://schemas.openxmlformats.org/officeDocument/2006/relationships/image" Target="../media/image145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49.png"/><Relationship Id="rId5" Type="http://schemas.openxmlformats.org/officeDocument/2006/relationships/image" Target="../media/image148.png"/><Relationship Id="rId4" Type="http://schemas.openxmlformats.org/officeDocument/2006/relationships/image" Target="../media/image147.png"/></Relationships>
</file>

<file path=ppt/slides/_rels/slide5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7.png"/><Relationship Id="rId3" Type="http://schemas.openxmlformats.org/officeDocument/2006/relationships/image" Target="../media/image152.png"/><Relationship Id="rId7" Type="http://schemas.openxmlformats.org/officeDocument/2006/relationships/image" Target="../media/image156.png"/><Relationship Id="rId2" Type="http://schemas.openxmlformats.org/officeDocument/2006/relationships/image" Target="../media/image15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55.png"/><Relationship Id="rId5" Type="http://schemas.openxmlformats.org/officeDocument/2006/relationships/image" Target="../media/image154.png"/><Relationship Id="rId4" Type="http://schemas.openxmlformats.org/officeDocument/2006/relationships/image" Target="../media/image153.png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8.png"/><Relationship Id="rId7" Type="http://schemas.openxmlformats.org/officeDocument/2006/relationships/image" Target="../media/image16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61.png"/><Relationship Id="rId5" Type="http://schemas.openxmlformats.org/officeDocument/2006/relationships/image" Target="../media/image1131.png"/><Relationship Id="rId4" Type="http://schemas.openxmlformats.org/officeDocument/2006/relationships/image" Target="../media/image159.png"/></Relationships>
</file>

<file path=ppt/slides/_rels/slide6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51.png"/><Relationship Id="rId3" Type="http://schemas.openxmlformats.org/officeDocument/2006/relationships/image" Target="../media/image164.png"/><Relationship Id="rId7" Type="http://schemas.openxmlformats.org/officeDocument/2006/relationships/image" Target="../media/image168.png"/><Relationship Id="rId2" Type="http://schemas.openxmlformats.org/officeDocument/2006/relationships/image" Target="../media/image16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45.png"/><Relationship Id="rId5" Type="http://schemas.openxmlformats.org/officeDocument/2006/relationships/image" Target="../media/image166.png"/><Relationship Id="rId10" Type="http://schemas.openxmlformats.org/officeDocument/2006/relationships/image" Target="../media/image171.png"/><Relationship Id="rId4" Type="http://schemas.openxmlformats.org/officeDocument/2006/relationships/image" Target="../media/image165.png"/><Relationship Id="rId9" Type="http://schemas.openxmlformats.org/officeDocument/2006/relationships/image" Target="../media/image170.png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00.png"/><Relationship Id="rId7" Type="http://schemas.openxmlformats.org/officeDocument/2006/relationships/image" Target="../media/image17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73.png"/><Relationship Id="rId5" Type="http://schemas.openxmlformats.org/officeDocument/2006/relationships/image" Target="../media/image172.png"/><Relationship Id="rId4" Type="http://schemas.openxmlformats.org/officeDocument/2006/relationships/image" Target="../media/image1710.png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9.png"/><Relationship Id="rId7" Type="http://schemas.openxmlformats.org/officeDocument/2006/relationships/image" Target="../media/image178.png"/><Relationship Id="rId2" Type="http://schemas.openxmlformats.org/officeDocument/2006/relationships/image" Target="../media/image16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77.png"/><Relationship Id="rId5" Type="http://schemas.openxmlformats.org/officeDocument/2006/relationships/image" Target="../media/image176.png"/><Relationship Id="rId4" Type="http://schemas.openxmlformats.org/officeDocument/2006/relationships/image" Target="../media/image175.png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9.png"/><Relationship Id="rId7" Type="http://schemas.openxmlformats.org/officeDocument/2006/relationships/image" Target="../media/image186.png"/><Relationship Id="rId2" Type="http://schemas.openxmlformats.org/officeDocument/2006/relationships/image" Target="../media/image18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81.png"/><Relationship Id="rId5" Type="http://schemas.openxmlformats.org/officeDocument/2006/relationships/image" Target="../media/image185.png"/><Relationship Id="rId4" Type="http://schemas.openxmlformats.org/officeDocument/2006/relationships/image" Target="../media/image180.png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8.png"/><Relationship Id="rId7" Type="http://schemas.openxmlformats.org/officeDocument/2006/relationships/image" Target="../media/image192.png"/><Relationship Id="rId2" Type="http://schemas.openxmlformats.org/officeDocument/2006/relationships/image" Target="../media/image18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91.png"/><Relationship Id="rId5" Type="http://schemas.openxmlformats.org/officeDocument/2006/relationships/image" Target="../media/image190.png"/><Relationship Id="rId4" Type="http://schemas.openxmlformats.org/officeDocument/2006/relationships/image" Target="../media/image189.png"/></Relationships>
</file>

<file path=ppt/slides/_rels/slide6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8.png"/><Relationship Id="rId3" Type="http://schemas.openxmlformats.org/officeDocument/2006/relationships/image" Target="../media/image1930.png"/><Relationship Id="rId7" Type="http://schemas.openxmlformats.org/officeDocument/2006/relationships/image" Target="../media/image197.png"/><Relationship Id="rId2" Type="http://schemas.openxmlformats.org/officeDocument/2006/relationships/image" Target="../media/image19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96.png"/><Relationship Id="rId5" Type="http://schemas.openxmlformats.org/officeDocument/2006/relationships/image" Target="../media/image195.png"/><Relationship Id="rId4" Type="http://schemas.openxmlformats.org/officeDocument/2006/relationships/image" Target="../media/image194.png"/><Relationship Id="rId9" Type="http://schemas.openxmlformats.org/officeDocument/2006/relationships/image" Target="../media/image199.png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1.png"/><Relationship Id="rId2" Type="http://schemas.openxmlformats.org/officeDocument/2006/relationships/image" Target="../media/image200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03.png"/><Relationship Id="rId4" Type="http://schemas.openxmlformats.org/officeDocument/2006/relationships/image" Target="../media/image202.png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5.png"/><Relationship Id="rId2" Type="http://schemas.openxmlformats.org/officeDocument/2006/relationships/image" Target="../media/image204.png"/><Relationship Id="rId1" Type="http://schemas.openxmlformats.org/officeDocument/2006/relationships/slideLayout" Target="../slideLayouts/slideLayout7.xml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7.png"/><Relationship Id="rId2" Type="http://schemas.openxmlformats.org/officeDocument/2006/relationships/image" Target="../media/image206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09.png"/><Relationship Id="rId4" Type="http://schemas.openxmlformats.org/officeDocument/2006/relationships/image" Target="../media/image20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ext Box 2"/>
          <p:cNvSpPr txBox="1">
            <a:spLocks noChangeArrowheads="1"/>
          </p:cNvSpPr>
          <p:nvPr/>
        </p:nvSpPr>
        <p:spPr bwMode="auto">
          <a:xfrm>
            <a:off x="827088" y="2204864"/>
            <a:ext cx="7920037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fr-FR" altLang="fr-FR" sz="2000"/>
              <a:t>Le lissage exponentiel simple</a:t>
            </a:r>
          </a:p>
        </p:txBody>
      </p:sp>
      <p:sp>
        <p:nvSpPr>
          <p:cNvPr id="2051" name="Text Box 3"/>
          <p:cNvSpPr txBox="1">
            <a:spLocks noChangeArrowheads="1"/>
          </p:cNvSpPr>
          <p:nvPr/>
        </p:nvSpPr>
        <p:spPr bwMode="auto">
          <a:xfrm>
            <a:off x="827088" y="2780928"/>
            <a:ext cx="7920037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fr-FR" altLang="fr-FR" sz="2000"/>
              <a:t>Le lissage exponentiel double</a:t>
            </a:r>
          </a:p>
        </p:txBody>
      </p:sp>
      <p:sp>
        <p:nvSpPr>
          <p:cNvPr id="2052" name="Text Box 5"/>
          <p:cNvSpPr txBox="1">
            <a:spLocks noChangeArrowheads="1"/>
          </p:cNvSpPr>
          <p:nvPr/>
        </p:nvSpPr>
        <p:spPr bwMode="auto">
          <a:xfrm>
            <a:off x="827088" y="3356992"/>
            <a:ext cx="7920037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fr-FR" altLang="fr-FR" sz="2000"/>
              <a:t>Le lissage de Holt</a:t>
            </a:r>
          </a:p>
        </p:txBody>
      </p:sp>
      <p:sp>
        <p:nvSpPr>
          <p:cNvPr id="2053" name="Text Box 6"/>
          <p:cNvSpPr txBox="1">
            <a:spLocks noChangeArrowheads="1"/>
          </p:cNvSpPr>
          <p:nvPr/>
        </p:nvSpPr>
        <p:spPr bwMode="auto">
          <a:xfrm>
            <a:off x="827088" y="3861048"/>
            <a:ext cx="7920037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fr-FR" altLang="fr-FR" sz="2000"/>
              <a:t>Le lissage de Winters</a:t>
            </a:r>
          </a:p>
        </p:txBody>
      </p:sp>
      <p:sp>
        <p:nvSpPr>
          <p:cNvPr id="2054" name="Rectangle 16"/>
          <p:cNvSpPr>
            <a:spLocks noChangeArrowheads="1"/>
          </p:cNvSpPr>
          <p:nvPr/>
        </p:nvSpPr>
        <p:spPr bwMode="auto">
          <a:xfrm>
            <a:off x="685800" y="549275"/>
            <a:ext cx="7772400" cy="14700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fr-FR" altLang="fr-FR" sz="4400">
                <a:solidFill>
                  <a:schemeClr val="tx2"/>
                </a:solidFill>
              </a:rPr>
              <a:t>Le Lissage exponentiel</a:t>
            </a:r>
          </a:p>
        </p:txBody>
      </p:sp>
      <p:sp>
        <p:nvSpPr>
          <p:cNvPr id="2055" name="Text Box 17"/>
          <p:cNvSpPr txBox="1">
            <a:spLocks noChangeArrowheads="1"/>
          </p:cNvSpPr>
          <p:nvPr/>
        </p:nvSpPr>
        <p:spPr bwMode="auto">
          <a:xfrm>
            <a:off x="827584" y="4328269"/>
            <a:ext cx="7920037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fr-FR" altLang="fr-FR" sz="2000"/>
              <a:t>Le lissage Généralisé</a:t>
            </a:r>
          </a:p>
        </p:txBody>
      </p:sp>
      <p:sp>
        <p:nvSpPr>
          <p:cNvPr id="2" name="ZoneTexte 1"/>
          <p:cNvSpPr txBox="1"/>
          <p:nvPr/>
        </p:nvSpPr>
        <p:spPr>
          <a:xfrm>
            <a:off x="827088" y="4869160"/>
            <a:ext cx="475302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 smtClean="0"/>
              <a:t>‘‘Les modèles de Gardner’’</a:t>
            </a:r>
            <a:endParaRPr lang="fr-FR" dirty="0"/>
          </a:p>
        </p:txBody>
      </p:sp>
      <p:sp>
        <p:nvSpPr>
          <p:cNvPr id="3" name="ZoneTexte 2"/>
          <p:cNvSpPr txBox="1"/>
          <p:nvPr/>
        </p:nvSpPr>
        <p:spPr>
          <a:xfrm>
            <a:off x="827584" y="5517232"/>
            <a:ext cx="460851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 smtClean="0"/>
              <a:t>‘‘Les modèles </a:t>
            </a:r>
            <a:r>
              <a:rPr lang="fr-FR" dirty="0" smtClean="0"/>
              <a:t>ETS</a:t>
            </a:r>
            <a:r>
              <a:rPr lang="fr-FR" dirty="0" smtClean="0"/>
              <a:t>’’</a:t>
            </a:r>
            <a:endParaRPr lang="fr-FR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1"/>
          <p:cNvSpPr txBox="1"/>
          <p:nvPr/>
        </p:nvSpPr>
        <p:spPr>
          <a:xfrm>
            <a:off x="323528" y="260648"/>
            <a:ext cx="842493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 smtClean="0"/>
              <a:t>Modélisation des séries temporelles</a:t>
            </a:r>
            <a:endParaRPr lang="fr-FR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ZoneTexte 2"/>
              <p:cNvSpPr txBox="1"/>
              <p:nvPr/>
            </p:nvSpPr>
            <p:spPr>
              <a:xfrm>
                <a:off x="307292" y="836712"/>
                <a:ext cx="8424936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fr-FR" dirty="0" smtClean="0"/>
                  <a:t>La série temporelle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fr-FR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fr-FR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fr-FR" dirty="0" smtClean="0"/>
                  <a:t> </a:t>
                </a:r>
                <a:r>
                  <a:rPr lang="fr-FR" smtClean="0"/>
                  <a:t>est disponible </a:t>
                </a:r>
                <a:r>
                  <a:rPr lang="fr-FR" dirty="0" smtClean="0"/>
                  <a:t>pour T observations</a:t>
                </a:r>
                <a:endParaRPr lang="fr-FR" dirty="0"/>
              </a:p>
            </p:txBody>
          </p:sp>
        </mc:Choice>
        <mc:Fallback xmlns="">
          <p:sp>
            <p:nvSpPr>
              <p:cNvPr id="3" name="ZoneTexte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7292" y="836712"/>
                <a:ext cx="8424936" cy="400110"/>
              </a:xfrm>
              <a:prstGeom prst="rect">
                <a:avLst/>
              </a:prstGeom>
              <a:blipFill rotWithShape="0">
                <a:blip r:embed="rId3"/>
                <a:stretch>
                  <a:fillRect l="-724" t="-6061" b="-27273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ZoneTexte 3"/>
          <p:cNvSpPr txBox="1"/>
          <p:nvPr/>
        </p:nvSpPr>
        <p:spPr>
          <a:xfrm>
            <a:off x="307292" y="1412776"/>
            <a:ext cx="829715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 smtClean="0"/>
              <a:t>La prévision se fera pour les h derniers instants</a:t>
            </a:r>
            <a:endParaRPr lang="fr-FR" dirty="0"/>
          </a:p>
        </p:txBody>
      </p:sp>
      <p:sp>
        <p:nvSpPr>
          <p:cNvPr id="5" name="ZoneTexte 4"/>
          <p:cNvSpPr txBox="1"/>
          <p:nvPr/>
        </p:nvSpPr>
        <p:spPr>
          <a:xfrm>
            <a:off x="323528" y="2060848"/>
            <a:ext cx="813690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 smtClean="0"/>
              <a:t>Le modèle est ajusté à la série pour les instants : t = 1, … , T-h</a:t>
            </a:r>
            <a:endParaRPr lang="fr-FR" dirty="0"/>
          </a:p>
        </p:txBody>
      </p:sp>
      <p:cxnSp>
        <p:nvCxnSpPr>
          <p:cNvPr id="7" name="Connecteur droit avec flèche 6"/>
          <p:cNvCxnSpPr/>
          <p:nvPr/>
        </p:nvCxnSpPr>
        <p:spPr>
          <a:xfrm>
            <a:off x="467544" y="3356992"/>
            <a:ext cx="7488832" cy="0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Connecteur droit 8"/>
          <p:cNvCxnSpPr/>
          <p:nvPr/>
        </p:nvCxnSpPr>
        <p:spPr>
          <a:xfrm flipV="1">
            <a:off x="827584" y="3284984"/>
            <a:ext cx="0" cy="72008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ZoneTexte 10"/>
          <p:cNvSpPr txBox="1"/>
          <p:nvPr/>
        </p:nvSpPr>
        <p:spPr>
          <a:xfrm>
            <a:off x="683568" y="3316922"/>
            <a:ext cx="43204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 smtClean="0"/>
              <a:t>1</a:t>
            </a:r>
            <a:endParaRPr lang="fr-FR" dirty="0"/>
          </a:p>
        </p:txBody>
      </p:sp>
      <p:cxnSp>
        <p:nvCxnSpPr>
          <p:cNvPr id="12" name="Connecteur droit 11"/>
          <p:cNvCxnSpPr/>
          <p:nvPr/>
        </p:nvCxnSpPr>
        <p:spPr>
          <a:xfrm flipV="1">
            <a:off x="4932040" y="3284984"/>
            <a:ext cx="0" cy="72008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Connecteur droit 12"/>
          <p:cNvCxnSpPr/>
          <p:nvPr/>
        </p:nvCxnSpPr>
        <p:spPr>
          <a:xfrm flipV="1">
            <a:off x="6228184" y="3284984"/>
            <a:ext cx="0" cy="72008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ZoneTexte 13"/>
          <p:cNvSpPr txBox="1"/>
          <p:nvPr/>
        </p:nvSpPr>
        <p:spPr>
          <a:xfrm>
            <a:off x="4716016" y="3316922"/>
            <a:ext cx="57606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 smtClean="0"/>
              <a:t>T-h</a:t>
            </a:r>
            <a:endParaRPr lang="fr-FR" dirty="0"/>
          </a:p>
        </p:txBody>
      </p:sp>
      <p:sp>
        <p:nvSpPr>
          <p:cNvPr id="15" name="ZoneTexte 14"/>
          <p:cNvSpPr txBox="1"/>
          <p:nvPr/>
        </p:nvSpPr>
        <p:spPr>
          <a:xfrm>
            <a:off x="6012160" y="3316922"/>
            <a:ext cx="43204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 smtClean="0"/>
              <a:t>T</a:t>
            </a:r>
            <a:endParaRPr lang="fr-FR" dirty="0"/>
          </a:p>
        </p:txBody>
      </p:sp>
      <p:sp>
        <p:nvSpPr>
          <p:cNvPr id="16" name="ZoneTexte 15"/>
          <p:cNvSpPr txBox="1"/>
          <p:nvPr/>
        </p:nvSpPr>
        <p:spPr>
          <a:xfrm>
            <a:off x="899592" y="2924944"/>
            <a:ext cx="381642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 smtClean="0"/>
              <a:t>Horizon d’ajustement</a:t>
            </a:r>
            <a:endParaRPr lang="fr-FR" dirty="0"/>
          </a:p>
        </p:txBody>
      </p:sp>
      <p:sp>
        <p:nvSpPr>
          <p:cNvPr id="17" name="ZoneTexte 16"/>
          <p:cNvSpPr txBox="1"/>
          <p:nvPr/>
        </p:nvSpPr>
        <p:spPr>
          <a:xfrm>
            <a:off x="4932040" y="2884874"/>
            <a:ext cx="381642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 smtClean="0"/>
              <a:t>Horizon de prévision</a:t>
            </a:r>
            <a:endParaRPr lang="fr-FR" dirty="0"/>
          </a:p>
        </p:txBody>
      </p:sp>
      <p:sp>
        <p:nvSpPr>
          <p:cNvPr id="18" name="ZoneTexte 17"/>
          <p:cNvSpPr txBox="1"/>
          <p:nvPr/>
        </p:nvSpPr>
        <p:spPr>
          <a:xfrm>
            <a:off x="323528" y="3933056"/>
            <a:ext cx="792088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 smtClean="0"/>
              <a:t>On peut distinguer la qualité d’ajustement et la qualité de prévision</a:t>
            </a:r>
            <a:endParaRPr lang="fr-FR" dirty="0"/>
          </a:p>
        </p:txBody>
      </p:sp>
      <p:sp>
        <p:nvSpPr>
          <p:cNvPr id="19" name="ZoneTexte 18"/>
          <p:cNvSpPr txBox="1"/>
          <p:nvPr/>
        </p:nvSpPr>
        <p:spPr>
          <a:xfrm>
            <a:off x="307292" y="4521314"/>
            <a:ext cx="842493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 smtClean="0"/>
              <a:t>Les paramètres du modèle sont estimés en optimisant son ajustement sur la période d’ajustement : minimiser un critère de comparaison choisi</a:t>
            </a:r>
            <a:endParaRPr lang="fr-FR" dirty="0"/>
          </a:p>
        </p:txBody>
      </p:sp>
      <p:sp>
        <p:nvSpPr>
          <p:cNvPr id="20" name="ZoneTexte 19"/>
          <p:cNvSpPr txBox="1"/>
          <p:nvPr/>
        </p:nvSpPr>
        <p:spPr>
          <a:xfrm>
            <a:off x="307292" y="5373216"/>
            <a:ext cx="8424936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 smtClean="0"/>
              <a:t>Important</a:t>
            </a:r>
            <a:r>
              <a:rPr lang="fr-FR" dirty="0" smtClean="0"/>
              <a:t> : les valeurs de la série dans l’horizon de prévision ne participent pas dans le calcul des paramètres </a:t>
            </a:r>
            <a:r>
              <a:rPr lang="fr-FR" smtClean="0"/>
              <a:t>du </a:t>
            </a:r>
            <a:r>
              <a:rPr lang="fr-FR" smtClean="0"/>
              <a:t>modèle, </a:t>
            </a:r>
            <a:r>
              <a:rPr lang="fr-FR" dirty="0" smtClean="0"/>
              <a:t>fait dans l’horizon d’ajustement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1487905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1"/>
          <p:cNvSpPr txBox="1"/>
          <p:nvPr/>
        </p:nvSpPr>
        <p:spPr>
          <a:xfrm>
            <a:off x="251520" y="260648"/>
            <a:ext cx="842493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 smtClean="0"/>
              <a:t>Calcul d’un modèle de lissage exponentiel</a:t>
            </a:r>
            <a:endParaRPr lang="fr-FR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ZoneTexte 2"/>
              <p:cNvSpPr txBox="1"/>
              <p:nvPr/>
            </p:nvSpPr>
            <p:spPr>
              <a:xfrm>
                <a:off x="395536" y="836712"/>
                <a:ext cx="7992888" cy="101566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fr-FR" dirty="0" smtClean="0"/>
                  <a:t>Paramètres du modèle :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fr-FR" dirty="0" smtClean="0"/>
                  <a:t>Valeurs initiales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fr-FR" dirty="0" smtClean="0"/>
                  <a:t>Paramètres du lissages exponentiel </a:t>
                </a:r>
                <a14:m>
                  <m:oMath xmlns:m="http://schemas.openxmlformats.org/officeDocument/2006/math">
                    <m:r>
                      <a:rPr lang="fr-FR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r>
                      <a:rPr lang="fr-F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d>
                      <m:dPr>
                        <m:begChr m:val="["/>
                        <m:endChr m:val="]"/>
                        <m:ctrlPr>
                          <a:rPr lang="fr-F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fr-F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0, 1</m:t>
                        </m:r>
                      </m:e>
                    </m:d>
                  </m:oMath>
                </a14:m>
                <a:endParaRPr lang="fr-FR" dirty="0"/>
              </a:p>
            </p:txBody>
          </p:sp>
        </mc:Choice>
        <mc:Fallback xmlns="">
          <p:sp>
            <p:nvSpPr>
              <p:cNvPr id="3" name="ZoneTexte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5536" y="836712"/>
                <a:ext cx="7992888" cy="1015663"/>
              </a:xfrm>
              <a:prstGeom prst="rect">
                <a:avLst/>
              </a:prstGeom>
              <a:blipFill rotWithShape="0">
                <a:blip r:embed="rId2"/>
                <a:stretch>
                  <a:fillRect l="-839" t="-2395" b="-10180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ZoneTexte 3"/>
          <p:cNvSpPr txBox="1"/>
          <p:nvPr/>
        </p:nvSpPr>
        <p:spPr>
          <a:xfrm>
            <a:off x="323528" y="1988840"/>
            <a:ext cx="820891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 smtClean="0"/>
              <a:t>Choisir le critère de comparaison à minimiser pour ajuster le modèle : RMSE, MAE ou MAPE</a:t>
            </a:r>
            <a:endParaRPr lang="fr-FR" dirty="0"/>
          </a:p>
        </p:txBody>
      </p:sp>
      <p:sp>
        <p:nvSpPr>
          <p:cNvPr id="5" name="ZoneTexte 4"/>
          <p:cNvSpPr txBox="1"/>
          <p:nvPr/>
        </p:nvSpPr>
        <p:spPr>
          <a:xfrm>
            <a:off x="323528" y="2852936"/>
            <a:ext cx="849694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 smtClean="0"/>
              <a:t>La fonction ‘‘critère de comparaison’’ dépend des paramètres du modèle </a:t>
            </a:r>
            <a:endParaRPr lang="fr-FR" dirty="0"/>
          </a:p>
        </p:txBody>
      </p:sp>
      <p:sp>
        <p:nvSpPr>
          <p:cNvPr id="6" name="ZoneTexte 5"/>
          <p:cNvSpPr txBox="1"/>
          <p:nvPr/>
        </p:nvSpPr>
        <p:spPr>
          <a:xfrm>
            <a:off x="251520" y="3501008"/>
            <a:ext cx="8568952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 smtClean="0"/>
              <a:t>L’estimation des paramètres se fait en calculant le minimum de la fonction critère de comparaison par application d’une procédure d’optimisation : </a:t>
            </a:r>
            <a:r>
              <a:rPr lang="fr-FR" dirty="0" err="1" smtClean="0"/>
              <a:t>optim</a:t>
            </a:r>
            <a:r>
              <a:rPr lang="fr-FR" dirty="0" smtClean="0"/>
              <a:t> </a:t>
            </a:r>
            <a:endParaRPr lang="fr-FR" dirty="0"/>
          </a:p>
        </p:txBody>
      </p:sp>
      <p:sp>
        <p:nvSpPr>
          <p:cNvPr id="7" name="ZoneTexte 6"/>
          <p:cNvSpPr txBox="1"/>
          <p:nvPr/>
        </p:nvSpPr>
        <p:spPr>
          <a:xfrm>
            <a:off x="251520" y="4725144"/>
            <a:ext cx="842493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 smtClean="0"/>
              <a:t>Calculer le modèle sur la période d’ajustement</a:t>
            </a:r>
            <a:endParaRPr lang="fr-FR" dirty="0"/>
          </a:p>
        </p:txBody>
      </p:sp>
      <p:sp>
        <p:nvSpPr>
          <p:cNvPr id="8" name="ZoneTexte 7"/>
          <p:cNvSpPr txBox="1"/>
          <p:nvPr/>
        </p:nvSpPr>
        <p:spPr>
          <a:xfrm>
            <a:off x="251520" y="5189130"/>
            <a:ext cx="849694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 smtClean="0"/>
              <a:t>Calculer les prévisions</a:t>
            </a:r>
            <a:endParaRPr lang="fr-FR" dirty="0"/>
          </a:p>
        </p:txBody>
      </p:sp>
      <p:sp>
        <p:nvSpPr>
          <p:cNvPr id="9" name="ZoneTexte 8"/>
          <p:cNvSpPr txBox="1"/>
          <p:nvPr/>
        </p:nvSpPr>
        <p:spPr>
          <a:xfrm>
            <a:off x="251520" y="5621178"/>
            <a:ext cx="892899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 smtClean="0"/>
              <a:t>Apprécier la qualité </a:t>
            </a:r>
            <a:r>
              <a:rPr lang="fr-FR" smtClean="0"/>
              <a:t>des prévisions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7277603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Text Box 5"/>
          <p:cNvSpPr txBox="1">
            <a:spLocks noChangeArrowheads="1"/>
          </p:cNvSpPr>
          <p:nvPr/>
        </p:nvSpPr>
        <p:spPr bwMode="auto">
          <a:xfrm>
            <a:off x="468313" y="404813"/>
            <a:ext cx="7920037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fr-FR" altLang="fr-FR" sz="2000" b="1"/>
              <a:t>Le lissage exponentiel simple (LES)</a:t>
            </a:r>
          </a:p>
        </p:txBody>
      </p:sp>
      <p:sp>
        <p:nvSpPr>
          <p:cNvPr id="3075" name="Text Box 6"/>
          <p:cNvSpPr txBox="1">
            <a:spLocks noChangeArrowheads="1"/>
          </p:cNvSpPr>
          <p:nvPr/>
        </p:nvSpPr>
        <p:spPr bwMode="auto">
          <a:xfrm>
            <a:off x="395288" y="1196975"/>
            <a:ext cx="80645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fr-FR" altLang="fr-FR" sz="2000"/>
              <a:t>Soit la série chronologique y</a:t>
            </a:r>
            <a:r>
              <a:rPr lang="fr-FR" altLang="fr-FR" sz="2000" baseline="-25000"/>
              <a:t>t</a:t>
            </a:r>
            <a:r>
              <a:rPr lang="fr-FR" altLang="fr-FR" sz="2000"/>
              <a:t> t = 1, … ,T</a:t>
            </a:r>
          </a:p>
        </p:txBody>
      </p:sp>
      <p:sp>
        <p:nvSpPr>
          <p:cNvPr id="3076" name="Text Box 7"/>
          <p:cNvSpPr txBox="1">
            <a:spLocks noChangeArrowheads="1"/>
          </p:cNvSpPr>
          <p:nvPr/>
        </p:nvSpPr>
        <p:spPr bwMode="auto">
          <a:xfrm>
            <a:off x="250825" y="1773238"/>
            <a:ext cx="8569325" cy="1311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fr-FR" altLang="fr-FR" sz="2000" dirty="0"/>
              <a:t>La série </a:t>
            </a:r>
            <a:r>
              <a:rPr lang="fr-FR" altLang="fr-FR" sz="2000" dirty="0" err="1"/>
              <a:t>F</a:t>
            </a:r>
            <a:r>
              <a:rPr lang="fr-FR" altLang="fr-FR" sz="2000" baseline="-25000" dirty="0" err="1"/>
              <a:t>t</a:t>
            </a:r>
            <a:r>
              <a:rPr lang="fr-FR" altLang="fr-FR" sz="2000" dirty="0"/>
              <a:t> du modèle ajusté a pour </a:t>
            </a:r>
            <a:r>
              <a:rPr lang="fr-FR" altLang="fr-FR" sz="2000" dirty="0" smtClean="0"/>
              <a:t>signification  </a:t>
            </a:r>
            <a:r>
              <a:rPr lang="fr-FR" altLang="fr-FR" sz="2000" dirty="0"/>
              <a:t>: 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fr-FR" altLang="fr-FR" sz="2000" dirty="0"/>
              <a:t> </a:t>
            </a:r>
            <a:r>
              <a:rPr lang="fr-FR" altLang="fr-FR" sz="2000" dirty="0" smtClean="0"/>
              <a:t>      ‘‘prévision </a:t>
            </a:r>
            <a:r>
              <a:rPr lang="fr-FR" altLang="fr-FR" sz="2000" dirty="0"/>
              <a:t>à partir de l’instant </a:t>
            </a:r>
            <a:r>
              <a:rPr lang="fr-FR" altLang="fr-FR" sz="2000" dirty="0" smtClean="0"/>
              <a:t>t pour </a:t>
            </a:r>
            <a:r>
              <a:rPr lang="fr-FR" altLang="fr-FR" sz="2000" dirty="0"/>
              <a:t>l’instant </a:t>
            </a:r>
            <a:r>
              <a:rPr lang="fr-FR" altLang="fr-FR" sz="2000" dirty="0" smtClean="0"/>
              <a:t>t+1’’  </a:t>
            </a:r>
            <a:endParaRPr lang="fr-FR" altLang="fr-FR" sz="2000" dirty="0"/>
          </a:p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fr-FR" altLang="fr-FR" sz="2000" dirty="0" err="1" smtClean="0"/>
              <a:t>F</a:t>
            </a:r>
            <a:r>
              <a:rPr lang="fr-FR" altLang="fr-FR" sz="2000" baseline="-25000" dirty="0" err="1" smtClean="0"/>
              <a:t>t</a:t>
            </a:r>
            <a:r>
              <a:rPr lang="fr-FR" altLang="fr-FR" sz="2000" dirty="0" smtClean="0"/>
              <a:t> = </a:t>
            </a:r>
            <a:r>
              <a:rPr lang="el-GR" altLang="fr-FR" sz="2000" dirty="0"/>
              <a:t>α</a:t>
            </a:r>
            <a:r>
              <a:rPr lang="fr-FR" altLang="fr-FR" sz="2000" dirty="0" err="1"/>
              <a:t>y</a:t>
            </a:r>
            <a:r>
              <a:rPr lang="fr-FR" altLang="fr-FR" sz="2000" baseline="-25000" dirty="0" err="1"/>
              <a:t>t</a:t>
            </a:r>
            <a:r>
              <a:rPr lang="fr-FR" altLang="fr-FR" sz="2000" dirty="0"/>
              <a:t> + (1-</a:t>
            </a:r>
            <a:r>
              <a:rPr lang="el-GR" altLang="fr-FR" sz="2000" dirty="0"/>
              <a:t>α</a:t>
            </a:r>
            <a:r>
              <a:rPr lang="fr-FR" altLang="fr-FR" sz="2000" dirty="0" smtClean="0"/>
              <a:t>)F</a:t>
            </a:r>
            <a:r>
              <a:rPr lang="fr-FR" altLang="fr-FR" sz="2000" baseline="-25000" dirty="0" smtClean="0"/>
              <a:t>t-1</a:t>
            </a:r>
            <a:r>
              <a:rPr lang="fr-FR" altLang="fr-FR" sz="2000" dirty="0" smtClean="0"/>
              <a:t>, </a:t>
            </a:r>
            <a:r>
              <a:rPr lang="fr-FR" altLang="fr-FR" sz="2000" dirty="0"/>
              <a:t>t = 1, … ,</a:t>
            </a:r>
            <a:r>
              <a:rPr lang="fr-FR" altLang="fr-FR" sz="2000" dirty="0" smtClean="0"/>
              <a:t>T, </a:t>
            </a:r>
            <a:r>
              <a:rPr lang="fr-FR" altLang="fr-FR" sz="2000" dirty="0"/>
              <a:t>0&lt;</a:t>
            </a:r>
            <a:r>
              <a:rPr lang="el-GR" altLang="fr-FR" sz="2000" dirty="0"/>
              <a:t>α</a:t>
            </a:r>
            <a:r>
              <a:rPr lang="fr-FR" altLang="fr-FR" sz="2000" dirty="0"/>
              <a:t>&lt;1</a:t>
            </a:r>
          </a:p>
        </p:txBody>
      </p:sp>
      <p:sp>
        <p:nvSpPr>
          <p:cNvPr id="3077" name="Rectangle 9"/>
          <p:cNvSpPr>
            <a:spLocks noChangeArrowheads="1"/>
          </p:cNvSpPr>
          <p:nvPr/>
        </p:nvSpPr>
        <p:spPr bwMode="auto">
          <a:xfrm>
            <a:off x="3492500" y="3752850"/>
            <a:ext cx="2199641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fr-FR" sz="2000" dirty="0" err="1" smtClean="0"/>
              <a:t>F</a:t>
            </a:r>
            <a:r>
              <a:rPr lang="fr-FR" altLang="fr-FR" sz="2000" baseline="-25000" dirty="0" err="1" smtClean="0"/>
              <a:t>t</a:t>
            </a:r>
            <a:r>
              <a:rPr lang="fr-FR" altLang="fr-FR" sz="2000" dirty="0" smtClean="0"/>
              <a:t> </a:t>
            </a:r>
            <a:r>
              <a:rPr lang="fr-FR" altLang="fr-FR" sz="2000" dirty="0"/>
              <a:t>= </a:t>
            </a:r>
            <a:r>
              <a:rPr lang="el-GR" altLang="fr-FR" sz="2000" dirty="0"/>
              <a:t>α</a:t>
            </a:r>
            <a:r>
              <a:rPr lang="fr-FR" altLang="fr-FR" sz="2000" dirty="0" err="1"/>
              <a:t>y</a:t>
            </a:r>
            <a:r>
              <a:rPr lang="fr-FR" altLang="fr-FR" sz="2000" baseline="-25000" dirty="0" err="1"/>
              <a:t>t</a:t>
            </a:r>
            <a:r>
              <a:rPr lang="fr-FR" altLang="fr-FR" sz="2000" dirty="0"/>
              <a:t> + (1-</a:t>
            </a:r>
            <a:r>
              <a:rPr lang="el-GR" altLang="fr-FR" sz="2000" dirty="0"/>
              <a:t>α</a:t>
            </a:r>
            <a:r>
              <a:rPr lang="fr-FR" altLang="fr-FR" sz="2000" dirty="0" smtClean="0"/>
              <a:t>)F</a:t>
            </a:r>
            <a:r>
              <a:rPr lang="fr-FR" altLang="fr-FR" sz="2000" baseline="-25000" dirty="0" smtClean="0"/>
              <a:t>t-1</a:t>
            </a:r>
            <a:endParaRPr lang="fr-FR" altLang="fr-FR" sz="2000" baseline="-25000" dirty="0"/>
          </a:p>
        </p:txBody>
      </p:sp>
      <p:sp>
        <p:nvSpPr>
          <p:cNvPr id="3078" name="Rectangle 11"/>
          <p:cNvSpPr>
            <a:spLocks noChangeArrowheads="1"/>
          </p:cNvSpPr>
          <p:nvPr/>
        </p:nvSpPr>
        <p:spPr bwMode="auto">
          <a:xfrm>
            <a:off x="3492500" y="4327525"/>
            <a:ext cx="2504212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fr-FR" sz="2000" dirty="0" smtClean="0"/>
              <a:t>F</a:t>
            </a:r>
            <a:r>
              <a:rPr lang="fr-FR" altLang="fr-FR" sz="2000" baseline="-25000" dirty="0" smtClean="0"/>
              <a:t>t-1</a:t>
            </a:r>
            <a:r>
              <a:rPr lang="fr-FR" altLang="fr-FR" sz="2000" dirty="0" smtClean="0"/>
              <a:t> </a:t>
            </a:r>
            <a:r>
              <a:rPr lang="fr-FR" altLang="fr-FR" sz="2000" dirty="0"/>
              <a:t>= </a:t>
            </a:r>
            <a:r>
              <a:rPr lang="el-GR" altLang="fr-FR" sz="2000" dirty="0"/>
              <a:t>α</a:t>
            </a:r>
            <a:r>
              <a:rPr lang="fr-FR" altLang="fr-FR" sz="2000" dirty="0"/>
              <a:t>y</a:t>
            </a:r>
            <a:r>
              <a:rPr lang="fr-FR" altLang="fr-FR" sz="2000" baseline="-25000" dirty="0"/>
              <a:t>t-1</a:t>
            </a:r>
            <a:r>
              <a:rPr lang="fr-FR" altLang="fr-FR" sz="2000" dirty="0"/>
              <a:t> + (1-</a:t>
            </a:r>
            <a:r>
              <a:rPr lang="el-GR" altLang="fr-FR" sz="2000" dirty="0"/>
              <a:t>α</a:t>
            </a:r>
            <a:r>
              <a:rPr lang="fr-FR" altLang="fr-FR" sz="2000" dirty="0" smtClean="0"/>
              <a:t>)F</a:t>
            </a:r>
            <a:r>
              <a:rPr lang="fr-FR" altLang="fr-FR" sz="2000" baseline="-25000" dirty="0" smtClean="0"/>
              <a:t>t-2</a:t>
            </a:r>
            <a:endParaRPr lang="fr-FR" altLang="fr-FR" sz="2000" baseline="-25000" dirty="0"/>
          </a:p>
        </p:txBody>
      </p:sp>
      <p:graphicFrame>
        <p:nvGraphicFramePr>
          <p:cNvPr id="3079" name="Object 12"/>
          <p:cNvGraphicFramePr>
            <a:graphicFrameLocks noChangeAspect="1"/>
          </p:cNvGraphicFramePr>
          <p:nvPr/>
        </p:nvGraphicFramePr>
        <p:xfrm>
          <a:off x="4427538" y="4846638"/>
          <a:ext cx="211137" cy="527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23" name="Équation" r:id="rId3" imgW="76101" imgH="190252" progId="Equation.3">
                  <p:embed/>
                </p:oleObj>
              </mc:Choice>
              <mc:Fallback>
                <p:oleObj name="Équation" r:id="rId3" imgW="76101" imgH="190252" progId="Equation.3">
                  <p:embed/>
                  <p:pic>
                    <p:nvPicPr>
                      <p:cNvPr id="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27538" y="4846638"/>
                        <a:ext cx="211137" cy="5270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080" name="Rectangle 15"/>
          <p:cNvSpPr>
            <a:spLocks noChangeArrowheads="1"/>
          </p:cNvSpPr>
          <p:nvPr/>
        </p:nvSpPr>
        <p:spPr bwMode="auto">
          <a:xfrm>
            <a:off x="3348038" y="5480050"/>
            <a:ext cx="2186817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fr-FR" sz="2000" dirty="0"/>
              <a:t>F</a:t>
            </a:r>
            <a:r>
              <a:rPr lang="fr-FR" altLang="fr-FR" sz="2000" baseline="-25000" dirty="0"/>
              <a:t>2</a:t>
            </a:r>
            <a:r>
              <a:rPr lang="fr-FR" altLang="fr-FR" sz="2000" dirty="0"/>
              <a:t> = </a:t>
            </a:r>
            <a:r>
              <a:rPr lang="el-GR" altLang="fr-FR" sz="2000" dirty="0"/>
              <a:t>α</a:t>
            </a:r>
            <a:r>
              <a:rPr lang="fr-FR" altLang="fr-FR" sz="2000" dirty="0" smtClean="0"/>
              <a:t>y</a:t>
            </a:r>
            <a:r>
              <a:rPr lang="fr-FR" altLang="fr-FR" sz="2000" baseline="-25000" dirty="0"/>
              <a:t>2</a:t>
            </a:r>
            <a:r>
              <a:rPr lang="fr-FR" altLang="fr-FR" sz="2000" dirty="0" smtClean="0"/>
              <a:t> </a:t>
            </a:r>
            <a:r>
              <a:rPr lang="fr-FR" altLang="fr-FR" sz="2000" dirty="0"/>
              <a:t>+ (1-</a:t>
            </a:r>
            <a:r>
              <a:rPr lang="el-GR" altLang="fr-FR" sz="2000" dirty="0"/>
              <a:t>α</a:t>
            </a:r>
            <a:r>
              <a:rPr lang="fr-FR" altLang="fr-FR" sz="2000" dirty="0"/>
              <a:t>)F</a:t>
            </a:r>
            <a:r>
              <a:rPr lang="fr-FR" altLang="fr-FR" sz="2000" baseline="-25000" dirty="0"/>
              <a:t>1</a:t>
            </a:r>
          </a:p>
        </p:txBody>
      </p:sp>
      <p:graphicFrame>
        <p:nvGraphicFramePr>
          <p:cNvPr id="3081" name="Object 1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71737701"/>
              </p:ext>
            </p:extLst>
          </p:nvPr>
        </p:nvGraphicFramePr>
        <p:xfrm>
          <a:off x="1882825" y="5834063"/>
          <a:ext cx="3697287" cy="835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24" name="Équation" r:id="rId5" imgW="1968480" imgH="444240" progId="Equation.3">
                  <p:embed/>
                </p:oleObj>
              </mc:Choice>
              <mc:Fallback>
                <p:oleObj name="Équation" r:id="rId5" imgW="1968480" imgH="444240" progId="Equation.3">
                  <p:embed/>
                  <p:pic>
                    <p:nvPicPr>
                      <p:cNvPr id="0" name="Object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82825" y="5834063"/>
                        <a:ext cx="3697287" cy="8350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082" name="Text Box 17"/>
          <p:cNvSpPr txBox="1">
            <a:spLocks noChangeArrowheads="1"/>
          </p:cNvSpPr>
          <p:nvPr/>
        </p:nvSpPr>
        <p:spPr bwMode="auto">
          <a:xfrm>
            <a:off x="323850" y="3248025"/>
            <a:ext cx="6264275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l-GR" altLang="fr-FR" sz="2000"/>
              <a:t>α</a:t>
            </a:r>
            <a:r>
              <a:rPr lang="fr-FR" altLang="fr-FR" sz="2000"/>
              <a:t> est appelée la constante du lissage</a:t>
            </a:r>
            <a:endParaRPr lang="el-GR" altLang="fr-FR" sz="2000"/>
          </a:p>
        </p:txBody>
      </p:sp>
      <p:sp>
        <p:nvSpPr>
          <p:cNvPr id="2" name="ZoneTexte 1"/>
          <p:cNvSpPr txBox="1"/>
          <p:nvPr/>
        </p:nvSpPr>
        <p:spPr>
          <a:xfrm>
            <a:off x="6785305" y="1781087"/>
            <a:ext cx="172819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 err="1" smtClean="0"/>
              <a:t>F</a:t>
            </a:r>
            <a:r>
              <a:rPr lang="fr-FR" baseline="-25000" dirty="0" err="1" smtClean="0"/>
              <a:t>t</a:t>
            </a:r>
            <a:r>
              <a:rPr lang="fr-FR" dirty="0" smtClean="0"/>
              <a:t> se calcule à l’instant t</a:t>
            </a:r>
            <a:endParaRPr lang="fr-FR" dirty="0"/>
          </a:p>
        </p:txBody>
      </p:sp>
      <p:sp>
        <p:nvSpPr>
          <p:cNvPr id="3" name="Pensées 2"/>
          <p:cNvSpPr/>
          <p:nvPr/>
        </p:nvSpPr>
        <p:spPr>
          <a:xfrm>
            <a:off x="6588125" y="1395412"/>
            <a:ext cx="2232025" cy="1457524"/>
          </a:xfrm>
          <a:prstGeom prst="cloudCallout">
            <a:avLst>
              <a:gd name="adj1" fmla="val 1927"/>
              <a:gd name="adj2" fmla="val 52542"/>
            </a:avLst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Text Box 2"/>
          <p:cNvSpPr txBox="1">
            <a:spLocks noChangeArrowheads="1"/>
          </p:cNvSpPr>
          <p:nvPr/>
        </p:nvSpPr>
        <p:spPr bwMode="auto">
          <a:xfrm>
            <a:off x="106363" y="439738"/>
            <a:ext cx="7921625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fr-FR" altLang="fr-FR" sz="2000"/>
              <a:t>On déduit alors que : </a:t>
            </a:r>
          </a:p>
        </p:txBody>
      </p:sp>
      <p:graphicFrame>
        <p:nvGraphicFramePr>
          <p:cNvPr id="4099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94224771"/>
              </p:ext>
            </p:extLst>
          </p:nvPr>
        </p:nvGraphicFramePr>
        <p:xfrm>
          <a:off x="347663" y="981075"/>
          <a:ext cx="5915025" cy="835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990" name="Équation" r:id="rId3" imgW="3149280" imgH="444240" progId="Equation.3">
                  <p:embed/>
                </p:oleObj>
              </mc:Choice>
              <mc:Fallback>
                <p:oleObj name="Équation" r:id="rId3" imgW="3149280" imgH="444240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7663" y="981075"/>
                        <a:ext cx="5915025" cy="8350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100" name="Text Box 4"/>
          <p:cNvSpPr txBox="1">
            <a:spLocks noChangeArrowheads="1"/>
          </p:cNvSpPr>
          <p:nvPr/>
        </p:nvSpPr>
        <p:spPr bwMode="auto">
          <a:xfrm>
            <a:off x="6372225" y="1196975"/>
            <a:ext cx="2771775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fr-FR" altLang="fr-FR" sz="2000"/>
              <a:t>si T est assez grand</a:t>
            </a:r>
          </a:p>
        </p:txBody>
      </p:sp>
      <p:sp>
        <p:nvSpPr>
          <p:cNvPr id="4101" name="Text Box 5"/>
          <p:cNvSpPr txBox="1">
            <a:spLocks noChangeArrowheads="1"/>
          </p:cNvSpPr>
          <p:nvPr/>
        </p:nvSpPr>
        <p:spPr bwMode="auto">
          <a:xfrm>
            <a:off x="323850" y="3068638"/>
            <a:ext cx="84963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fr-FR" altLang="fr-FR" sz="2000"/>
              <a:t>Le problème de minimisation suivant</a:t>
            </a:r>
          </a:p>
        </p:txBody>
      </p:sp>
      <p:graphicFrame>
        <p:nvGraphicFramePr>
          <p:cNvPr id="4102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99538094"/>
              </p:ext>
            </p:extLst>
          </p:nvPr>
        </p:nvGraphicFramePr>
        <p:xfrm>
          <a:off x="4689475" y="2852738"/>
          <a:ext cx="3221038" cy="9318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991" name="Équation" r:id="rId5" imgW="1536480" imgH="444240" progId="Equation.3">
                  <p:embed/>
                </p:oleObj>
              </mc:Choice>
              <mc:Fallback>
                <p:oleObj name="Équation" r:id="rId5" imgW="1536480" imgH="444240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89475" y="2852738"/>
                        <a:ext cx="3221038" cy="9318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103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07838171"/>
              </p:ext>
            </p:extLst>
          </p:nvPr>
        </p:nvGraphicFramePr>
        <p:xfrm>
          <a:off x="2522538" y="3703638"/>
          <a:ext cx="3295650" cy="13477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992" name="Équation" r:id="rId7" imgW="1612800" imgH="660240" progId="Equation.3">
                  <p:embed/>
                </p:oleObj>
              </mc:Choice>
              <mc:Fallback>
                <p:oleObj name="Équation" r:id="rId7" imgW="1612800" imgH="660240" progId="Equation.3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22538" y="3703638"/>
                        <a:ext cx="3295650" cy="13477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104" name="Rectangle 8"/>
          <p:cNvSpPr>
            <a:spLocks noChangeArrowheads="1"/>
          </p:cNvSpPr>
          <p:nvPr/>
        </p:nvSpPr>
        <p:spPr bwMode="auto">
          <a:xfrm>
            <a:off x="395288" y="4400550"/>
            <a:ext cx="1989137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fr-FR" sz="2000"/>
              <a:t>a pour solution :</a:t>
            </a:r>
          </a:p>
        </p:txBody>
      </p:sp>
      <p:sp>
        <p:nvSpPr>
          <p:cNvPr id="4105" name="Text Box 9"/>
          <p:cNvSpPr txBox="1">
            <a:spLocks noChangeArrowheads="1"/>
          </p:cNvSpPr>
          <p:nvPr/>
        </p:nvSpPr>
        <p:spPr bwMode="auto">
          <a:xfrm>
            <a:off x="250825" y="1989138"/>
            <a:ext cx="8713788" cy="701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fr-FR" altLang="fr-FR" sz="2000" dirty="0"/>
              <a:t>Dans ce cas, la valeur de F</a:t>
            </a:r>
            <a:r>
              <a:rPr lang="fr-FR" altLang="fr-FR" sz="2000" baseline="-25000" dirty="0"/>
              <a:t>1</a:t>
            </a:r>
            <a:r>
              <a:rPr lang="fr-FR" altLang="fr-FR" sz="2000" dirty="0"/>
              <a:t> n’a qu’une très faible incidence sur la valeur de </a:t>
            </a:r>
            <a:r>
              <a:rPr lang="fr-FR" altLang="fr-FR" sz="2000" dirty="0" smtClean="0"/>
              <a:t>F</a:t>
            </a:r>
            <a:r>
              <a:rPr lang="fr-FR" altLang="fr-FR" sz="2000" baseline="-25000" dirty="0" smtClean="0"/>
              <a:t>T</a:t>
            </a:r>
            <a:endParaRPr lang="fr-FR" altLang="fr-FR" sz="2000" dirty="0"/>
          </a:p>
        </p:txBody>
      </p:sp>
      <p:sp>
        <p:nvSpPr>
          <p:cNvPr id="4106" name="Text Box 11"/>
          <p:cNvSpPr txBox="1">
            <a:spLocks noChangeArrowheads="1"/>
          </p:cNvSpPr>
          <p:nvPr/>
        </p:nvSpPr>
        <p:spPr bwMode="auto">
          <a:xfrm>
            <a:off x="5940425" y="4365625"/>
            <a:ext cx="3132138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fr-FR" altLang="fr-FR" sz="2000"/>
              <a:t>si T est assez grand</a:t>
            </a:r>
          </a:p>
        </p:txBody>
      </p:sp>
      <p:sp>
        <p:nvSpPr>
          <p:cNvPr id="4107" name="Text Box 12"/>
          <p:cNvSpPr txBox="1">
            <a:spLocks noChangeArrowheads="1"/>
          </p:cNvSpPr>
          <p:nvPr/>
        </p:nvSpPr>
        <p:spPr bwMode="auto">
          <a:xfrm>
            <a:off x="323850" y="5911850"/>
            <a:ext cx="8640763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fr-FR" altLang="fr-FR" sz="2000"/>
              <a:t>La prévision de la série y</a:t>
            </a:r>
            <a:r>
              <a:rPr lang="fr-FR" altLang="fr-FR" sz="2000" baseline="-25000"/>
              <a:t>t</a:t>
            </a:r>
            <a:r>
              <a:rPr lang="fr-FR" altLang="fr-FR" sz="2000"/>
              <a:t> à l’instant T + h est : </a:t>
            </a:r>
          </a:p>
        </p:txBody>
      </p:sp>
      <p:graphicFrame>
        <p:nvGraphicFramePr>
          <p:cNvPr id="4108" name="Object 1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65914251"/>
              </p:ext>
            </p:extLst>
          </p:nvPr>
        </p:nvGraphicFramePr>
        <p:xfrm>
          <a:off x="6005513" y="5870575"/>
          <a:ext cx="1411287" cy="511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993" name="Équation" r:id="rId9" imgW="596880" imgH="215640" progId="Equation.3">
                  <p:embed/>
                </p:oleObj>
              </mc:Choice>
              <mc:Fallback>
                <p:oleObj name="Équation" r:id="rId9" imgW="596880" imgH="215640" progId="Equation.3">
                  <p:embed/>
                  <p:pic>
                    <p:nvPicPr>
                      <p:cNvPr id="0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05513" y="5870575"/>
                        <a:ext cx="1411287" cy="5111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109" name="Text Box 14"/>
          <p:cNvSpPr txBox="1">
            <a:spLocks noChangeArrowheads="1"/>
          </p:cNvSpPr>
          <p:nvPr/>
        </p:nvSpPr>
        <p:spPr bwMode="auto">
          <a:xfrm>
            <a:off x="395288" y="5373688"/>
            <a:ext cx="8135937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fr-FR" altLang="fr-FR" sz="2000" dirty="0"/>
              <a:t>L’erreur d’ajustement : e</a:t>
            </a:r>
            <a:r>
              <a:rPr lang="fr-FR" altLang="fr-FR" sz="2000" baseline="-25000" dirty="0"/>
              <a:t>t</a:t>
            </a:r>
            <a:r>
              <a:rPr lang="fr-FR" altLang="fr-FR" sz="2000" dirty="0"/>
              <a:t> = </a:t>
            </a:r>
            <a:r>
              <a:rPr lang="fr-FR" altLang="fr-FR" sz="2000" dirty="0" err="1"/>
              <a:t>y</a:t>
            </a:r>
            <a:r>
              <a:rPr lang="fr-FR" altLang="fr-FR" sz="2000" baseline="-25000" dirty="0" err="1"/>
              <a:t>t</a:t>
            </a:r>
            <a:r>
              <a:rPr lang="fr-FR" altLang="fr-FR" sz="2000" dirty="0"/>
              <a:t> </a:t>
            </a:r>
            <a:r>
              <a:rPr lang="fr-FR" altLang="fr-FR" sz="2000" dirty="0" smtClean="0"/>
              <a:t>– F</a:t>
            </a:r>
            <a:r>
              <a:rPr lang="fr-FR" altLang="fr-FR" sz="2000" baseline="-25000" dirty="0" smtClean="0"/>
              <a:t>t-1</a:t>
            </a:r>
            <a:endParaRPr lang="fr-FR" altLang="fr-FR" sz="20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Text Box 2"/>
          <p:cNvSpPr txBox="1">
            <a:spLocks noChangeArrowheads="1"/>
          </p:cNvSpPr>
          <p:nvPr/>
        </p:nvSpPr>
        <p:spPr bwMode="auto">
          <a:xfrm>
            <a:off x="323850" y="404813"/>
            <a:ext cx="6049963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fr-FR" altLang="fr-FR" sz="2000"/>
              <a:t>Choix optimale de la constante de lissage</a:t>
            </a:r>
          </a:p>
        </p:txBody>
      </p:sp>
      <p:sp>
        <p:nvSpPr>
          <p:cNvPr id="5123" name="Text Box 3"/>
          <p:cNvSpPr txBox="1">
            <a:spLocks noChangeArrowheads="1"/>
          </p:cNvSpPr>
          <p:nvPr/>
        </p:nvSpPr>
        <p:spPr bwMode="auto">
          <a:xfrm>
            <a:off x="395288" y="1341438"/>
            <a:ext cx="7993062" cy="701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fr-FR" altLang="fr-FR" sz="2000"/>
              <a:t>On commence par choisir un des critères de comparaison, MSE, RMSE, MAE, MAPE</a:t>
            </a:r>
          </a:p>
        </p:txBody>
      </p:sp>
      <p:sp>
        <p:nvSpPr>
          <p:cNvPr id="5124" name="Text Box 4"/>
          <p:cNvSpPr txBox="1">
            <a:spLocks noChangeArrowheads="1"/>
          </p:cNvSpPr>
          <p:nvPr/>
        </p:nvSpPr>
        <p:spPr bwMode="auto">
          <a:xfrm>
            <a:off x="539750" y="2276475"/>
            <a:ext cx="8424863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fr-FR" altLang="fr-FR" sz="2000"/>
              <a:t>On calcule les modèles de lissage pour </a:t>
            </a:r>
            <a:r>
              <a:rPr lang="el-GR" altLang="fr-FR" sz="2000"/>
              <a:t>α</a:t>
            </a:r>
            <a:r>
              <a:rPr lang="fr-FR" altLang="fr-FR" sz="2000"/>
              <a:t> = 0.1, 0.2, … 0.9</a:t>
            </a:r>
            <a:endParaRPr lang="el-GR" altLang="fr-FR" sz="2000"/>
          </a:p>
        </p:txBody>
      </p:sp>
      <p:sp>
        <p:nvSpPr>
          <p:cNvPr id="5125" name="Text Box 5"/>
          <p:cNvSpPr txBox="1">
            <a:spLocks noChangeArrowheads="1"/>
          </p:cNvSpPr>
          <p:nvPr/>
        </p:nvSpPr>
        <p:spPr bwMode="auto">
          <a:xfrm>
            <a:off x="468313" y="2960688"/>
            <a:ext cx="8351837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fr-FR" altLang="fr-FR" sz="2000"/>
              <a:t>Le modèle retenu est celui qui assure le plus petit critère</a:t>
            </a:r>
          </a:p>
        </p:txBody>
      </p:sp>
      <p:sp>
        <p:nvSpPr>
          <p:cNvPr id="5126" name="Text Box 6"/>
          <p:cNvSpPr txBox="1">
            <a:spLocks noChangeArrowheads="1"/>
          </p:cNvSpPr>
          <p:nvPr/>
        </p:nvSpPr>
        <p:spPr bwMode="auto">
          <a:xfrm>
            <a:off x="323850" y="3789363"/>
            <a:ext cx="8280400" cy="701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fr-FR" altLang="fr-FR" sz="2000"/>
              <a:t>Appliquons la méthode du lissage exponentiel à la série trimestrielle de l’indice du prix à la production du pétrole brute.</a:t>
            </a:r>
          </a:p>
        </p:txBody>
      </p:sp>
      <p:sp>
        <p:nvSpPr>
          <p:cNvPr id="5127" name="Text Box 7"/>
          <p:cNvSpPr txBox="1">
            <a:spLocks noChangeArrowheads="1"/>
          </p:cNvSpPr>
          <p:nvPr/>
        </p:nvSpPr>
        <p:spPr bwMode="auto">
          <a:xfrm>
            <a:off x="395288" y="4724400"/>
            <a:ext cx="8208962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l-GR" altLang="fr-FR" sz="2000"/>
              <a:t>α</a:t>
            </a:r>
            <a:r>
              <a:rPr lang="fr-FR" altLang="fr-FR" sz="2000"/>
              <a:t> = 0.3 et F</a:t>
            </a:r>
            <a:r>
              <a:rPr lang="fr-FR" altLang="fr-FR" sz="2000" baseline="-25000"/>
              <a:t>2</a:t>
            </a:r>
            <a:r>
              <a:rPr lang="fr-FR" altLang="fr-FR" sz="2000"/>
              <a:t> est égale à la moyenne des trois premières valeurs.</a:t>
            </a:r>
            <a:endParaRPr lang="el-GR" altLang="fr-FR" sz="2000"/>
          </a:p>
        </p:txBody>
      </p:sp>
      <p:sp>
        <p:nvSpPr>
          <p:cNvPr id="5128" name="Text Box 8"/>
          <p:cNvSpPr txBox="1">
            <a:spLocks noChangeArrowheads="1"/>
          </p:cNvSpPr>
          <p:nvPr/>
        </p:nvSpPr>
        <p:spPr bwMode="auto">
          <a:xfrm>
            <a:off x="323850" y="5516563"/>
            <a:ext cx="8208963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fr-FR" altLang="fr-FR" sz="2000"/>
              <a:t>On aurait pu choisir F</a:t>
            </a:r>
            <a:r>
              <a:rPr lang="fr-FR" altLang="fr-FR" sz="2000" baseline="-25000"/>
              <a:t>1</a:t>
            </a:r>
            <a:r>
              <a:rPr lang="fr-FR" altLang="fr-FR" sz="2000"/>
              <a:t> = y</a:t>
            </a:r>
            <a:r>
              <a:rPr lang="fr-FR" altLang="fr-FR" sz="2000" baseline="-25000"/>
              <a:t>1</a:t>
            </a:r>
            <a:r>
              <a:rPr lang="fr-FR" altLang="fr-FR" sz="2000"/>
              <a:t>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146" name="Object 4"/>
          <p:cNvGraphicFramePr>
            <a:graphicFrameLocks noChangeAspect="1"/>
          </p:cNvGraphicFramePr>
          <p:nvPr/>
        </p:nvGraphicFramePr>
        <p:xfrm>
          <a:off x="395288" y="260350"/>
          <a:ext cx="8497887" cy="44783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367" name="Graphique" r:id="rId3" imgW="6286383" imgH="2619435" progId="Excel.Chart.8">
                  <p:embed/>
                </p:oleObj>
              </mc:Choice>
              <mc:Fallback>
                <p:oleObj name="Graphique" r:id="rId3" imgW="6286383" imgH="2619435" progId="Excel.Chart.8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5288" y="260350"/>
                        <a:ext cx="8497887" cy="44783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147" name="Text Box 5"/>
          <p:cNvSpPr txBox="1">
            <a:spLocks noChangeArrowheads="1"/>
          </p:cNvSpPr>
          <p:nvPr/>
        </p:nvSpPr>
        <p:spPr bwMode="auto">
          <a:xfrm>
            <a:off x="1476375" y="5229225"/>
            <a:ext cx="6767513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fr-FR" altLang="fr-FR" sz="2000"/>
              <a:t>1) Le lissage réalise un écrêtage de la série</a:t>
            </a:r>
          </a:p>
        </p:txBody>
      </p:sp>
      <p:sp>
        <p:nvSpPr>
          <p:cNvPr id="6148" name="Text Box 6"/>
          <p:cNvSpPr txBox="1">
            <a:spLocks noChangeArrowheads="1"/>
          </p:cNvSpPr>
          <p:nvPr/>
        </p:nvSpPr>
        <p:spPr bwMode="auto">
          <a:xfrm>
            <a:off x="1547813" y="6021388"/>
            <a:ext cx="6696075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fr-FR" altLang="fr-FR" sz="2000"/>
              <a:t>2) Le lissage s’adapte au changement de niveau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Text Box 3"/>
          <p:cNvSpPr txBox="1">
            <a:spLocks noChangeArrowheads="1"/>
          </p:cNvSpPr>
          <p:nvPr/>
        </p:nvSpPr>
        <p:spPr bwMode="auto">
          <a:xfrm>
            <a:off x="611188" y="476250"/>
            <a:ext cx="72009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fr-FR" altLang="fr-FR" sz="2000"/>
              <a:t>Choix optimale de la constante de lissage</a:t>
            </a:r>
          </a:p>
        </p:txBody>
      </p:sp>
      <p:sp>
        <p:nvSpPr>
          <p:cNvPr id="7171" name="Text Box 4"/>
          <p:cNvSpPr txBox="1">
            <a:spLocks noChangeArrowheads="1"/>
          </p:cNvSpPr>
          <p:nvPr/>
        </p:nvSpPr>
        <p:spPr bwMode="auto">
          <a:xfrm>
            <a:off x="468313" y="3213100"/>
            <a:ext cx="8207375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fr-FR" altLang="fr-FR" sz="2000"/>
              <a:t>On remarque que les critères sont minimales pour </a:t>
            </a:r>
            <a:r>
              <a:rPr lang="el-GR" altLang="fr-FR" sz="2000"/>
              <a:t>α</a:t>
            </a:r>
            <a:r>
              <a:rPr lang="fr-FR" altLang="fr-FR" sz="2000"/>
              <a:t> = 0.9</a:t>
            </a:r>
            <a:endParaRPr lang="el-GR" altLang="fr-FR" sz="2000"/>
          </a:p>
        </p:txBody>
      </p:sp>
      <p:graphicFrame>
        <p:nvGraphicFramePr>
          <p:cNvPr id="7172" name="Object 5"/>
          <p:cNvGraphicFramePr>
            <a:graphicFrameLocks noChangeAspect="1"/>
          </p:cNvGraphicFramePr>
          <p:nvPr/>
        </p:nvGraphicFramePr>
        <p:xfrm>
          <a:off x="1006475" y="1268413"/>
          <a:ext cx="7132638" cy="1304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391" name="Worksheet" r:id="rId3" imgW="7132492" imgH="1304687" progId="Excel.Sheet.8">
                  <p:embed/>
                </p:oleObj>
              </mc:Choice>
              <mc:Fallback>
                <p:oleObj name="Worksheet" r:id="rId3" imgW="7132492" imgH="1304687" progId="Excel.Sheet.8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06475" y="1268413"/>
                        <a:ext cx="7132638" cy="13049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1"/>
          <p:cNvSpPr txBox="1"/>
          <p:nvPr/>
        </p:nvSpPr>
        <p:spPr>
          <a:xfrm>
            <a:off x="323528" y="188640"/>
            <a:ext cx="835292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 smtClean="0"/>
              <a:t>Equations du modèle du lissage exponentiel simple</a:t>
            </a:r>
            <a:endParaRPr lang="fr-FR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ZoneTexte 2"/>
              <p:cNvSpPr txBox="1"/>
              <p:nvPr/>
            </p:nvSpPr>
            <p:spPr>
              <a:xfrm>
                <a:off x="323528" y="764704"/>
                <a:ext cx="8280920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fr-FR" dirty="0" smtClean="0"/>
                  <a:t>Les paramètres du modèles sont 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fr-FR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b="0" i="1" smtClean="0"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fr-FR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fr-FR" dirty="0" smtClean="0"/>
                  <a:t> et </a:t>
                </a:r>
                <a14:m>
                  <m:oMath xmlns:m="http://schemas.openxmlformats.org/officeDocument/2006/math">
                    <m:r>
                      <a:rPr lang="fr-FR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𝛼</m:t>
                    </m:r>
                  </m:oMath>
                </a14:m>
                <a:endParaRPr lang="fr-FR" dirty="0"/>
              </a:p>
            </p:txBody>
          </p:sp>
        </mc:Choice>
        <mc:Fallback xmlns="">
          <p:sp>
            <p:nvSpPr>
              <p:cNvPr id="3" name="ZoneTexte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3528" y="764704"/>
                <a:ext cx="8280920" cy="400110"/>
              </a:xfrm>
              <a:prstGeom prst="rect">
                <a:avLst/>
              </a:prstGeom>
              <a:blipFill rotWithShape="0">
                <a:blip r:embed="rId3"/>
                <a:stretch>
                  <a:fillRect l="-736" t="-6061" b="-27273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ZoneTexte 3"/>
          <p:cNvSpPr txBox="1"/>
          <p:nvPr/>
        </p:nvSpPr>
        <p:spPr>
          <a:xfrm>
            <a:off x="323528" y="1208946"/>
            <a:ext cx="835292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 smtClean="0"/>
              <a:t>On choisit le MAPE comme critère à minimiser pour estimer le modèle, c’est une fonction dans ce cas à 2 variables</a:t>
            </a:r>
            <a:endParaRPr lang="fr-FR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ZoneTexte 4"/>
              <p:cNvSpPr txBox="1"/>
              <p:nvPr/>
            </p:nvSpPr>
            <p:spPr>
              <a:xfrm>
                <a:off x="379828" y="1916832"/>
                <a:ext cx="829662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fr-FR" dirty="0" smtClean="0"/>
                  <a:t>Initialisation des paramètres 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fr-F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i="1"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fr-FR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fr-FR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fr-FR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fr-FR" b="0" i="1" smtClean="0">
                        <a:latin typeface="Cambria Math" panose="02040503050406030204" pitchFamily="18" charset="0"/>
                      </a:rPr>
                      <m:t>[1]</m:t>
                    </m:r>
                  </m:oMath>
                </a14:m>
                <a:r>
                  <a:rPr lang="fr-FR" dirty="0"/>
                  <a:t> et </a:t>
                </a:r>
                <a14:m>
                  <m:oMath xmlns:m="http://schemas.openxmlformats.org/officeDocument/2006/math">
                    <m:r>
                      <a:rPr lang="fr-FR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𝛼</m:t>
                    </m:r>
                    <m:r>
                      <a:rPr lang="fr-F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fr-F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  <m:r>
                      <a:rPr lang="fr-F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[2]</m:t>
                    </m:r>
                  </m:oMath>
                </a14:m>
                <a:r>
                  <a:rPr lang="fr-FR" dirty="0" smtClean="0"/>
                  <a:t> </a:t>
                </a:r>
                <a:endParaRPr lang="fr-FR" dirty="0"/>
              </a:p>
            </p:txBody>
          </p:sp>
        </mc:Choice>
        <mc:Fallback xmlns="">
          <p:sp>
            <p:nvSpPr>
              <p:cNvPr id="5" name="ZoneTexte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9828" y="1916832"/>
                <a:ext cx="8296628" cy="400110"/>
              </a:xfrm>
              <a:prstGeom prst="rect">
                <a:avLst/>
              </a:prstGeom>
              <a:blipFill>
                <a:blip r:embed="rId4"/>
                <a:stretch>
                  <a:fillRect l="-735" t="-6061" b="-27273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ZoneTexte 5"/>
              <p:cNvSpPr txBox="1"/>
              <p:nvPr/>
            </p:nvSpPr>
            <p:spPr>
              <a:xfrm>
                <a:off x="467544" y="2420888"/>
                <a:ext cx="7488832" cy="163121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fr-FR" dirty="0" smtClean="0"/>
                  <a:t>Mape = 0</a:t>
                </a:r>
              </a:p>
              <a:p>
                <a:r>
                  <a:rPr lang="fr-FR" dirty="0" smtClean="0"/>
                  <a:t>Pour i = 3 à T-h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fr-F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𝛼</m:t>
                      </m:r>
                      <m:sSub>
                        <m:sSubPr>
                          <m:ctrlPr>
                            <a:rPr lang="fr-F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fr-F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fr-F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d>
                        <m:dPr>
                          <m:ctrlPr>
                            <a:rPr lang="fr-F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fr-F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1−</m:t>
                          </m:r>
                          <m:r>
                            <a:rPr lang="fr-F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𝛼</m:t>
                          </m:r>
                        </m:e>
                      </m:d>
                      <m:sSub>
                        <m:sSubPr>
                          <m:ctrlPr>
                            <a:rPr lang="fr-F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fr-F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</m:t>
                          </m:r>
                          <m:r>
                            <a:rPr lang="fr-F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−1</m:t>
                          </m:r>
                        </m:sub>
                      </m:sSub>
                    </m:oMath>
                  </m:oMathPara>
                </a14:m>
                <a:endParaRPr lang="fr-FR" b="0" dirty="0" smtClean="0">
                  <a:ea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𝑀𝑎𝑝𝑒</m:t>
                      </m:r>
                      <m:r>
                        <a:rPr lang="fr-F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fr-F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𝑀𝑎𝑝𝑒</m:t>
                      </m:r>
                      <m:r>
                        <a:rPr lang="fr-F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r>
                        <a:rPr lang="fr-F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𝑎𝑏𝑠</m:t>
                      </m:r>
                      <m:d>
                        <m:dPr>
                          <m:ctrlPr>
                            <a:rPr lang="fr-F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fr-FR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fr-FR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fr-F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fr-FR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𝐹</m:t>
                              </m:r>
                            </m:e>
                            <m:sub>
                              <m:r>
                                <a:rPr lang="fr-FR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fr-FR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−1</m:t>
                              </m:r>
                            </m:sub>
                          </m:sSub>
                        </m:e>
                      </m:d>
                      <m:r>
                        <a:rPr lang="fr-F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∗100/</m:t>
                      </m:r>
                      <m:sSub>
                        <m:sSubPr>
                          <m:ctrlPr>
                            <a:rPr lang="fr-F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fr-F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fr-FR" b="0" dirty="0" smtClean="0">
                  <a:ea typeface="Cambria Math" panose="02040503050406030204" pitchFamily="18" charset="0"/>
                </a:endParaRPr>
              </a:p>
              <a:p>
                <a:r>
                  <a:rPr lang="fr-FR" dirty="0" err="1" smtClean="0">
                    <a:ea typeface="Cambria Math" panose="02040503050406030204" pitchFamily="18" charset="0"/>
                  </a:rPr>
                  <a:t>Fin_pour</a:t>
                </a:r>
                <a:endParaRPr lang="fr-FR" b="0" dirty="0" smtClean="0"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6" name="ZoneTexte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7544" y="2420888"/>
                <a:ext cx="7488832" cy="1631216"/>
              </a:xfrm>
              <a:prstGeom prst="rect">
                <a:avLst/>
              </a:prstGeom>
              <a:blipFill>
                <a:blip r:embed="rId5"/>
                <a:stretch>
                  <a:fillRect l="-896" t="-1493" b="-5970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ZoneTexte 6"/>
          <p:cNvSpPr txBox="1"/>
          <p:nvPr/>
        </p:nvSpPr>
        <p:spPr>
          <a:xfrm>
            <a:off x="323528" y="4757082"/>
            <a:ext cx="835292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 smtClean="0"/>
              <a:t>Optimisation de la fonction </a:t>
            </a:r>
            <a:r>
              <a:rPr lang="fr-FR" dirty="0" err="1" smtClean="0"/>
              <a:t>Mape</a:t>
            </a:r>
            <a:r>
              <a:rPr lang="fr-FR" dirty="0" smtClean="0"/>
              <a:t> par la procédure </a:t>
            </a:r>
            <a:r>
              <a:rPr lang="fr-FR" dirty="0" err="1" smtClean="0"/>
              <a:t>optim</a:t>
            </a:r>
            <a:endParaRPr lang="fr-FR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ZoneTexte 7"/>
              <p:cNvSpPr txBox="1"/>
              <p:nvPr/>
            </p:nvSpPr>
            <p:spPr>
              <a:xfrm>
                <a:off x="251520" y="5805264"/>
                <a:ext cx="8712968" cy="7078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fr-FR" dirty="0" smtClean="0"/>
                  <a:t>Calcul des prévisions pour les h derniers instants :</a:t>
                </a:r>
              </a:p>
              <a:p>
                <a:pPr algn="ctr"/>
                <a14:m>
                  <m:oMath xmlns:m="http://schemas.openxmlformats.org/officeDocument/2006/math">
                    <m:sSub>
                      <m:sSubPr>
                        <m:ctrlPr>
                          <a:rPr lang="fr-FR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fr-FR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fr-FR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</m:acc>
                      </m:e>
                      <m:sub>
                        <m:r>
                          <a:rPr lang="fr-FR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fr-FR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fr-FR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b="0" i="1" smtClean="0"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fr-FR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  <m:r>
                          <a:rPr lang="fr-FR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fr-FR" b="0" i="1" smtClean="0">
                            <a:latin typeface="Cambria Math" panose="02040503050406030204" pitchFamily="18" charset="0"/>
                          </a:rPr>
                          <m:t>h</m:t>
                        </m:r>
                      </m:sub>
                    </m:sSub>
                  </m:oMath>
                </a14:m>
                <a:r>
                  <a:rPr lang="fr-FR" dirty="0" smtClean="0"/>
                  <a:t>, pour </a:t>
                </a:r>
                <a14:m>
                  <m:oMath xmlns:m="http://schemas.openxmlformats.org/officeDocument/2006/math">
                    <m:r>
                      <a:rPr lang="fr-FR" b="0" i="1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fr-F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≥</m:t>
                    </m:r>
                    <m:r>
                      <a:rPr lang="fr-F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𝑇</m:t>
                    </m:r>
                    <m:r>
                      <a:rPr lang="fr-F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</m:t>
                    </m:r>
                    <m:r>
                      <a:rPr lang="fr-F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h</m:t>
                    </m:r>
                    <m:r>
                      <a:rPr lang="fr-F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+1</m:t>
                    </m:r>
                  </m:oMath>
                </a14:m>
                <a:endParaRPr lang="fr-FR" dirty="0"/>
              </a:p>
            </p:txBody>
          </p:sp>
        </mc:Choice>
        <mc:Fallback xmlns="">
          <p:sp>
            <p:nvSpPr>
              <p:cNvPr id="8" name="ZoneTexte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1520" y="5805264"/>
                <a:ext cx="8712968" cy="707886"/>
              </a:xfrm>
              <a:prstGeom prst="rect">
                <a:avLst/>
              </a:prstGeom>
              <a:blipFill>
                <a:blip r:embed="rId6"/>
                <a:stretch>
                  <a:fillRect l="-699" t="-3448" b="-15517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ZoneTexte 8"/>
              <p:cNvSpPr txBox="1"/>
              <p:nvPr/>
            </p:nvSpPr>
            <p:spPr>
              <a:xfrm>
                <a:off x="323528" y="4221088"/>
                <a:ext cx="4608512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𝑀𝑎𝑝𝑒</m:t>
                      </m:r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𝑀𝑎𝑝𝑒</m:t>
                      </m:r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/</m:t>
                      </m:r>
                      <m:d>
                        <m:dPr>
                          <m:ctrlPr>
                            <a:rPr lang="fr-FR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−2</m:t>
                          </m:r>
                        </m:e>
                      </m:d>
                    </m:oMath>
                  </m:oMathPara>
                </a14:m>
                <a:endParaRPr lang="fr-FR" dirty="0"/>
              </a:p>
            </p:txBody>
          </p:sp>
        </mc:Choice>
        <mc:Fallback xmlns="">
          <p:sp>
            <p:nvSpPr>
              <p:cNvPr id="9" name="ZoneTexte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3528" y="4221088"/>
                <a:ext cx="4608512" cy="400110"/>
              </a:xfrm>
              <a:prstGeom prst="rect">
                <a:avLst/>
              </a:prstGeom>
              <a:blipFill>
                <a:blip r:embed="rId7"/>
                <a:stretch>
                  <a:fillRect b="-16667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ZoneTexte 9"/>
          <p:cNvSpPr txBox="1"/>
          <p:nvPr/>
        </p:nvSpPr>
        <p:spPr>
          <a:xfrm>
            <a:off x="323528" y="5229200"/>
            <a:ext cx="8208912" cy="400110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fr-FR" dirty="0" smtClean="0"/>
              <a:t>Calcul du modèle sur l’horizon d’ajustement : 1,…, T-h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3657816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Text Box 3"/>
          <p:cNvSpPr txBox="1">
            <a:spLocks noChangeArrowheads="1"/>
          </p:cNvSpPr>
          <p:nvPr/>
        </p:nvSpPr>
        <p:spPr bwMode="auto">
          <a:xfrm>
            <a:off x="468313" y="1196975"/>
            <a:ext cx="8424862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fr-FR" altLang="fr-FR" sz="2000"/>
              <a:t>C’est une méthode plus générale que le LES</a:t>
            </a:r>
          </a:p>
        </p:txBody>
      </p:sp>
      <p:sp>
        <p:nvSpPr>
          <p:cNvPr id="8195" name="Text Box 4"/>
          <p:cNvSpPr txBox="1">
            <a:spLocks noChangeArrowheads="1"/>
          </p:cNvSpPr>
          <p:nvPr/>
        </p:nvSpPr>
        <p:spPr bwMode="auto">
          <a:xfrm>
            <a:off x="468313" y="1700213"/>
            <a:ext cx="7993062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fr-FR" altLang="fr-FR" sz="2000"/>
              <a:t>Elle s’adapte aux séries présentant une tendance</a:t>
            </a:r>
          </a:p>
        </p:txBody>
      </p:sp>
      <p:graphicFrame>
        <p:nvGraphicFramePr>
          <p:cNvPr id="8196" name="Object 6"/>
          <p:cNvGraphicFramePr>
            <a:graphicFrameLocks noChangeAspect="1"/>
          </p:cNvGraphicFramePr>
          <p:nvPr/>
        </p:nvGraphicFramePr>
        <p:xfrm>
          <a:off x="3348038" y="2781300"/>
          <a:ext cx="2462212" cy="511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6165" name="Équation" r:id="rId3" imgW="1040948" imgH="215806" progId="Equation.3">
                  <p:embed/>
                </p:oleObj>
              </mc:Choice>
              <mc:Fallback>
                <p:oleObj name="Équation" r:id="rId3" imgW="1040948" imgH="215806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48038" y="2781300"/>
                        <a:ext cx="2462212" cy="5111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197" name="Object 7"/>
          <p:cNvGraphicFramePr>
            <a:graphicFrameLocks noChangeAspect="1"/>
          </p:cNvGraphicFramePr>
          <p:nvPr/>
        </p:nvGraphicFramePr>
        <p:xfrm>
          <a:off x="430213" y="3357563"/>
          <a:ext cx="901700" cy="511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6166" name="Équation" r:id="rId5" imgW="380835" imgH="215806" progId="Equation.3">
                  <p:embed/>
                </p:oleObj>
              </mc:Choice>
              <mc:Fallback>
                <p:oleObj name="Équation" r:id="rId5" imgW="380835" imgH="215806" progId="Equation.3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0213" y="3357563"/>
                        <a:ext cx="901700" cy="5111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198" name="Text Box 8"/>
          <p:cNvSpPr txBox="1">
            <a:spLocks noChangeArrowheads="1"/>
          </p:cNvSpPr>
          <p:nvPr/>
        </p:nvSpPr>
        <p:spPr bwMode="auto">
          <a:xfrm>
            <a:off x="1331913" y="3392488"/>
            <a:ext cx="7127875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fr-FR" altLang="fr-FR" sz="2000"/>
              <a:t>: valeur prévue de la série à partir de T pour l’instant T+h</a:t>
            </a:r>
          </a:p>
        </p:txBody>
      </p:sp>
      <p:sp>
        <p:nvSpPr>
          <p:cNvPr id="8199" name="Text Box 9"/>
          <p:cNvSpPr txBox="1">
            <a:spLocks noChangeArrowheads="1"/>
          </p:cNvSpPr>
          <p:nvPr/>
        </p:nvSpPr>
        <p:spPr bwMode="auto">
          <a:xfrm>
            <a:off x="395288" y="4076700"/>
            <a:ext cx="80645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fr-FR" altLang="fr-FR" sz="2000"/>
              <a:t>S</a:t>
            </a:r>
            <a:r>
              <a:rPr lang="fr-FR" altLang="fr-FR" sz="2000" baseline="-25000"/>
              <a:t>T</a:t>
            </a:r>
            <a:r>
              <a:rPr lang="fr-FR" altLang="fr-FR" sz="2000"/>
              <a:t> et T</a:t>
            </a:r>
            <a:r>
              <a:rPr lang="fr-FR" altLang="fr-FR" sz="2000" baseline="-25000"/>
              <a:t>T</a:t>
            </a:r>
            <a:r>
              <a:rPr lang="fr-FR" altLang="fr-FR" sz="2000"/>
              <a:t> sont choisis de façon à minimiser : </a:t>
            </a:r>
          </a:p>
        </p:txBody>
      </p:sp>
      <p:graphicFrame>
        <p:nvGraphicFramePr>
          <p:cNvPr id="8200" name="Object 10"/>
          <p:cNvGraphicFramePr>
            <a:graphicFrameLocks noChangeAspect="1"/>
          </p:cNvGraphicFramePr>
          <p:nvPr/>
        </p:nvGraphicFramePr>
        <p:xfrm>
          <a:off x="4514850" y="3321050"/>
          <a:ext cx="114300" cy="215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6167" name="Équation" r:id="rId7" imgW="114151" imgH="215619" progId="Equation.3">
                  <p:embed/>
                </p:oleObj>
              </mc:Choice>
              <mc:Fallback>
                <p:oleObj name="Équation" r:id="rId7" imgW="114151" imgH="215619" progId="Equation.3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14850" y="3321050"/>
                        <a:ext cx="114300" cy="215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201" name="Object 11"/>
          <p:cNvGraphicFramePr>
            <a:graphicFrameLocks noChangeAspect="1"/>
          </p:cNvGraphicFramePr>
          <p:nvPr/>
        </p:nvGraphicFramePr>
        <p:xfrm>
          <a:off x="212725" y="4581525"/>
          <a:ext cx="8547100" cy="8778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6168" name="Équation" r:id="rId9" imgW="4330700" imgH="444500" progId="Equation.3">
                  <p:embed/>
                </p:oleObj>
              </mc:Choice>
              <mc:Fallback>
                <p:oleObj name="Équation" r:id="rId9" imgW="4330700" imgH="444500" progId="Equation.3">
                  <p:embed/>
                  <p:pic>
                    <p:nvPicPr>
                      <p:cNvPr id="0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2725" y="4581525"/>
                        <a:ext cx="8547100" cy="8778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202" name="Text Box 12"/>
          <p:cNvSpPr txBox="1">
            <a:spLocks noChangeArrowheads="1"/>
          </p:cNvSpPr>
          <p:nvPr/>
        </p:nvSpPr>
        <p:spPr bwMode="auto">
          <a:xfrm>
            <a:off x="539750" y="2276475"/>
            <a:ext cx="82804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fr-FR" altLang="fr-FR" sz="2000"/>
              <a:t>Pour une série y</a:t>
            </a:r>
            <a:r>
              <a:rPr lang="fr-FR" altLang="fr-FR" sz="2000" baseline="-25000"/>
              <a:t>t</a:t>
            </a:r>
            <a:r>
              <a:rPr lang="fr-FR" altLang="fr-FR" sz="2000"/>
              <a:t> t = 1, … ,T, LED suggère une prévision de la forme : </a:t>
            </a:r>
          </a:p>
        </p:txBody>
      </p:sp>
      <p:graphicFrame>
        <p:nvGraphicFramePr>
          <p:cNvPr id="8203" name="Object 13"/>
          <p:cNvGraphicFramePr>
            <a:graphicFrameLocks noChangeAspect="1"/>
          </p:cNvGraphicFramePr>
          <p:nvPr/>
        </p:nvGraphicFramePr>
        <p:xfrm>
          <a:off x="2124075" y="5597525"/>
          <a:ext cx="3816350" cy="927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6169" name="Équation" r:id="rId11" imgW="1777229" imgH="431613" progId="Equation.3">
                  <p:embed/>
                </p:oleObj>
              </mc:Choice>
              <mc:Fallback>
                <p:oleObj name="Équation" r:id="rId11" imgW="1777229" imgH="431613" progId="Equation.3">
                  <p:embed/>
                  <p:pic>
                    <p:nvPicPr>
                      <p:cNvPr id="0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24075" y="5597525"/>
                        <a:ext cx="3816350" cy="927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204" name="Text Box 14"/>
          <p:cNvSpPr txBox="1">
            <a:spLocks noChangeArrowheads="1"/>
          </p:cNvSpPr>
          <p:nvPr/>
        </p:nvSpPr>
        <p:spPr bwMode="auto">
          <a:xfrm>
            <a:off x="179388" y="5840413"/>
            <a:ext cx="1979612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fr-FR" altLang="fr-FR" sz="2000"/>
              <a:t>Pour cela on a :</a:t>
            </a:r>
          </a:p>
        </p:txBody>
      </p:sp>
      <p:sp>
        <p:nvSpPr>
          <p:cNvPr id="8205" name="Text Box 15"/>
          <p:cNvSpPr txBox="1">
            <a:spLocks noChangeArrowheads="1"/>
          </p:cNvSpPr>
          <p:nvPr/>
        </p:nvSpPr>
        <p:spPr bwMode="auto">
          <a:xfrm>
            <a:off x="539750" y="349395"/>
            <a:ext cx="8137525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fr-FR" altLang="fr-FR" sz="2000" b="1"/>
              <a:t>Le lissage exponentiel double (LED)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Text Box 2"/>
          <p:cNvSpPr txBox="1">
            <a:spLocks noChangeArrowheads="1"/>
          </p:cNvSpPr>
          <p:nvPr/>
        </p:nvSpPr>
        <p:spPr bwMode="auto">
          <a:xfrm>
            <a:off x="179388" y="333375"/>
            <a:ext cx="2232025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fr-FR" altLang="fr-FR" sz="2000"/>
              <a:t>D’où :</a:t>
            </a:r>
          </a:p>
        </p:txBody>
      </p:sp>
      <p:graphicFrame>
        <p:nvGraphicFramePr>
          <p:cNvPr id="9219" name="Object 3"/>
          <p:cNvGraphicFramePr>
            <a:graphicFrameLocks noChangeAspect="1"/>
          </p:cNvGraphicFramePr>
          <p:nvPr/>
        </p:nvGraphicFramePr>
        <p:xfrm>
          <a:off x="1042988" y="103188"/>
          <a:ext cx="3683000" cy="8778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2498" name="Équation" r:id="rId3" imgW="1866090" imgH="444307" progId="Equation.3">
                  <p:embed/>
                </p:oleObj>
              </mc:Choice>
              <mc:Fallback>
                <p:oleObj name="Équation" r:id="rId3" imgW="1866090" imgH="444307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42988" y="103188"/>
                        <a:ext cx="3683000" cy="8778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220" name="Object 4"/>
          <p:cNvGraphicFramePr>
            <a:graphicFrameLocks noChangeAspect="1"/>
          </p:cNvGraphicFramePr>
          <p:nvPr/>
        </p:nvGraphicFramePr>
        <p:xfrm>
          <a:off x="4932363" y="115888"/>
          <a:ext cx="3808412" cy="8778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2499" name="Équation" r:id="rId5" imgW="1930400" imgH="444500" progId="Equation.3">
                  <p:embed/>
                </p:oleObj>
              </mc:Choice>
              <mc:Fallback>
                <p:oleObj name="Équation" r:id="rId5" imgW="1930400" imgH="44450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32363" y="115888"/>
                        <a:ext cx="3808412" cy="8778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221" name="Text Box 5"/>
          <p:cNvSpPr txBox="1">
            <a:spLocks noChangeArrowheads="1"/>
          </p:cNvSpPr>
          <p:nvPr/>
        </p:nvSpPr>
        <p:spPr bwMode="auto">
          <a:xfrm>
            <a:off x="395288" y="1196975"/>
            <a:ext cx="6481762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fr-FR" altLang="fr-FR" sz="2000"/>
              <a:t>Si T est assez grand, remplaçons : </a:t>
            </a:r>
          </a:p>
        </p:txBody>
      </p:sp>
      <p:graphicFrame>
        <p:nvGraphicFramePr>
          <p:cNvPr id="9222" name="Object 6"/>
          <p:cNvGraphicFramePr>
            <a:graphicFrameLocks noChangeAspect="1"/>
          </p:cNvGraphicFramePr>
          <p:nvPr/>
        </p:nvGraphicFramePr>
        <p:xfrm>
          <a:off x="525463" y="1844675"/>
          <a:ext cx="1531937" cy="7985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2500" name="Équation" r:id="rId7" imgW="850531" imgH="444307" progId="Equation.3">
                  <p:embed/>
                </p:oleObj>
              </mc:Choice>
              <mc:Fallback>
                <p:oleObj name="Équation" r:id="rId7" imgW="850531" imgH="444307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5463" y="1844675"/>
                        <a:ext cx="1531937" cy="7985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223" name="Object 7"/>
          <p:cNvGraphicFramePr>
            <a:graphicFrameLocks noChangeAspect="1"/>
          </p:cNvGraphicFramePr>
          <p:nvPr/>
        </p:nvGraphicFramePr>
        <p:xfrm>
          <a:off x="3203575" y="1773238"/>
          <a:ext cx="1989138" cy="7985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2501" name="Équation" r:id="rId9" imgW="1104900" imgH="444500" progId="Equation.3">
                  <p:embed/>
                </p:oleObj>
              </mc:Choice>
              <mc:Fallback>
                <p:oleObj name="Équation" r:id="rId9" imgW="1104900" imgH="444500" progId="Equation.3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03575" y="1773238"/>
                        <a:ext cx="1989138" cy="7985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224" name="Object 8"/>
          <p:cNvGraphicFramePr>
            <a:graphicFrameLocks noChangeAspect="1"/>
          </p:cNvGraphicFramePr>
          <p:nvPr/>
        </p:nvGraphicFramePr>
        <p:xfrm>
          <a:off x="6372225" y="1773238"/>
          <a:ext cx="2146300" cy="7985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2502" name="Équation" r:id="rId11" imgW="1193800" imgH="444500" progId="Equation.3">
                  <p:embed/>
                </p:oleObj>
              </mc:Choice>
              <mc:Fallback>
                <p:oleObj name="Équation" r:id="rId11" imgW="1193800" imgH="444500" progId="Equation.3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372225" y="1773238"/>
                        <a:ext cx="2146300" cy="7985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225" name="Text Box 9"/>
          <p:cNvSpPr txBox="1">
            <a:spLocks noChangeArrowheads="1"/>
          </p:cNvSpPr>
          <p:nvPr/>
        </p:nvSpPr>
        <p:spPr bwMode="auto">
          <a:xfrm>
            <a:off x="250825" y="2924175"/>
            <a:ext cx="360045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fr-FR" altLang="fr-FR" sz="2000"/>
              <a:t>Dans ce cas :</a:t>
            </a:r>
          </a:p>
        </p:txBody>
      </p:sp>
      <p:graphicFrame>
        <p:nvGraphicFramePr>
          <p:cNvPr id="9226" name="Object 10"/>
          <p:cNvGraphicFramePr>
            <a:graphicFrameLocks noChangeAspect="1"/>
          </p:cNvGraphicFramePr>
          <p:nvPr/>
        </p:nvGraphicFramePr>
        <p:xfrm>
          <a:off x="1258888" y="3429000"/>
          <a:ext cx="4362450" cy="879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2503" name="Équation" r:id="rId13" imgW="2209800" imgH="444500" progId="Equation.3">
                  <p:embed/>
                </p:oleObj>
              </mc:Choice>
              <mc:Fallback>
                <p:oleObj name="Équation" r:id="rId13" imgW="2209800" imgH="444500" progId="Equation.3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58888" y="3429000"/>
                        <a:ext cx="4362450" cy="8794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227" name="Object 11"/>
          <p:cNvGraphicFramePr>
            <a:graphicFrameLocks noChangeAspect="1"/>
          </p:cNvGraphicFramePr>
          <p:nvPr/>
        </p:nvGraphicFramePr>
        <p:xfrm>
          <a:off x="1258888" y="4581525"/>
          <a:ext cx="6140450" cy="8778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2504" name="Équation" r:id="rId15" imgW="3111500" imgH="444500" progId="Equation.3">
                  <p:embed/>
                </p:oleObj>
              </mc:Choice>
              <mc:Fallback>
                <p:oleObj name="Équation" r:id="rId15" imgW="3111500" imgH="444500" progId="Equation.3">
                  <p:embed/>
                  <p:pic>
                    <p:nvPicPr>
                      <p:cNvPr id="0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58888" y="4581525"/>
                        <a:ext cx="6140450" cy="8778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Text Box 2"/>
          <p:cNvSpPr txBox="1">
            <a:spLocks noChangeArrowheads="1"/>
          </p:cNvSpPr>
          <p:nvPr/>
        </p:nvSpPr>
        <p:spPr bwMode="auto">
          <a:xfrm>
            <a:off x="323850" y="333375"/>
            <a:ext cx="7993063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fr-FR" altLang="fr-FR" sz="2000"/>
              <a:t>On pose :</a:t>
            </a:r>
          </a:p>
        </p:txBody>
      </p:sp>
      <p:graphicFrame>
        <p:nvGraphicFramePr>
          <p:cNvPr id="10243" name="Object 3"/>
          <p:cNvGraphicFramePr>
            <a:graphicFrameLocks noChangeAspect="1"/>
          </p:cNvGraphicFramePr>
          <p:nvPr/>
        </p:nvGraphicFramePr>
        <p:xfrm>
          <a:off x="1908175" y="188913"/>
          <a:ext cx="2614613" cy="7826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693" name="Équation" r:id="rId3" imgW="1485255" imgH="444307" progId="Equation.3">
                  <p:embed/>
                </p:oleObj>
              </mc:Choice>
              <mc:Fallback>
                <p:oleObj name="Équation" r:id="rId3" imgW="1485255" imgH="444307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08175" y="188913"/>
                        <a:ext cx="2614613" cy="7826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244" name="Object 4"/>
          <p:cNvGraphicFramePr>
            <a:graphicFrameLocks noChangeAspect="1"/>
          </p:cNvGraphicFramePr>
          <p:nvPr/>
        </p:nvGraphicFramePr>
        <p:xfrm>
          <a:off x="5076825" y="188913"/>
          <a:ext cx="3352800" cy="7826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694" name="Équation" r:id="rId5" imgW="1905000" imgH="444500" progId="Equation.3">
                  <p:embed/>
                </p:oleObj>
              </mc:Choice>
              <mc:Fallback>
                <p:oleObj name="Équation" r:id="rId5" imgW="1905000" imgH="44450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76825" y="188913"/>
                        <a:ext cx="3352800" cy="7826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245" name="Text Box 5"/>
          <p:cNvSpPr txBox="1">
            <a:spLocks noChangeArrowheads="1"/>
          </p:cNvSpPr>
          <p:nvPr/>
        </p:nvSpPr>
        <p:spPr bwMode="auto">
          <a:xfrm>
            <a:off x="250825" y="1341438"/>
            <a:ext cx="1728788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fr-FR" altLang="fr-FR" sz="2000"/>
              <a:t>D’où</a:t>
            </a:r>
          </a:p>
        </p:txBody>
      </p:sp>
      <p:graphicFrame>
        <p:nvGraphicFramePr>
          <p:cNvPr id="10246" name="Object 7"/>
          <p:cNvGraphicFramePr>
            <a:graphicFrameLocks noChangeAspect="1"/>
          </p:cNvGraphicFramePr>
          <p:nvPr/>
        </p:nvGraphicFramePr>
        <p:xfrm>
          <a:off x="1835150" y="1484313"/>
          <a:ext cx="3133725" cy="7794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695" name="Équation" r:id="rId7" imgW="1586811" imgH="393529" progId="Equation.3">
                  <p:embed/>
                </p:oleObj>
              </mc:Choice>
              <mc:Fallback>
                <p:oleObj name="Équation" r:id="rId7" imgW="1586811" imgH="393529" progId="Equation.3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35150" y="1484313"/>
                        <a:ext cx="3133725" cy="7794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247" name="Object 8"/>
          <p:cNvGraphicFramePr>
            <a:graphicFrameLocks noChangeAspect="1"/>
          </p:cNvGraphicFramePr>
          <p:nvPr/>
        </p:nvGraphicFramePr>
        <p:xfrm>
          <a:off x="1403350" y="2636838"/>
          <a:ext cx="5740400" cy="777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696" name="Équation" r:id="rId9" imgW="2908300" imgH="393700" progId="Equation.3">
                  <p:embed/>
                </p:oleObj>
              </mc:Choice>
              <mc:Fallback>
                <p:oleObj name="Équation" r:id="rId9" imgW="2908300" imgH="393700" progId="Equation.3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03350" y="2636838"/>
                        <a:ext cx="5740400" cy="7778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248" name="Text Box 9"/>
          <p:cNvSpPr txBox="1">
            <a:spLocks noChangeArrowheads="1"/>
          </p:cNvSpPr>
          <p:nvPr/>
        </p:nvSpPr>
        <p:spPr bwMode="auto">
          <a:xfrm>
            <a:off x="303213" y="3279775"/>
            <a:ext cx="1325562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fr-FR" sz="2000"/>
              <a:t>Par suite :</a:t>
            </a:r>
          </a:p>
        </p:txBody>
      </p:sp>
      <p:graphicFrame>
        <p:nvGraphicFramePr>
          <p:cNvPr id="10249" name="Object 10"/>
          <p:cNvGraphicFramePr>
            <a:graphicFrameLocks noChangeAspect="1"/>
          </p:cNvGraphicFramePr>
          <p:nvPr/>
        </p:nvGraphicFramePr>
        <p:xfrm>
          <a:off x="1979613" y="3644900"/>
          <a:ext cx="2832100" cy="8048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697" name="Équation" r:id="rId11" imgW="1419157" imgH="390615" progId="Equation.3">
                  <p:embed/>
                </p:oleObj>
              </mc:Choice>
              <mc:Fallback>
                <p:oleObj name="Équation" r:id="rId11" imgW="1419157" imgH="390615" progId="Equation.3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79613" y="3644900"/>
                        <a:ext cx="2832100" cy="8048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250" name="Object 11"/>
          <p:cNvGraphicFramePr>
            <a:graphicFrameLocks noChangeAspect="1"/>
          </p:cNvGraphicFramePr>
          <p:nvPr/>
        </p:nvGraphicFramePr>
        <p:xfrm>
          <a:off x="1258888" y="4262438"/>
          <a:ext cx="6192837" cy="822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698" name="Équation" r:id="rId13" imgW="2921000" imgH="393700" progId="Equation.3">
                  <p:embed/>
                </p:oleObj>
              </mc:Choice>
              <mc:Fallback>
                <p:oleObj name="Équation" r:id="rId13" imgW="2921000" imgH="393700" progId="Equation.3">
                  <p:embed/>
                  <p:pic>
                    <p:nvPicPr>
                      <p:cNvPr id="0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58888" y="4262438"/>
                        <a:ext cx="6192837" cy="8223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251" name="Object 12"/>
          <p:cNvGraphicFramePr>
            <a:graphicFrameLocks noChangeAspect="1"/>
          </p:cNvGraphicFramePr>
          <p:nvPr/>
        </p:nvGraphicFramePr>
        <p:xfrm>
          <a:off x="539750" y="5099050"/>
          <a:ext cx="6794500" cy="777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699" name="Équation" r:id="rId15" imgW="3441700" imgH="393700" progId="Equation.3">
                  <p:embed/>
                </p:oleObj>
              </mc:Choice>
              <mc:Fallback>
                <p:oleObj name="Équation" r:id="rId15" imgW="3441700" imgH="393700" progId="Equation.3">
                  <p:embed/>
                  <p:pic>
                    <p:nvPicPr>
                      <p:cNvPr id="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9750" y="5099050"/>
                        <a:ext cx="6794500" cy="7778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252" name="Object 13"/>
          <p:cNvGraphicFramePr>
            <a:graphicFrameLocks noChangeAspect="1"/>
          </p:cNvGraphicFramePr>
          <p:nvPr/>
        </p:nvGraphicFramePr>
        <p:xfrm>
          <a:off x="2700338" y="5805488"/>
          <a:ext cx="2908300" cy="777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700" name="Équation" r:id="rId17" imgW="1457257" imgH="371475" progId="Equation.3">
                  <p:embed/>
                </p:oleObj>
              </mc:Choice>
              <mc:Fallback>
                <p:oleObj name="Équation" r:id="rId17" imgW="1457257" imgH="371475" progId="Equation.3">
                  <p:embed/>
                  <p:pic>
                    <p:nvPicPr>
                      <p:cNvPr id="0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00338" y="5805488"/>
                        <a:ext cx="2908300" cy="7778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Text Box 2"/>
          <p:cNvSpPr txBox="1">
            <a:spLocks noChangeArrowheads="1"/>
          </p:cNvSpPr>
          <p:nvPr/>
        </p:nvSpPr>
        <p:spPr bwMode="auto">
          <a:xfrm>
            <a:off x="179388" y="333375"/>
            <a:ext cx="1728787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fr-FR" altLang="fr-FR" sz="2000"/>
              <a:t>D’où</a:t>
            </a:r>
          </a:p>
        </p:txBody>
      </p:sp>
      <p:graphicFrame>
        <p:nvGraphicFramePr>
          <p:cNvPr id="11267" name="Object 3"/>
          <p:cNvGraphicFramePr>
            <a:graphicFrameLocks noChangeAspect="1"/>
          </p:cNvGraphicFramePr>
          <p:nvPr/>
        </p:nvGraphicFramePr>
        <p:xfrm>
          <a:off x="971550" y="188913"/>
          <a:ext cx="2803525" cy="6683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3303" name="Équation" r:id="rId3" imgW="1651000" imgH="393700" progId="Equation.3">
                  <p:embed/>
                </p:oleObj>
              </mc:Choice>
              <mc:Fallback>
                <p:oleObj name="Équation" r:id="rId3" imgW="1651000" imgH="393700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71550" y="188913"/>
                        <a:ext cx="2803525" cy="6683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268" name="Object 4"/>
          <p:cNvGraphicFramePr>
            <a:graphicFrameLocks noChangeAspect="1"/>
          </p:cNvGraphicFramePr>
          <p:nvPr/>
        </p:nvGraphicFramePr>
        <p:xfrm>
          <a:off x="4500563" y="333375"/>
          <a:ext cx="2243137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3304" name="Équation" r:id="rId5" imgW="1320227" imgH="215806" progId="Equation.3">
                  <p:embed/>
                </p:oleObj>
              </mc:Choice>
              <mc:Fallback>
                <p:oleObj name="Équation" r:id="rId5" imgW="1320227" imgH="215806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00563" y="333375"/>
                        <a:ext cx="2243137" cy="368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269" name="Text Box 5"/>
          <p:cNvSpPr txBox="1">
            <a:spLocks noChangeArrowheads="1"/>
          </p:cNvSpPr>
          <p:nvPr/>
        </p:nvSpPr>
        <p:spPr bwMode="auto">
          <a:xfrm>
            <a:off x="323850" y="1125538"/>
            <a:ext cx="84963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fr-FR" altLang="fr-FR" sz="2000"/>
              <a:t>Formule de mise à jour :</a:t>
            </a:r>
          </a:p>
        </p:txBody>
      </p:sp>
      <p:graphicFrame>
        <p:nvGraphicFramePr>
          <p:cNvPr id="11270" name="Object 6"/>
          <p:cNvGraphicFramePr>
            <a:graphicFrameLocks noChangeAspect="1"/>
          </p:cNvGraphicFramePr>
          <p:nvPr/>
        </p:nvGraphicFramePr>
        <p:xfrm>
          <a:off x="301625" y="1700213"/>
          <a:ext cx="8289925" cy="7826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3305" name="Équation" r:id="rId7" imgW="4711700" imgH="444500" progId="Equation.3">
                  <p:embed/>
                </p:oleObj>
              </mc:Choice>
              <mc:Fallback>
                <p:oleObj name="Équation" r:id="rId7" imgW="4711700" imgH="444500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1625" y="1700213"/>
                        <a:ext cx="8289925" cy="7826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271" name="Object 7"/>
          <p:cNvGraphicFramePr>
            <a:graphicFrameLocks noChangeAspect="1"/>
          </p:cNvGraphicFramePr>
          <p:nvPr/>
        </p:nvGraphicFramePr>
        <p:xfrm>
          <a:off x="1163638" y="2708275"/>
          <a:ext cx="6503987" cy="7826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3306" name="Équation" r:id="rId9" imgW="3695700" imgH="444500" progId="Equation.3">
                  <p:embed/>
                </p:oleObj>
              </mc:Choice>
              <mc:Fallback>
                <p:oleObj name="Équation" r:id="rId9" imgW="3695700" imgH="444500" progId="Equation.3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63638" y="2708275"/>
                        <a:ext cx="6503987" cy="7826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272" name="Object 8"/>
          <p:cNvGraphicFramePr>
            <a:graphicFrameLocks noChangeAspect="1"/>
          </p:cNvGraphicFramePr>
          <p:nvPr/>
        </p:nvGraphicFramePr>
        <p:xfrm>
          <a:off x="611188" y="3500438"/>
          <a:ext cx="7756525" cy="7826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3307" name="Équation" r:id="rId11" imgW="4406900" imgH="444500" progId="Equation.3">
                  <p:embed/>
                </p:oleObj>
              </mc:Choice>
              <mc:Fallback>
                <p:oleObj name="Équation" r:id="rId11" imgW="4406900" imgH="444500" progId="Equation.3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1188" y="3500438"/>
                        <a:ext cx="7756525" cy="7826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273" name="Object 9"/>
          <p:cNvGraphicFramePr>
            <a:graphicFrameLocks noChangeAspect="1"/>
          </p:cNvGraphicFramePr>
          <p:nvPr/>
        </p:nvGraphicFramePr>
        <p:xfrm>
          <a:off x="1668463" y="4449763"/>
          <a:ext cx="5959475" cy="4397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3308" name="Équation" r:id="rId13" imgW="3098800" imgH="228600" progId="Equation.3">
                  <p:embed/>
                </p:oleObj>
              </mc:Choice>
              <mc:Fallback>
                <p:oleObj name="Équation" r:id="rId13" imgW="3098800" imgH="228600" progId="Equation.3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68463" y="4449763"/>
                        <a:ext cx="5959475" cy="4397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274" name="Text Box 10"/>
          <p:cNvSpPr txBox="1">
            <a:spLocks noChangeArrowheads="1"/>
          </p:cNvSpPr>
          <p:nvPr/>
        </p:nvSpPr>
        <p:spPr bwMode="auto">
          <a:xfrm>
            <a:off x="395288" y="5445125"/>
            <a:ext cx="8353425" cy="701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fr-FR" altLang="fr-FR" sz="2000"/>
              <a:t>A partir des formules de mise à jour de E</a:t>
            </a:r>
            <a:r>
              <a:rPr lang="fr-FR" altLang="fr-FR" sz="2000" baseline="-25000"/>
              <a:t>1</a:t>
            </a:r>
            <a:r>
              <a:rPr lang="fr-FR" altLang="fr-FR" sz="2000"/>
              <a:t>(T) et E</a:t>
            </a:r>
            <a:r>
              <a:rPr lang="fr-FR" altLang="fr-FR" sz="2000" baseline="-25000"/>
              <a:t>2</a:t>
            </a:r>
            <a:r>
              <a:rPr lang="fr-FR" altLang="fr-FR" sz="2000"/>
              <a:t>(T), il est possible de déduire les formules de mise à jour de S</a:t>
            </a:r>
            <a:r>
              <a:rPr lang="fr-FR" altLang="fr-FR" sz="2000" baseline="-25000"/>
              <a:t>T</a:t>
            </a:r>
            <a:r>
              <a:rPr lang="fr-FR" altLang="fr-FR" sz="2000"/>
              <a:t> et T</a:t>
            </a:r>
            <a:r>
              <a:rPr lang="fr-FR" altLang="fr-FR" sz="2000" baseline="-25000"/>
              <a:t>T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Text Box 2"/>
          <p:cNvSpPr txBox="1">
            <a:spLocks noChangeArrowheads="1"/>
          </p:cNvSpPr>
          <p:nvPr/>
        </p:nvSpPr>
        <p:spPr bwMode="auto">
          <a:xfrm>
            <a:off x="250825" y="260350"/>
            <a:ext cx="7705725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fr-FR" altLang="fr-FR" sz="2000"/>
              <a:t>Mise à jour de S</a:t>
            </a:r>
            <a:r>
              <a:rPr lang="fr-FR" altLang="fr-FR" sz="2000" baseline="-25000"/>
              <a:t>T</a:t>
            </a:r>
            <a:endParaRPr lang="fr-FR" altLang="fr-FR" sz="2000"/>
          </a:p>
        </p:txBody>
      </p:sp>
      <p:graphicFrame>
        <p:nvGraphicFramePr>
          <p:cNvPr id="12291" name="Object 3"/>
          <p:cNvGraphicFramePr>
            <a:graphicFrameLocks noChangeAspect="1"/>
          </p:cNvGraphicFramePr>
          <p:nvPr/>
        </p:nvGraphicFramePr>
        <p:xfrm>
          <a:off x="3276600" y="333375"/>
          <a:ext cx="2243138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9872" name="Équation" r:id="rId3" imgW="1320227" imgH="215806" progId="Equation.3">
                  <p:embed/>
                </p:oleObj>
              </mc:Choice>
              <mc:Fallback>
                <p:oleObj name="Équation" r:id="rId3" imgW="1320227" imgH="215806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76600" y="333375"/>
                        <a:ext cx="2243138" cy="368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292" name="Object 6"/>
          <p:cNvGraphicFramePr>
            <a:graphicFrameLocks noChangeAspect="1"/>
          </p:cNvGraphicFramePr>
          <p:nvPr/>
        </p:nvGraphicFramePr>
        <p:xfrm>
          <a:off x="949325" y="1711325"/>
          <a:ext cx="6213475" cy="4016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9873" name="Équation" r:id="rId5" imgW="3530600" imgH="228600" progId="Equation.3">
                  <p:embed/>
                </p:oleObj>
              </mc:Choice>
              <mc:Fallback>
                <p:oleObj name="Équation" r:id="rId5" imgW="3530600" imgH="228600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49325" y="1711325"/>
                        <a:ext cx="6213475" cy="4016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293" name="Object 7"/>
          <p:cNvGraphicFramePr>
            <a:graphicFrameLocks noChangeAspect="1"/>
          </p:cNvGraphicFramePr>
          <p:nvPr/>
        </p:nvGraphicFramePr>
        <p:xfrm>
          <a:off x="611188" y="5576888"/>
          <a:ext cx="2832100" cy="8048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9874" name="Équation" r:id="rId7" imgW="1419157" imgH="390615" progId="Equation.3">
                  <p:embed/>
                </p:oleObj>
              </mc:Choice>
              <mc:Fallback>
                <p:oleObj name="Équation" r:id="rId7" imgW="1419157" imgH="390615" progId="Equation.3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1188" y="5576888"/>
                        <a:ext cx="2832100" cy="8048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294" name="Object 8"/>
          <p:cNvGraphicFramePr>
            <a:graphicFrameLocks noChangeAspect="1"/>
          </p:cNvGraphicFramePr>
          <p:nvPr/>
        </p:nvGraphicFramePr>
        <p:xfrm>
          <a:off x="5364163" y="5589588"/>
          <a:ext cx="2908300" cy="777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9875" name="Équation" r:id="rId9" imgW="1457257" imgH="371475" progId="Equation.3">
                  <p:embed/>
                </p:oleObj>
              </mc:Choice>
              <mc:Fallback>
                <p:oleObj name="Équation" r:id="rId9" imgW="1457257" imgH="371475" progId="Equation.3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64163" y="5589588"/>
                        <a:ext cx="2908300" cy="7778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295" name="Object 9"/>
          <p:cNvGraphicFramePr>
            <a:graphicFrameLocks noChangeAspect="1"/>
          </p:cNvGraphicFramePr>
          <p:nvPr/>
        </p:nvGraphicFramePr>
        <p:xfrm>
          <a:off x="600075" y="2349500"/>
          <a:ext cx="8156575" cy="7127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9876" name="Équation" r:id="rId11" imgW="4635500" imgH="406400" progId="Equation.3">
                  <p:embed/>
                </p:oleObj>
              </mc:Choice>
              <mc:Fallback>
                <p:oleObj name="Équation" r:id="rId11" imgW="4635500" imgH="406400" progId="Equation.3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0075" y="2349500"/>
                        <a:ext cx="8156575" cy="7127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296" name="Object 10"/>
          <p:cNvGraphicFramePr>
            <a:graphicFrameLocks noChangeAspect="1"/>
          </p:cNvGraphicFramePr>
          <p:nvPr/>
        </p:nvGraphicFramePr>
        <p:xfrm>
          <a:off x="949325" y="3284538"/>
          <a:ext cx="6905625" cy="7127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9877" name="Équation" r:id="rId13" imgW="3924300" imgH="406400" progId="Equation.3">
                  <p:embed/>
                </p:oleObj>
              </mc:Choice>
              <mc:Fallback>
                <p:oleObj name="Équation" r:id="rId13" imgW="3924300" imgH="406400" progId="Equation.3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49325" y="3284538"/>
                        <a:ext cx="6905625" cy="7127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297" name="Object 11"/>
          <p:cNvGraphicFramePr>
            <a:graphicFrameLocks noChangeAspect="1"/>
          </p:cNvGraphicFramePr>
          <p:nvPr/>
        </p:nvGraphicFramePr>
        <p:xfrm>
          <a:off x="2246313" y="4160838"/>
          <a:ext cx="4179887" cy="4016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9878" name="Équation" r:id="rId15" imgW="2374900" imgH="228600" progId="Equation.3">
                  <p:embed/>
                </p:oleObj>
              </mc:Choice>
              <mc:Fallback>
                <p:oleObj name="Équation" r:id="rId15" imgW="2374900" imgH="228600" progId="Equation.3">
                  <p:embed/>
                  <p:pic>
                    <p:nvPicPr>
                      <p:cNvPr id="0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46313" y="4160838"/>
                        <a:ext cx="4179887" cy="4016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298" name="Object 12"/>
          <p:cNvGraphicFramePr>
            <a:graphicFrameLocks noChangeAspect="1"/>
          </p:cNvGraphicFramePr>
          <p:nvPr/>
        </p:nvGraphicFramePr>
        <p:xfrm>
          <a:off x="468313" y="4797425"/>
          <a:ext cx="3238500" cy="3794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9879" name="Équation" r:id="rId17" imgW="1819343" imgH="200025" progId="Equation.3">
                  <p:embed/>
                </p:oleObj>
              </mc:Choice>
              <mc:Fallback>
                <p:oleObj name="Équation" r:id="rId17" imgW="1819343" imgH="200025" progId="Equation.3">
                  <p:embed/>
                  <p:pic>
                    <p:nvPicPr>
                      <p:cNvPr id="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8313" y="4797425"/>
                        <a:ext cx="3238500" cy="3794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299" name="Text Box 13"/>
          <p:cNvSpPr txBox="1">
            <a:spLocks noChangeArrowheads="1"/>
          </p:cNvSpPr>
          <p:nvPr/>
        </p:nvSpPr>
        <p:spPr bwMode="auto">
          <a:xfrm>
            <a:off x="3851275" y="4797425"/>
            <a:ext cx="4752975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fr-FR" altLang="fr-FR" sz="2000"/>
              <a:t>avec </a:t>
            </a:r>
            <a:r>
              <a:rPr lang="el-GR" altLang="fr-FR" sz="2000"/>
              <a:t>λ</a:t>
            </a:r>
            <a:r>
              <a:rPr lang="fr-FR" altLang="fr-FR" sz="2000"/>
              <a:t> = </a:t>
            </a:r>
            <a:r>
              <a:rPr lang="en-US" altLang="fr-FR" sz="2000"/>
              <a:t>2α – </a:t>
            </a:r>
            <a:r>
              <a:rPr lang="el-GR" altLang="fr-FR" sz="2000"/>
              <a:t>α</a:t>
            </a:r>
            <a:r>
              <a:rPr lang="fr-FR" altLang="fr-FR" sz="2000" baseline="30000"/>
              <a:t>2</a:t>
            </a:r>
            <a:endParaRPr lang="el-GR" altLang="fr-FR" sz="2000"/>
          </a:p>
        </p:txBody>
      </p:sp>
      <p:graphicFrame>
        <p:nvGraphicFramePr>
          <p:cNvPr id="12300" name="Object 15"/>
          <p:cNvGraphicFramePr>
            <a:graphicFrameLocks noChangeAspect="1"/>
          </p:cNvGraphicFramePr>
          <p:nvPr/>
        </p:nvGraphicFramePr>
        <p:xfrm>
          <a:off x="828675" y="1138238"/>
          <a:ext cx="7488238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9880" name="Équation" r:id="rId19" imgW="4635500" imgH="228600" progId="Equation.3">
                  <p:embed/>
                </p:oleObj>
              </mc:Choice>
              <mc:Fallback>
                <p:oleObj name="Équation" r:id="rId19" imgW="4635500" imgH="228600" progId="Equation.3">
                  <p:embed/>
                  <p:pic>
                    <p:nvPicPr>
                      <p:cNvPr id="0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28675" y="1138238"/>
                        <a:ext cx="7488238" cy="419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Text Box 2"/>
          <p:cNvSpPr txBox="1">
            <a:spLocks noChangeArrowheads="1"/>
          </p:cNvSpPr>
          <p:nvPr/>
        </p:nvSpPr>
        <p:spPr bwMode="auto">
          <a:xfrm>
            <a:off x="250825" y="260350"/>
            <a:ext cx="7705725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fr-FR" altLang="fr-FR" sz="2000"/>
              <a:t>Mise à jour de T</a:t>
            </a:r>
            <a:r>
              <a:rPr lang="fr-FR" altLang="fr-FR" sz="2000" baseline="-25000"/>
              <a:t>T</a:t>
            </a:r>
            <a:endParaRPr lang="fr-FR" altLang="fr-FR" sz="2000"/>
          </a:p>
        </p:txBody>
      </p:sp>
      <p:graphicFrame>
        <p:nvGraphicFramePr>
          <p:cNvPr id="13315" name="Object 3"/>
          <p:cNvGraphicFramePr>
            <a:graphicFrameLocks noChangeAspect="1"/>
          </p:cNvGraphicFramePr>
          <p:nvPr/>
        </p:nvGraphicFramePr>
        <p:xfrm>
          <a:off x="2843213" y="188913"/>
          <a:ext cx="2803525" cy="6683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0887" name="Équation" r:id="rId3" imgW="1651000" imgH="393700" progId="Equation.3">
                  <p:embed/>
                </p:oleObj>
              </mc:Choice>
              <mc:Fallback>
                <p:oleObj name="Équation" r:id="rId3" imgW="1651000" imgH="393700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43213" y="188913"/>
                        <a:ext cx="2803525" cy="6683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316" name="Object 6"/>
          <p:cNvGraphicFramePr>
            <a:graphicFrameLocks noChangeAspect="1"/>
          </p:cNvGraphicFramePr>
          <p:nvPr/>
        </p:nvGraphicFramePr>
        <p:xfrm>
          <a:off x="611188" y="908050"/>
          <a:ext cx="8042275" cy="6683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0888" name="Équation" r:id="rId5" imgW="4737100" imgH="393700" progId="Equation.3">
                  <p:embed/>
                </p:oleObj>
              </mc:Choice>
              <mc:Fallback>
                <p:oleObj name="Équation" r:id="rId5" imgW="4737100" imgH="393700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1188" y="908050"/>
                        <a:ext cx="8042275" cy="6683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317" name="Object 7"/>
          <p:cNvGraphicFramePr>
            <a:graphicFrameLocks noChangeAspect="1"/>
          </p:cNvGraphicFramePr>
          <p:nvPr/>
        </p:nvGraphicFramePr>
        <p:xfrm>
          <a:off x="1187450" y="1700213"/>
          <a:ext cx="6057900" cy="6683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0889" name="Équation" r:id="rId7" imgW="3568700" imgH="393700" progId="Equation.3">
                  <p:embed/>
                </p:oleObj>
              </mc:Choice>
              <mc:Fallback>
                <p:oleObj name="Équation" r:id="rId7" imgW="3568700" imgH="393700" progId="Equation.3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87450" y="1700213"/>
                        <a:ext cx="6057900" cy="6683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318" name="Object 8"/>
          <p:cNvGraphicFramePr>
            <a:graphicFrameLocks noChangeAspect="1"/>
          </p:cNvGraphicFramePr>
          <p:nvPr/>
        </p:nvGraphicFramePr>
        <p:xfrm>
          <a:off x="1266825" y="2481263"/>
          <a:ext cx="4462463" cy="3889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0890" name="Équation" r:id="rId9" imgW="2628900" imgH="228600" progId="Equation.3">
                  <p:embed/>
                </p:oleObj>
              </mc:Choice>
              <mc:Fallback>
                <p:oleObj name="Équation" r:id="rId9" imgW="2628900" imgH="228600" progId="Equation.3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66825" y="2481263"/>
                        <a:ext cx="4462463" cy="3889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319" name="Object 9"/>
          <p:cNvGraphicFramePr>
            <a:graphicFrameLocks noChangeAspect="1"/>
          </p:cNvGraphicFramePr>
          <p:nvPr/>
        </p:nvGraphicFramePr>
        <p:xfrm>
          <a:off x="539750" y="4221163"/>
          <a:ext cx="2832100" cy="8048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0891" name="Équation" r:id="rId11" imgW="1419157" imgH="390615" progId="Equation.3">
                  <p:embed/>
                </p:oleObj>
              </mc:Choice>
              <mc:Fallback>
                <p:oleObj name="Équation" r:id="rId11" imgW="1419157" imgH="390615" progId="Equation.3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9750" y="4221163"/>
                        <a:ext cx="2832100" cy="8048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320" name="Object 10"/>
          <p:cNvGraphicFramePr>
            <a:graphicFrameLocks noChangeAspect="1"/>
          </p:cNvGraphicFramePr>
          <p:nvPr/>
        </p:nvGraphicFramePr>
        <p:xfrm>
          <a:off x="4787900" y="4221163"/>
          <a:ext cx="2908300" cy="777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0892" name="Équation" r:id="rId13" imgW="1457257" imgH="371475" progId="Equation.3">
                  <p:embed/>
                </p:oleObj>
              </mc:Choice>
              <mc:Fallback>
                <p:oleObj name="Équation" r:id="rId13" imgW="1457257" imgH="371475" progId="Equation.3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87900" y="4221163"/>
                        <a:ext cx="2908300" cy="7778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321" name="Object 11"/>
          <p:cNvGraphicFramePr>
            <a:graphicFrameLocks noChangeAspect="1"/>
          </p:cNvGraphicFramePr>
          <p:nvPr/>
        </p:nvGraphicFramePr>
        <p:xfrm>
          <a:off x="404813" y="3141663"/>
          <a:ext cx="5989637" cy="3889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0893" name="Équation" r:id="rId15" imgW="3530600" imgH="228600" progId="Equation.3">
                  <p:embed/>
                </p:oleObj>
              </mc:Choice>
              <mc:Fallback>
                <p:oleObj name="Équation" r:id="rId15" imgW="3530600" imgH="228600" progId="Equation.3">
                  <p:embed/>
                  <p:pic>
                    <p:nvPicPr>
                      <p:cNvPr id="0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4813" y="3141663"/>
                        <a:ext cx="5989637" cy="3889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322" name="Object 12"/>
          <p:cNvGraphicFramePr>
            <a:graphicFrameLocks noChangeAspect="1"/>
          </p:cNvGraphicFramePr>
          <p:nvPr/>
        </p:nvGraphicFramePr>
        <p:xfrm>
          <a:off x="1619250" y="3716338"/>
          <a:ext cx="3425825" cy="3889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0894" name="Équation" r:id="rId17" imgW="2000385" imgH="209460" progId="Equation.3">
                  <p:embed/>
                </p:oleObj>
              </mc:Choice>
              <mc:Fallback>
                <p:oleObj name="Équation" r:id="rId17" imgW="2000385" imgH="209460" progId="Equation.3">
                  <p:embed/>
                  <p:pic>
                    <p:nvPicPr>
                      <p:cNvPr id="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19250" y="3716338"/>
                        <a:ext cx="3425825" cy="3889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323" name="Text Box 13"/>
          <p:cNvSpPr txBox="1">
            <a:spLocks noChangeArrowheads="1"/>
          </p:cNvSpPr>
          <p:nvPr/>
        </p:nvSpPr>
        <p:spPr bwMode="auto">
          <a:xfrm>
            <a:off x="323850" y="5373688"/>
            <a:ext cx="7993063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fr-FR" altLang="fr-FR" sz="2000"/>
              <a:t>Autre formulation de la mise à jour de T</a:t>
            </a:r>
            <a:r>
              <a:rPr lang="fr-FR" altLang="fr-FR" sz="2000" baseline="-25000"/>
              <a:t>T</a:t>
            </a:r>
            <a:endParaRPr lang="fr-FR" altLang="fr-FR" sz="2000"/>
          </a:p>
        </p:txBody>
      </p:sp>
      <p:graphicFrame>
        <p:nvGraphicFramePr>
          <p:cNvPr id="13324" name="Object 14"/>
          <p:cNvGraphicFramePr>
            <a:graphicFrameLocks noChangeAspect="1"/>
          </p:cNvGraphicFramePr>
          <p:nvPr/>
        </p:nvGraphicFramePr>
        <p:xfrm>
          <a:off x="733425" y="5805488"/>
          <a:ext cx="7392988" cy="6905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0895" name="Équation" r:id="rId19" imgW="4181543" imgH="371475" progId="Equation.3">
                  <p:embed/>
                </p:oleObj>
              </mc:Choice>
              <mc:Fallback>
                <p:oleObj name="Équation" r:id="rId19" imgW="4181543" imgH="371475" progId="Equation.3">
                  <p:embed/>
                  <p:pic>
                    <p:nvPicPr>
                      <p:cNvPr id="0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33425" y="5805488"/>
                        <a:ext cx="7392988" cy="6905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4338" name="Object 3"/>
          <p:cNvGraphicFramePr>
            <a:graphicFrameLocks noChangeAspect="1"/>
          </p:cNvGraphicFramePr>
          <p:nvPr/>
        </p:nvGraphicFramePr>
        <p:xfrm>
          <a:off x="971550" y="115888"/>
          <a:ext cx="6702425" cy="73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7177" name="Équation" r:id="rId3" imgW="3791085" imgH="400050" progId="Equation.3">
                  <p:embed/>
                </p:oleObj>
              </mc:Choice>
              <mc:Fallback>
                <p:oleObj name="Équation" r:id="rId3" imgW="3791085" imgH="400050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71550" y="115888"/>
                        <a:ext cx="6702425" cy="736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339" name="Object 6"/>
          <p:cNvGraphicFramePr>
            <a:graphicFrameLocks noChangeAspect="1"/>
          </p:cNvGraphicFramePr>
          <p:nvPr/>
        </p:nvGraphicFramePr>
        <p:xfrm>
          <a:off x="1042988" y="981075"/>
          <a:ext cx="6434137" cy="692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7178" name="Équation" r:id="rId5" imgW="3638685" imgH="371475" progId="Equation.3">
                  <p:embed/>
                </p:oleObj>
              </mc:Choice>
              <mc:Fallback>
                <p:oleObj name="Équation" r:id="rId5" imgW="3638685" imgH="371475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42988" y="981075"/>
                        <a:ext cx="6434137" cy="6921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340" name="Object 7"/>
          <p:cNvGraphicFramePr>
            <a:graphicFrameLocks noChangeAspect="1"/>
          </p:cNvGraphicFramePr>
          <p:nvPr/>
        </p:nvGraphicFramePr>
        <p:xfrm>
          <a:off x="1189038" y="1911350"/>
          <a:ext cx="6838950" cy="847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7179" name="Équation" r:id="rId7" imgW="3867285" imgH="466635" progId="Equation.3">
                  <p:embed/>
                </p:oleObj>
              </mc:Choice>
              <mc:Fallback>
                <p:oleObj name="Équation" r:id="rId7" imgW="3867285" imgH="466635" progId="Equation.3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89038" y="1911350"/>
                        <a:ext cx="6838950" cy="8477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341" name="Object 8"/>
          <p:cNvGraphicFramePr>
            <a:graphicFrameLocks noChangeAspect="1"/>
          </p:cNvGraphicFramePr>
          <p:nvPr/>
        </p:nvGraphicFramePr>
        <p:xfrm>
          <a:off x="1425575" y="3068638"/>
          <a:ext cx="4668838" cy="758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7180" name="Équation" r:id="rId9" imgW="2638357" imgH="409485" progId="Equation.3">
                  <p:embed/>
                </p:oleObj>
              </mc:Choice>
              <mc:Fallback>
                <p:oleObj name="Équation" r:id="rId9" imgW="2638357" imgH="409485" progId="Equation.3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25575" y="3068638"/>
                        <a:ext cx="4668838" cy="7588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342" name="Object 9"/>
          <p:cNvGraphicFramePr>
            <a:graphicFrameLocks noChangeAspect="1"/>
          </p:cNvGraphicFramePr>
          <p:nvPr/>
        </p:nvGraphicFramePr>
        <p:xfrm>
          <a:off x="1547813" y="4221163"/>
          <a:ext cx="4983162" cy="692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7181" name="Équation" r:id="rId11" imgW="2809943" imgH="371475" progId="Equation.3">
                  <p:embed/>
                </p:oleObj>
              </mc:Choice>
              <mc:Fallback>
                <p:oleObj name="Équation" r:id="rId11" imgW="2809943" imgH="371475" progId="Equation.3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47813" y="4221163"/>
                        <a:ext cx="4983162" cy="6921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5362" name="Object 3"/>
          <p:cNvGraphicFramePr>
            <a:graphicFrameLocks noChangeAspect="1"/>
          </p:cNvGraphicFramePr>
          <p:nvPr/>
        </p:nvGraphicFramePr>
        <p:xfrm>
          <a:off x="684213" y="260350"/>
          <a:ext cx="3059112" cy="4016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036" name="Équation" r:id="rId3" imgW="1723957" imgH="209460" progId="Equation.3">
                  <p:embed/>
                </p:oleObj>
              </mc:Choice>
              <mc:Fallback>
                <p:oleObj name="Équation" r:id="rId3" imgW="1723957" imgH="209460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4213" y="260350"/>
                        <a:ext cx="3059112" cy="4016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363" name="Text Box 4"/>
          <p:cNvSpPr txBox="1">
            <a:spLocks noChangeArrowheads="1"/>
          </p:cNvSpPr>
          <p:nvPr/>
        </p:nvSpPr>
        <p:spPr bwMode="auto">
          <a:xfrm>
            <a:off x="3995738" y="260350"/>
            <a:ext cx="4752975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fr-FR" altLang="fr-FR" sz="2000" dirty="0">
                <a:solidFill>
                  <a:srgbClr val="FF0000"/>
                </a:solidFill>
              </a:rPr>
              <a:t>avec </a:t>
            </a:r>
            <a:r>
              <a:rPr lang="el-GR" altLang="fr-FR" sz="2000" dirty="0">
                <a:solidFill>
                  <a:srgbClr val="FF0000"/>
                </a:solidFill>
              </a:rPr>
              <a:t>λ</a:t>
            </a:r>
            <a:r>
              <a:rPr lang="fr-FR" altLang="fr-FR" sz="2000" dirty="0">
                <a:solidFill>
                  <a:srgbClr val="FF0000"/>
                </a:solidFill>
              </a:rPr>
              <a:t> = </a:t>
            </a:r>
            <a:r>
              <a:rPr lang="en-US" altLang="fr-FR" sz="2000" dirty="0">
                <a:solidFill>
                  <a:srgbClr val="FF0000"/>
                </a:solidFill>
              </a:rPr>
              <a:t>2α – </a:t>
            </a:r>
            <a:r>
              <a:rPr lang="el-GR" altLang="fr-FR" sz="2000" dirty="0">
                <a:solidFill>
                  <a:srgbClr val="FF0000"/>
                </a:solidFill>
              </a:rPr>
              <a:t>α</a:t>
            </a:r>
            <a:r>
              <a:rPr lang="fr-FR" altLang="fr-FR" sz="2000" baseline="30000" dirty="0">
                <a:solidFill>
                  <a:srgbClr val="FF0000"/>
                </a:solidFill>
              </a:rPr>
              <a:t>2</a:t>
            </a:r>
            <a:endParaRPr lang="el-GR" altLang="fr-FR" sz="2000" dirty="0">
              <a:solidFill>
                <a:srgbClr val="FF0000"/>
              </a:solidFill>
            </a:endParaRPr>
          </a:p>
        </p:txBody>
      </p:sp>
      <p:graphicFrame>
        <p:nvGraphicFramePr>
          <p:cNvPr id="15364" name="Object 5"/>
          <p:cNvGraphicFramePr>
            <a:graphicFrameLocks noChangeAspect="1"/>
          </p:cNvGraphicFramePr>
          <p:nvPr/>
        </p:nvGraphicFramePr>
        <p:xfrm>
          <a:off x="684213" y="765175"/>
          <a:ext cx="4826000" cy="692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037" name="Équation" r:id="rId5" imgW="2724285" imgH="371475" progId="Equation.3">
                  <p:embed/>
                </p:oleObj>
              </mc:Choice>
              <mc:Fallback>
                <p:oleObj name="Équation" r:id="rId5" imgW="2724285" imgH="371475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4213" y="765175"/>
                        <a:ext cx="4826000" cy="6921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365" name="Object 7"/>
          <p:cNvGraphicFramePr>
            <a:graphicFrameLocks noChangeAspect="1"/>
          </p:cNvGraphicFramePr>
          <p:nvPr/>
        </p:nvGraphicFramePr>
        <p:xfrm>
          <a:off x="539750" y="2565400"/>
          <a:ext cx="4662488" cy="7604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038" name="Équation" r:id="rId7" imgW="2489200" imgH="406400" progId="Equation.3">
                  <p:embed/>
                </p:oleObj>
              </mc:Choice>
              <mc:Fallback>
                <p:oleObj name="Équation" r:id="rId7" imgW="2489200" imgH="406400" progId="Equation.3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9750" y="2565400"/>
                        <a:ext cx="4662488" cy="7604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366" name="Text Box 8"/>
          <p:cNvSpPr txBox="1">
            <a:spLocks noChangeArrowheads="1"/>
          </p:cNvSpPr>
          <p:nvPr/>
        </p:nvSpPr>
        <p:spPr bwMode="auto">
          <a:xfrm>
            <a:off x="539750" y="3573463"/>
            <a:ext cx="7921625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fr-FR" altLang="fr-FR" sz="2000" dirty="0"/>
              <a:t>Autre possibilité de calculs des valeurs initiales : S</a:t>
            </a:r>
            <a:r>
              <a:rPr lang="fr-FR" altLang="fr-FR" sz="2000" baseline="-25000" dirty="0"/>
              <a:t>1</a:t>
            </a:r>
            <a:r>
              <a:rPr lang="fr-FR" altLang="fr-FR" sz="2000" dirty="0"/>
              <a:t> = y</a:t>
            </a:r>
            <a:r>
              <a:rPr lang="fr-FR" altLang="fr-FR" sz="2000" baseline="-25000" dirty="0"/>
              <a:t>1</a:t>
            </a:r>
            <a:r>
              <a:rPr lang="fr-FR" altLang="fr-FR" sz="2000" dirty="0"/>
              <a:t> et T</a:t>
            </a:r>
            <a:r>
              <a:rPr lang="fr-FR" altLang="fr-FR" sz="2000" baseline="-25000" dirty="0"/>
              <a:t>1</a:t>
            </a:r>
            <a:r>
              <a:rPr lang="fr-FR" altLang="fr-FR" sz="2000" dirty="0"/>
              <a:t> = 0</a:t>
            </a:r>
          </a:p>
        </p:txBody>
      </p:sp>
      <p:sp>
        <p:nvSpPr>
          <p:cNvPr id="15367" name="Text Box 9"/>
          <p:cNvSpPr txBox="1">
            <a:spLocks noChangeArrowheads="1"/>
          </p:cNvSpPr>
          <p:nvPr/>
        </p:nvSpPr>
        <p:spPr bwMode="auto">
          <a:xfrm>
            <a:off x="323850" y="4221163"/>
            <a:ext cx="8424863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fr-FR" altLang="fr-FR" sz="2000"/>
              <a:t>Remarque :</a:t>
            </a:r>
          </a:p>
        </p:txBody>
      </p:sp>
      <p:sp>
        <p:nvSpPr>
          <p:cNvPr id="15368" name="Text Box 10"/>
          <p:cNvSpPr txBox="1">
            <a:spLocks noChangeArrowheads="1"/>
          </p:cNvSpPr>
          <p:nvPr/>
        </p:nvSpPr>
        <p:spPr bwMode="auto">
          <a:xfrm>
            <a:off x="755650" y="4652963"/>
            <a:ext cx="8137525" cy="1006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fr-FR" altLang="fr-FR" sz="2000" dirty="0"/>
              <a:t>Dés que le nombre d’observations est supérieur à une dizaine, les valeurs lissées en fin de période sont très peu sensibles au choix des valeurs initiales</a:t>
            </a:r>
          </a:p>
        </p:txBody>
      </p:sp>
      <p:sp>
        <p:nvSpPr>
          <p:cNvPr id="15369" name="Text Box 11"/>
          <p:cNvSpPr txBox="1">
            <a:spLocks noChangeArrowheads="1"/>
          </p:cNvSpPr>
          <p:nvPr/>
        </p:nvSpPr>
        <p:spPr bwMode="auto">
          <a:xfrm>
            <a:off x="539750" y="1557338"/>
            <a:ext cx="82804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fr-FR" altLang="fr-FR" sz="2000" dirty="0"/>
              <a:t>La série ajustée : </a:t>
            </a:r>
            <a:r>
              <a:rPr lang="fr-FR" altLang="fr-FR" sz="2000" dirty="0" smtClean="0"/>
              <a:t>F</a:t>
            </a:r>
            <a:r>
              <a:rPr lang="fr-FR" altLang="fr-FR" sz="2000" baseline="-25000" dirty="0" smtClean="0"/>
              <a:t>t-1</a:t>
            </a:r>
            <a:r>
              <a:rPr lang="fr-FR" altLang="fr-FR" sz="2000" dirty="0" smtClean="0"/>
              <a:t> </a:t>
            </a:r>
            <a:r>
              <a:rPr lang="fr-FR" altLang="fr-FR" sz="2000" dirty="0"/>
              <a:t>= S</a:t>
            </a:r>
            <a:r>
              <a:rPr lang="fr-FR" altLang="fr-FR" sz="2000" baseline="-25000" dirty="0"/>
              <a:t>t-1</a:t>
            </a:r>
            <a:r>
              <a:rPr lang="fr-FR" altLang="fr-FR" sz="2000" dirty="0"/>
              <a:t> + T</a:t>
            </a:r>
            <a:r>
              <a:rPr lang="fr-FR" altLang="fr-FR" sz="2000" baseline="-25000" dirty="0"/>
              <a:t>t-1</a:t>
            </a:r>
            <a:endParaRPr lang="fr-FR" altLang="fr-FR" sz="2000" dirty="0"/>
          </a:p>
        </p:txBody>
      </p:sp>
      <p:sp>
        <p:nvSpPr>
          <p:cNvPr id="15370" name="Text Box 12"/>
          <p:cNvSpPr txBox="1">
            <a:spLocks noChangeArrowheads="1"/>
          </p:cNvSpPr>
          <p:nvPr/>
        </p:nvSpPr>
        <p:spPr bwMode="auto">
          <a:xfrm>
            <a:off x="539750" y="2133600"/>
            <a:ext cx="8135938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fr-FR" altLang="fr-FR" sz="2000" dirty="0"/>
              <a:t>L’erreur d’ajustement : e</a:t>
            </a:r>
            <a:r>
              <a:rPr lang="fr-FR" altLang="fr-FR" sz="2000" baseline="-25000" dirty="0"/>
              <a:t>t</a:t>
            </a:r>
            <a:r>
              <a:rPr lang="fr-FR" altLang="fr-FR" sz="2000" dirty="0"/>
              <a:t> = </a:t>
            </a:r>
            <a:r>
              <a:rPr lang="fr-FR" altLang="fr-FR" sz="2000" dirty="0" err="1"/>
              <a:t>y</a:t>
            </a:r>
            <a:r>
              <a:rPr lang="fr-FR" altLang="fr-FR" sz="2000" baseline="-25000" dirty="0" err="1"/>
              <a:t>t</a:t>
            </a:r>
            <a:r>
              <a:rPr lang="fr-FR" altLang="fr-FR" sz="2000" dirty="0"/>
              <a:t> </a:t>
            </a:r>
            <a:r>
              <a:rPr lang="fr-FR" altLang="fr-FR" sz="2000" dirty="0" smtClean="0"/>
              <a:t>– F</a:t>
            </a:r>
            <a:r>
              <a:rPr lang="fr-FR" altLang="fr-FR" sz="2000" baseline="-25000" dirty="0" smtClean="0"/>
              <a:t>t-1</a:t>
            </a:r>
            <a:endParaRPr lang="fr-FR" altLang="fr-FR" sz="2000" dirty="0"/>
          </a:p>
        </p:txBody>
      </p:sp>
      <p:sp>
        <p:nvSpPr>
          <p:cNvPr id="15371" name="Text Box 13"/>
          <p:cNvSpPr txBox="1">
            <a:spLocks noChangeArrowheads="1"/>
          </p:cNvSpPr>
          <p:nvPr/>
        </p:nvSpPr>
        <p:spPr bwMode="auto">
          <a:xfrm>
            <a:off x="287338" y="5895975"/>
            <a:ext cx="8748712" cy="701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fr-FR" altLang="fr-FR" sz="2000" dirty="0"/>
              <a:t>Appliquons le LED à la série ‘‘indice de salaire annuel moyen de l’industrie italienne 1962 - 1991’’</a:t>
            </a:r>
          </a:p>
        </p:txBody>
      </p:sp>
      <p:sp>
        <p:nvSpPr>
          <p:cNvPr id="2" name="ZoneTexte 1"/>
          <p:cNvSpPr txBox="1"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5364088" y="2708920"/>
            <a:ext cx="3313063" cy="400110"/>
          </a:xfrm>
          <a:prstGeom prst="rect">
            <a:avLst/>
          </a:prstGeom>
          <a:blipFill rotWithShape="1">
            <a:blip r:embed="rId9"/>
            <a:stretch>
              <a:fillRect t="-6061" b="-27273"/>
            </a:stretch>
          </a:blipFill>
        </p:spPr>
        <p:txBody>
          <a:bodyPr/>
          <a:lstStyle/>
          <a:p>
            <a:pPr>
              <a:defRPr/>
            </a:pPr>
            <a:r>
              <a:rPr lang="fr-FR">
                <a:noFill/>
              </a:rPr>
              <a:t> 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6386" name="Object 2"/>
          <p:cNvGraphicFramePr>
            <a:graphicFrameLocks noChangeAspect="1"/>
          </p:cNvGraphicFramePr>
          <p:nvPr/>
        </p:nvGraphicFramePr>
        <p:xfrm>
          <a:off x="295275" y="0"/>
          <a:ext cx="8848725" cy="60086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606" name="Graphique" r:id="rId3" imgW="8848662" imgH="5172197" progId="Excel.Chart.8">
                  <p:embed/>
                </p:oleObj>
              </mc:Choice>
              <mc:Fallback>
                <p:oleObj name="Graphique" r:id="rId3" imgW="8848662" imgH="5172197" progId="Excel.Chart.8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5275" y="0"/>
                        <a:ext cx="8848725" cy="60086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387" name="Text Box 3"/>
          <p:cNvSpPr txBox="1">
            <a:spLocks noChangeArrowheads="1"/>
          </p:cNvSpPr>
          <p:nvPr/>
        </p:nvSpPr>
        <p:spPr bwMode="auto">
          <a:xfrm>
            <a:off x="468313" y="5895975"/>
            <a:ext cx="8280400" cy="701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fr-FR" altLang="fr-FR" sz="2000"/>
              <a:t>Le rattrapage de la pente est autant plus rapide que le coefficient </a:t>
            </a:r>
            <a:r>
              <a:rPr lang="el-GR" altLang="fr-FR" sz="2000"/>
              <a:t>α</a:t>
            </a:r>
            <a:r>
              <a:rPr lang="fr-FR" altLang="fr-FR" sz="2000"/>
              <a:t> est élevé</a:t>
            </a:r>
            <a:endParaRPr lang="el-GR" altLang="fr-FR" sz="200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Text Box 2"/>
          <p:cNvSpPr txBox="1">
            <a:spLocks noChangeArrowheads="1"/>
          </p:cNvSpPr>
          <p:nvPr/>
        </p:nvSpPr>
        <p:spPr bwMode="auto">
          <a:xfrm>
            <a:off x="323850" y="404813"/>
            <a:ext cx="6049963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fr-FR" altLang="fr-FR" sz="2000"/>
              <a:t>Choix optimale de la constante de lissage</a:t>
            </a:r>
          </a:p>
        </p:txBody>
      </p:sp>
      <p:sp>
        <p:nvSpPr>
          <p:cNvPr id="17411" name="Text Box 3"/>
          <p:cNvSpPr txBox="1">
            <a:spLocks noChangeArrowheads="1"/>
          </p:cNvSpPr>
          <p:nvPr/>
        </p:nvSpPr>
        <p:spPr bwMode="auto">
          <a:xfrm>
            <a:off x="393700" y="1016000"/>
            <a:ext cx="864235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fr-FR" altLang="fr-FR" sz="2000"/>
              <a:t>On calcule le LED pour différentes valeurs de </a:t>
            </a:r>
            <a:r>
              <a:rPr lang="el-GR" altLang="fr-FR" sz="2000"/>
              <a:t>α</a:t>
            </a:r>
          </a:p>
        </p:txBody>
      </p:sp>
      <p:sp>
        <p:nvSpPr>
          <p:cNvPr id="17412" name="Text Box 195"/>
          <p:cNvSpPr txBox="1">
            <a:spLocks noChangeArrowheads="1"/>
          </p:cNvSpPr>
          <p:nvPr/>
        </p:nvSpPr>
        <p:spPr bwMode="auto">
          <a:xfrm>
            <a:off x="395288" y="3068960"/>
            <a:ext cx="8569325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fr-FR" altLang="fr-FR" sz="2000"/>
              <a:t>La valeur optimale de </a:t>
            </a:r>
            <a:r>
              <a:rPr lang="el-GR" altLang="fr-FR" sz="2000"/>
              <a:t>α</a:t>
            </a:r>
            <a:r>
              <a:rPr lang="fr-FR" altLang="fr-FR" sz="2000"/>
              <a:t> est 0.9 </a:t>
            </a:r>
            <a:endParaRPr lang="el-GR" altLang="fr-FR" sz="2000"/>
          </a:p>
        </p:txBody>
      </p:sp>
      <p:graphicFrame>
        <p:nvGraphicFramePr>
          <p:cNvPr id="17413" name="Object 20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83004423"/>
              </p:ext>
            </p:extLst>
          </p:nvPr>
        </p:nvGraphicFramePr>
        <p:xfrm>
          <a:off x="1760538" y="1556792"/>
          <a:ext cx="5622925" cy="1304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633" name="Worksheet" r:id="rId3" imgW="5623620" imgH="1304687" progId="Excel.Sheet.8">
                  <p:embed/>
                </p:oleObj>
              </mc:Choice>
              <mc:Fallback>
                <p:oleObj name="Worksheet" r:id="rId3" imgW="5623620" imgH="1304687" progId="Excel.Sheet.8">
                  <p:embed/>
                  <p:pic>
                    <p:nvPicPr>
                      <p:cNvPr id="0" name="Object 20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60538" y="1556792"/>
                        <a:ext cx="5622925" cy="13049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ZoneTexte 5"/>
          <p:cNvSpPr txBox="1"/>
          <p:nvPr/>
        </p:nvSpPr>
        <p:spPr>
          <a:xfrm>
            <a:off x="323528" y="3892986"/>
            <a:ext cx="835292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 smtClean="0"/>
              <a:t>Equations du modèle du lissage exponentiel double</a:t>
            </a:r>
            <a:endParaRPr lang="fr-FR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ZoneTexte 6"/>
              <p:cNvSpPr txBox="1"/>
              <p:nvPr/>
            </p:nvSpPr>
            <p:spPr>
              <a:xfrm>
                <a:off x="323528" y="4541058"/>
                <a:ext cx="8280920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fr-FR" dirty="0" smtClean="0"/>
                  <a:t>Les paramètres du modèles sont 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fr-FR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b="0" i="1" smtClean="0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fr-FR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fr-FR" b="0" i="1" smtClean="0"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fr-FR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fr-FR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fr-FR" dirty="0" smtClean="0"/>
                  <a:t> et </a:t>
                </a:r>
                <a14:m>
                  <m:oMath xmlns:m="http://schemas.openxmlformats.org/officeDocument/2006/math">
                    <m:r>
                      <a:rPr lang="fr-FR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𝛼</m:t>
                    </m:r>
                  </m:oMath>
                </a14:m>
                <a:endParaRPr lang="fr-FR" dirty="0"/>
              </a:p>
            </p:txBody>
          </p:sp>
        </mc:Choice>
        <mc:Fallback xmlns="">
          <p:sp>
            <p:nvSpPr>
              <p:cNvPr id="7" name="ZoneTexte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3528" y="4541058"/>
                <a:ext cx="8280920" cy="400110"/>
              </a:xfrm>
              <a:prstGeom prst="rect">
                <a:avLst/>
              </a:prstGeom>
              <a:blipFill rotWithShape="0">
                <a:blip r:embed="rId5"/>
                <a:stretch>
                  <a:fillRect l="-736" t="-7576" b="-27273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ZoneTexte 7"/>
          <p:cNvSpPr txBox="1"/>
          <p:nvPr/>
        </p:nvSpPr>
        <p:spPr>
          <a:xfrm>
            <a:off x="395536" y="5241394"/>
            <a:ext cx="835292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 smtClean="0"/>
              <a:t>On choisit le MAPE comme critère à minimiser pour estimer le modèle, c’est une fonction dans ce cas à 3 variables</a:t>
            </a:r>
            <a:endParaRPr lang="fr-FR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5" name="ZoneTexte 4"/>
              <p:cNvSpPr txBox="1"/>
              <p:nvPr/>
            </p:nvSpPr>
            <p:spPr>
              <a:xfrm>
                <a:off x="323528" y="364594"/>
                <a:ext cx="835292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fr-FR" dirty="0" smtClean="0"/>
                  <a:t>Initialisation des paramètres 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fr-FR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b="0" i="1" smtClean="0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fr-FR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fr-FR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fr-FR" b="0" i="1" smtClean="0">
                        <a:latin typeface="Cambria Math" panose="02040503050406030204" pitchFamily="18" charset="0"/>
                      </a:rPr>
                      <m:t>𝑥</m:t>
                    </m:r>
                    <m:d>
                      <m:dPr>
                        <m:begChr m:val="["/>
                        <m:endChr m:val="]"/>
                        <m:ctrlPr>
                          <a:rPr lang="fr-FR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fr-FR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  <m:r>
                      <a:rPr lang="fr-FR" b="0" i="1" smtClean="0"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fr-FR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fr-FR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fr-FR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fr-FR" b="0" i="1" smtClean="0">
                        <a:latin typeface="Cambria Math" panose="02040503050406030204" pitchFamily="18" charset="0"/>
                      </a:rPr>
                      <m:t>𝑥</m:t>
                    </m:r>
                    <m:d>
                      <m:dPr>
                        <m:begChr m:val="["/>
                        <m:endChr m:val="]"/>
                        <m:ctrlPr>
                          <a:rPr lang="fr-FR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fr-FR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d>
                  </m:oMath>
                </a14:m>
                <a:r>
                  <a:rPr lang="fr-FR" dirty="0"/>
                  <a:t> et </a:t>
                </a:r>
                <a14:m>
                  <m:oMath xmlns:m="http://schemas.openxmlformats.org/officeDocument/2006/math">
                    <m:r>
                      <a:rPr lang="fr-FR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𝛼</m:t>
                    </m:r>
                    <m:r>
                      <a:rPr lang="fr-F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fr-F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  <m:r>
                      <a:rPr lang="fr-F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[3]</m:t>
                    </m:r>
                  </m:oMath>
                </a14:m>
                <a:r>
                  <a:rPr lang="fr-FR" dirty="0" smtClean="0"/>
                  <a:t> </a:t>
                </a:r>
                <a:endParaRPr lang="fr-FR" dirty="0"/>
              </a:p>
            </p:txBody>
          </p:sp>
        </mc:Choice>
        <mc:Fallback xmlns="">
          <p:sp>
            <p:nvSpPr>
              <p:cNvPr id="5" name="ZoneTexte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3528" y="364594"/>
                <a:ext cx="8352928" cy="400110"/>
              </a:xfrm>
              <a:prstGeom prst="rect">
                <a:avLst/>
              </a:prstGeom>
              <a:blipFill rotWithShape="0">
                <a:blip r:embed="rId2"/>
                <a:stretch>
                  <a:fillRect l="-730" t="-7692" b="-29231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ZoneTexte 5"/>
              <p:cNvSpPr txBox="1"/>
              <p:nvPr/>
            </p:nvSpPr>
            <p:spPr>
              <a:xfrm>
                <a:off x="467544" y="1490008"/>
                <a:ext cx="7488832" cy="193899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fr-FR" dirty="0" smtClean="0"/>
                  <a:t>Mape = 0</a:t>
                </a:r>
              </a:p>
              <a:p>
                <a:r>
                  <a:rPr lang="fr-FR" dirty="0" smtClean="0"/>
                  <a:t>Pour i = 3 à T-h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fr-F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fr-F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fr-F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𝜆</m:t>
                      </m:r>
                      <m:sSub>
                        <m:sSubPr>
                          <m:ctrlPr>
                            <a:rPr lang="fr-F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fr-F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fr-F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d>
                        <m:dPr>
                          <m:ctrlPr>
                            <a:rPr lang="fr-F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fr-F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1−</m:t>
                          </m:r>
                          <m:r>
                            <a:rPr lang="fr-F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𝜆</m:t>
                          </m:r>
                        </m:e>
                      </m:d>
                      <m:d>
                        <m:dPr>
                          <m:ctrlPr>
                            <a:rPr lang="fr-F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fr-FR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fr-FR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fr-FR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−1</m:t>
                              </m:r>
                            </m:sub>
                          </m:sSub>
                          <m:r>
                            <a:rPr lang="fr-F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fr-FR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𝑇</m:t>
                              </m:r>
                            </m:e>
                            <m:sub>
                              <m:r>
                                <a:rPr lang="fr-FR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fr-FR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−1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fr-FR" b="0" dirty="0" smtClean="0">
                  <a:ea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fr-F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fr-F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fr-F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𝜇</m:t>
                      </m:r>
                      <m:d>
                        <m:dPr>
                          <m:ctrlPr>
                            <a:rPr lang="fr-F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fr-FR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fr-FR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fr-F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fr-FR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fr-FR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fr-FR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−1</m:t>
                              </m:r>
                            </m:sub>
                          </m:sSub>
                        </m:e>
                      </m:d>
                      <m:r>
                        <a:rPr lang="fr-F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d>
                        <m:dPr>
                          <m:ctrlPr>
                            <a:rPr lang="fr-F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fr-F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1−</m:t>
                          </m:r>
                          <m:r>
                            <a:rPr lang="fr-F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𝜇</m:t>
                          </m:r>
                        </m:e>
                      </m:d>
                      <m:sSub>
                        <m:sSubPr>
                          <m:ctrlPr>
                            <a:rPr lang="fr-F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fr-F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</m:t>
                          </m:r>
                          <m:r>
                            <a:rPr lang="fr-F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−1</m:t>
                          </m:r>
                        </m:sub>
                      </m:sSub>
                    </m:oMath>
                  </m:oMathPara>
                </a14:m>
                <a:endParaRPr lang="fr-FR" b="0" dirty="0" smtClean="0">
                  <a:ea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𝑀𝑎𝑝𝑒</m:t>
                      </m:r>
                      <m:r>
                        <a:rPr lang="fr-F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fr-F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𝑀𝑎𝑝𝑒</m:t>
                      </m:r>
                      <m:r>
                        <a:rPr lang="fr-F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r>
                        <a:rPr lang="fr-F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𝑎𝑏𝑠</m:t>
                      </m:r>
                      <m:d>
                        <m:dPr>
                          <m:ctrlPr>
                            <a:rPr lang="fr-F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fr-FR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fr-FR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fr-F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fr-FR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fr-FR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fr-FR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−1</m:t>
                              </m:r>
                            </m:sub>
                          </m:sSub>
                          <m:r>
                            <a:rPr lang="fr-F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fr-FR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𝑇</m:t>
                              </m:r>
                            </m:e>
                            <m:sub>
                              <m:r>
                                <a:rPr lang="fr-FR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fr-FR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−1</m:t>
                              </m:r>
                            </m:sub>
                          </m:sSub>
                        </m:e>
                      </m:d>
                      <m:r>
                        <a:rPr lang="fr-F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∗100/</m:t>
                      </m:r>
                      <m:sSub>
                        <m:sSubPr>
                          <m:ctrlPr>
                            <a:rPr lang="fr-F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fr-F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fr-FR" b="0" dirty="0" smtClean="0">
                  <a:ea typeface="Cambria Math" panose="02040503050406030204" pitchFamily="18" charset="0"/>
                </a:endParaRPr>
              </a:p>
              <a:p>
                <a:r>
                  <a:rPr lang="fr-FR" dirty="0" err="1" smtClean="0">
                    <a:ea typeface="Cambria Math" panose="02040503050406030204" pitchFamily="18" charset="0"/>
                  </a:rPr>
                  <a:t>Fin_pour</a:t>
                </a:r>
                <a:endParaRPr lang="fr-FR" b="0" dirty="0" smtClean="0"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6" name="ZoneTexte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7544" y="1490008"/>
                <a:ext cx="7488832" cy="1938992"/>
              </a:xfrm>
              <a:prstGeom prst="rect">
                <a:avLst/>
              </a:prstGeom>
              <a:blipFill rotWithShape="0">
                <a:blip r:embed="rId3"/>
                <a:stretch>
                  <a:fillRect l="-896" t="-1254" b="-4702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ZoneTexte 6"/>
          <p:cNvSpPr txBox="1"/>
          <p:nvPr/>
        </p:nvSpPr>
        <p:spPr>
          <a:xfrm>
            <a:off x="287524" y="4005064"/>
            <a:ext cx="835292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 smtClean="0"/>
              <a:t>Optimisation de la fonction </a:t>
            </a:r>
            <a:r>
              <a:rPr lang="fr-FR" dirty="0" err="1" smtClean="0"/>
              <a:t>Mape</a:t>
            </a:r>
            <a:r>
              <a:rPr lang="fr-FR" dirty="0" smtClean="0"/>
              <a:t> par la procédure </a:t>
            </a:r>
            <a:r>
              <a:rPr lang="fr-FR" dirty="0" err="1" smtClean="0"/>
              <a:t>optim</a:t>
            </a:r>
            <a:endParaRPr lang="fr-FR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ZoneTexte 7"/>
              <p:cNvSpPr txBox="1"/>
              <p:nvPr/>
            </p:nvSpPr>
            <p:spPr>
              <a:xfrm>
                <a:off x="251520" y="5157192"/>
                <a:ext cx="8712968" cy="132343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fr-FR" dirty="0" smtClean="0"/>
                  <a:t>Calcul des prévisions pour les h derniers instants :</a:t>
                </a:r>
              </a:p>
              <a:p>
                <a:r>
                  <a:rPr lang="fr-FR" dirty="0" smtClean="0"/>
                  <a:t>Pour i = 1 à h</a:t>
                </a: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fr-FR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fr-FR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acc>
                        </m:e>
                        <m:sub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fr-FR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sub>
                      </m:sSub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𝑖</m:t>
                      </m:r>
                      <m:sSub>
                        <m:sSubPr>
                          <m:ctrlPr>
                            <a:rPr lang="fr-FR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sub>
                      </m:sSub>
                    </m:oMath>
                  </m:oMathPara>
                </a14:m>
                <a:endParaRPr lang="fr-FR" dirty="0" smtClean="0"/>
              </a:p>
              <a:p>
                <a:r>
                  <a:rPr lang="fr-FR" dirty="0" err="1" smtClean="0"/>
                  <a:t>Fin_pour</a:t>
                </a:r>
                <a:endParaRPr lang="fr-FR" dirty="0"/>
              </a:p>
            </p:txBody>
          </p:sp>
        </mc:Choice>
        <mc:Fallback xmlns="">
          <p:sp>
            <p:nvSpPr>
              <p:cNvPr id="8" name="ZoneTexte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1520" y="5157192"/>
                <a:ext cx="8712968" cy="1323439"/>
              </a:xfrm>
              <a:prstGeom prst="rect">
                <a:avLst/>
              </a:prstGeom>
              <a:blipFill>
                <a:blip r:embed="rId4"/>
                <a:stretch>
                  <a:fillRect l="-699" t="-2304" b="-7834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 Box 4"/>
              <p:cNvSpPr txBox="1">
                <a:spLocks noChangeArrowheads="1"/>
              </p:cNvSpPr>
              <p:nvPr/>
            </p:nvSpPr>
            <p:spPr bwMode="auto">
              <a:xfrm>
                <a:off x="683568" y="836712"/>
                <a:ext cx="4752975" cy="50257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r>
                  <a:rPr lang="el-GR" altLang="fr-FR" sz="2000" dirty="0" smtClean="0"/>
                  <a:t>λ</a:t>
                </a:r>
                <a:r>
                  <a:rPr lang="fr-FR" altLang="fr-FR" sz="2000" dirty="0" smtClean="0"/>
                  <a:t> </a:t>
                </a:r>
                <a:r>
                  <a:rPr lang="fr-FR" altLang="fr-FR" sz="2000" dirty="0"/>
                  <a:t>= </a:t>
                </a:r>
                <a:r>
                  <a:rPr lang="en-US" altLang="fr-FR" sz="2000" dirty="0"/>
                  <a:t>2α – </a:t>
                </a:r>
                <a:r>
                  <a:rPr lang="el-GR" altLang="fr-FR" sz="2000" dirty="0"/>
                  <a:t>α</a:t>
                </a:r>
                <a:r>
                  <a:rPr lang="fr-FR" altLang="fr-FR" sz="2000" baseline="30000" dirty="0" smtClean="0"/>
                  <a:t>2</a:t>
                </a:r>
                <a:r>
                  <a:rPr lang="fr-FR" altLang="fr-FR" sz="2000" dirty="0" smtClean="0"/>
                  <a:t> et  </a:t>
                </a:r>
                <a14:m>
                  <m:oMath xmlns:m="http://schemas.openxmlformats.org/officeDocument/2006/math">
                    <m:r>
                      <a:rPr lang="fr-FR" altLang="fr-FR" sz="20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𝜇</m:t>
                    </m:r>
                    <m:r>
                      <a:rPr lang="fr-FR" altLang="fr-FR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fr-FR" altLang="fr-FR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fr-FR" altLang="fr-FR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𝛼</m:t>
                        </m:r>
                      </m:num>
                      <m:den>
                        <m:r>
                          <a:rPr lang="fr-FR" altLang="fr-FR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2−</m:t>
                        </m:r>
                        <m:r>
                          <a:rPr lang="fr-FR" altLang="fr-FR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𝛼</m:t>
                        </m:r>
                      </m:den>
                    </m:f>
                  </m:oMath>
                </a14:m>
                <a:endParaRPr lang="el-GR" altLang="fr-FR" sz="2000" dirty="0"/>
              </a:p>
            </p:txBody>
          </p:sp>
        </mc:Choice>
        <mc:Fallback xmlns="">
          <p:sp>
            <p:nvSpPr>
              <p:cNvPr id="12" name="Text 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83568" y="836712"/>
                <a:ext cx="4752975" cy="502573"/>
              </a:xfrm>
              <a:prstGeom prst="rect">
                <a:avLst/>
              </a:prstGeom>
              <a:blipFill rotWithShape="0">
                <a:blip r:embed="rId5"/>
                <a:stretch>
                  <a:fillRect l="-1282" b="-7229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ZoneTexte 12"/>
              <p:cNvSpPr txBox="1"/>
              <p:nvPr/>
            </p:nvSpPr>
            <p:spPr>
              <a:xfrm>
                <a:off x="323528" y="3460938"/>
                <a:ext cx="4608512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𝑀𝑎𝑝𝑒</m:t>
                      </m:r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𝑀𝑎𝑝𝑒</m:t>
                      </m:r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/</m:t>
                      </m:r>
                      <m:d>
                        <m:dPr>
                          <m:ctrlPr>
                            <a:rPr lang="fr-FR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−2</m:t>
                          </m:r>
                        </m:e>
                      </m:d>
                    </m:oMath>
                  </m:oMathPara>
                </a14:m>
                <a:endParaRPr lang="fr-FR" dirty="0"/>
              </a:p>
            </p:txBody>
          </p:sp>
        </mc:Choice>
        <mc:Fallback xmlns="">
          <p:sp>
            <p:nvSpPr>
              <p:cNvPr id="13" name="ZoneTexte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3528" y="3460938"/>
                <a:ext cx="4608512" cy="400110"/>
              </a:xfrm>
              <a:prstGeom prst="rect">
                <a:avLst/>
              </a:prstGeom>
              <a:blipFill rotWithShape="0">
                <a:blip r:embed="rId6"/>
                <a:stretch>
                  <a:fillRect b="-18462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ZoneTexte 8"/>
          <p:cNvSpPr txBox="1"/>
          <p:nvPr/>
        </p:nvSpPr>
        <p:spPr>
          <a:xfrm>
            <a:off x="251520" y="4613066"/>
            <a:ext cx="8208912" cy="400110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fr-FR" dirty="0" smtClean="0"/>
              <a:t>Calcul du modèle sur l’horizon d’ajustement : 1,…, T-h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1827235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Text Box 2"/>
          <p:cNvSpPr txBox="1">
            <a:spLocks noChangeArrowheads="1"/>
          </p:cNvSpPr>
          <p:nvPr/>
        </p:nvSpPr>
        <p:spPr bwMode="auto">
          <a:xfrm>
            <a:off x="250825" y="260350"/>
            <a:ext cx="7920038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fr-FR" altLang="fr-FR" sz="2000" b="1"/>
              <a:t>Le lissage de Holt </a:t>
            </a:r>
            <a:r>
              <a:rPr lang="fr-FR" altLang="fr-FR" sz="2000"/>
              <a:t>(séries non saisonnière)</a:t>
            </a:r>
            <a:endParaRPr lang="fr-FR" altLang="fr-FR" sz="2000" b="1"/>
          </a:p>
        </p:txBody>
      </p:sp>
      <p:sp>
        <p:nvSpPr>
          <p:cNvPr id="18435" name="Text Box 3"/>
          <p:cNvSpPr txBox="1">
            <a:spLocks noChangeArrowheads="1"/>
          </p:cNvSpPr>
          <p:nvPr/>
        </p:nvSpPr>
        <p:spPr bwMode="auto">
          <a:xfrm>
            <a:off x="323850" y="981075"/>
            <a:ext cx="9217025" cy="701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fr-FR" altLang="fr-FR" sz="2000"/>
              <a:t>Le lissage de Holt s’applique aux séries chronologiques sans composantes saisonnières et à tendance localement linéaire.</a:t>
            </a:r>
          </a:p>
        </p:txBody>
      </p:sp>
      <p:graphicFrame>
        <p:nvGraphicFramePr>
          <p:cNvPr id="18436" name="Object 4"/>
          <p:cNvGraphicFramePr>
            <a:graphicFrameLocks noChangeAspect="1"/>
          </p:cNvGraphicFramePr>
          <p:nvPr/>
        </p:nvGraphicFramePr>
        <p:xfrm>
          <a:off x="3348038" y="1916113"/>
          <a:ext cx="3238500" cy="3794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099" name="Équation" r:id="rId3" imgW="1819343" imgH="200025" progId="Equation.3">
                  <p:embed/>
                </p:oleObj>
              </mc:Choice>
              <mc:Fallback>
                <p:oleObj name="Équation" r:id="rId3" imgW="1819343" imgH="200025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48038" y="1916113"/>
                        <a:ext cx="3238500" cy="3794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437" name="Text Box 6"/>
          <p:cNvSpPr txBox="1">
            <a:spLocks noChangeArrowheads="1"/>
          </p:cNvSpPr>
          <p:nvPr/>
        </p:nvSpPr>
        <p:spPr bwMode="auto">
          <a:xfrm>
            <a:off x="395288" y="1916113"/>
            <a:ext cx="3313112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fr-FR" altLang="fr-FR" sz="2000"/>
              <a:t>Mise à jour du niveau</a:t>
            </a:r>
          </a:p>
        </p:txBody>
      </p:sp>
      <p:graphicFrame>
        <p:nvGraphicFramePr>
          <p:cNvPr id="18438" name="Object 7"/>
          <p:cNvGraphicFramePr>
            <a:graphicFrameLocks noChangeAspect="1"/>
          </p:cNvGraphicFramePr>
          <p:nvPr/>
        </p:nvGraphicFramePr>
        <p:xfrm>
          <a:off x="3419475" y="2420938"/>
          <a:ext cx="3240088" cy="3794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100" name="Équation" r:id="rId5" imgW="1819343" imgH="200025" progId="Equation.3">
                  <p:embed/>
                </p:oleObj>
              </mc:Choice>
              <mc:Fallback>
                <p:oleObj name="Équation" r:id="rId5" imgW="1819343" imgH="200025" progId="Equation.3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19475" y="2420938"/>
                        <a:ext cx="3240088" cy="3794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439" name="Text Box 8"/>
          <p:cNvSpPr txBox="1">
            <a:spLocks noChangeArrowheads="1"/>
          </p:cNvSpPr>
          <p:nvPr/>
        </p:nvSpPr>
        <p:spPr bwMode="auto">
          <a:xfrm>
            <a:off x="395288" y="2420938"/>
            <a:ext cx="3313112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fr-FR" altLang="fr-FR" sz="2000"/>
              <a:t>Mise à jour de la pente</a:t>
            </a:r>
          </a:p>
        </p:txBody>
      </p:sp>
      <p:sp>
        <p:nvSpPr>
          <p:cNvPr id="18440" name="Text Box 9"/>
          <p:cNvSpPr txBox="1">
            <a:spLocks noChangeArrowheads="1"/>
          </p:cNvSpPr>
          <p:nvPr/>
        </p:nvSpPr>
        <p:spPr bwMode="auto">
          <a:xfrm>
            <a:off x="468313" y="3068638"/>
            <a:ext cx="8424862" cy="701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fr-FR" altLang="fr-FR" sz="2000"/>
              <a:t>Contrairement au LED, </a:t>
            </a:r>
            <a:r>
              <a:rPr lang="el-GR" altLang="fr-FR" sz="2000"/>
              <a:t>λ</a:t>
            </a:r>
            <a:r>
              <a:rPr lang="fr-FR" altLang="fr-FR" sz="2000"/>
              <a:t> et </a:t>
            </a:r>
            <a:r>
              <a:rPr lang="el-GR" altLang="fr-FR" sz="2000"/>
              <a:t>μ</a:t>
            </a:r>
            <a:r>
              <a:rPr lang="fr-FR" altLang="fr-FR" sz="2000"/>
              <a:t> sont des paramètres quelconques compris entre 0 et 1.</a:t>
            </a:r>
            <a:endParaRPr lang="el-GR" altLang="fr-FR" sz="2000"/>
          </a:p>
        </p:txBody>
      </p:sp>
      <p:sp>
        <p:nvSpPr>
          <p:cNvPr id="18441" name="Text Box 10"/>
          <p:cNvSpPr txBox="1">
            <a:spLocks noChangeArrowheads="1"/>
          </p:cNvSpPr>
          <p:nvPr/>
        </p:nvSpPr>
        <p:spPr bwMode="auto">
          <a:xfrm>
            <a:off x="539750" y="4149725"/>
            <a:ext cx="80645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fr-FR" altLang="fr-FR" sz="2000"/>
              <a:t>La prévision à la date T, pour l’horizon h est : </a:t>
            </a:r>
          </a:p>
        </p:txBody>
      </p:sp>
      <p:graphicFrame>
        <p:nvGraphicFramePr>
          <p:cNvPr id="18442" name="Object 11"/>
          <p:cNvGraphicFramePr>
            <a:graphicFrameLocks noChangeAspect="1"/>
          </p:cNvGraphicFramePr>
          <p:nvPr/>
        </p:nvGraphicFramePr>
        <p:xfrm>
          <a:off x="5940425" y="4005263"/>
          <a:ext cx="2462213" cy="511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101" name="Équation" r:id="rId7" imgW="1040948" imgH="215806" progId="Equation.3">
                  <p:embed/>
                </p:oleObj>
              </mc:Choice>
              <mc:Fallback>
                <p:oleObj name="Équation" r:id="rId7" imgW="1040948" imgH="215806" progId="Equation.3">
                  <p:embed/>
                  <p:pic>
                    <p:nvPicPr>
                      <p:cNvPr id="0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40425" y="4005263"/>
                        <a:ext cx="2462213" cy="5111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443" name="Text Box 12"/>
          <p:cNvSpPr txBox="1">
            <a:spLocks noChangeArrowheads="1"/>
          </p:cNvSpPr>
          <p:nvPr/>
        </p:nvSpPr>
        <p:spPr bwMode="auto">
          <a:xfrm>
            <a:off x="396875" y="4724400"/>
            <a:ext cx="8496300" cy="701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fr-FR" altLang="fr-FR" sz="2000"/>
              <a:t>Le choix de </a:t>
            </a:r>
            <a:r>
              <a:rPr lang="el-GR" altLang="fr-FR" sz="2000"/>
              <a:t>λ</a:t>
            </a:r>
            <a:r>
              <a:rPr lang="fr-FR" altLang="fr-FR" sz="2000"/>
              <a:t> et </a:t>
            </a:r>
            <a:r>
              <a:rPr lang="el-GR" altLang="fr-FR" sz="2000"/>
              <a:t>μ</a:t>
            </a:r>
            <a:r>
              <a:rPr lang="fr-FR" altLang="fr-FR" sz="2000"/>
              <a:t> se fait de façon à minimiser un des critères de comparaison : MSE, MAE, MAPE, (calcul long)</a:t>
            </a:r>
            <a:endParaRPr lang="el-GR" altLang="fr-FR" sz="2000"/>
          </a:p>
        </p:txBody>
      </p:sp>
      <p:sp>
        <p:nvSpPr>
          <p:cNvPr id="18444" name="Text Box 13"/>
          <p:cNvSpPr txBox="1">
            <a:spLocks noChangeArrowheads="1"/>
          </p:cNvSpPr>
          <p:nvPr/>
        </p:nvSpPr>
        <p:spPr bwMode="auto">
          <a:xfrm>
            <a:off x="539750" y="5734050"/>
            <a:ext cx="7561263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fr-FR" altLang="fr-FR" sz="2000"/>
              <a:t>Exemple : si </a:t>
            </a:r>
            <a:r>
              <a:rPr lang="el-GR" altLang="fr-FR" sz="2000"/>
              <a:t>λ</a:t>
            </a:r>
            <a:r>
              <a:rPr lang="fr-FR" altLang="fr-FR" sz="2000"/>
              <a:t>, </a:t>
            </a:r>
            <a:r>
              <a:rPr lang="el-GR" altLang="fr-FR" sz="2000"/>
              <a:t>μ</a:t>
            </a:r>
            <a:r>
              <a:rPr lang="fr-FR" altLang="fr-FR" sz="2000"/>
              <a:t> = 0.1, …, 0.9, dans ce cas, il y a 81 cas à traiter</a:t>
            </a:r>
            <a:endParaRPr lang="el-GR" altLang="fr-FR" sz="200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Text Box 2"/>
          <p:cNvSpPr txBox="1">
            <a:spLocks noChangeArrowheads="1"/>
          </p:cNvSpPr>
          <p:nvPr/>
        </p:nvSpPr>
        <p:spPr bwMode="auto">
          <a:xfrm>
            <a:off x="144463" y="333375"/>
            <a:ext cx="8748712" cy="701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fr-FR" altLang="fr-FR" sz="2000"/>
              <a:t>Appliquons le lissage de Holt à la série ‘‘indice de salaire annuel moyen de l’industrie italienne 1962 - 1991’’</a:t>
            </a:r>
          </a:p>
        </p:txBody>
      </p:sp>
      <p:graphicFrame>
        <p:nvGraphicFramePr>
          <p:cNvPr id="19459" name="Object 3"/>
          <p:cNvGraphicFramePr>
            <a:graphicFrameLocks noChangeAspect="1"/>
          </p:cNvGraphicFramePr>
          <p:nvPr/>
        </p:nvGraphicFramePr>
        <p:xfrm>
          <a:off x="576263" y="1484313"/>
          <a:ext cx="5616575" cy="7604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679" name="Équation" r:id="rId3" imgW="2997200" imgH="406400" progId="Equation.3">
                  <p:embed/>
                </p:oleObj>
              </mc:Choice>
              <mc:Fallback>
                <p:oleObj name="Équation" r:id="rId3" imgW="2997200" imgH="406400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6263" y="1484313"/>
                        <a:ext cx="5616575" cy="7604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ZoneTexte 3"/>
          <p:cNvSpPr txBox="1"/>
          <p:nvPr/>
        </p:nvSpPr>
        <p:spPr>
          <a:xfrm>
            <a:off x="323528" y="2420888"/>
            <a:ext cx="648072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 smtClean="0"/>
              <a:t>Equations du modèle du lissage exponentiel de Holt</a:t>
            </a:r>
            <a:endParaRPr lang="fr-FR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ZoneTexte 4"/>
              <p:cNvSpPr txBox="1"/>
              <p:nvPr/>
            </p:nvSpPr>
            <p:spPr>
              <a:xfrm>
                <a:off x="539552" y="3028890"/>
                <a:ext cx="8280920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fr-FR" dirty="0" smtClean="0"/>
                  <a:t>Les paramètres du modèles sont 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fr-FR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b="0" i="1" smtClean="0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fr-FR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fr-FR" b="0" i="1" smtClean="0"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fr-FR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fr-FR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fr-FR" b="0" i="0" smtClean="0">
                        <a:latin typeface="Cambria Math" panose="02040503050406030204" pitchFamily="18" charset="0"/>
                      </a:rPr>
                      <m:t>, </m:t>
                    </m:r>
                    <m:r>
                      <m:rPr>
                        <m:sty m:val="p"/>
                      </m:rPr>
                      <a:rPr lang="el-G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λ</m:t>
                    </m:r>
                  </m:oMath>
                </a14:m>
                <a:r>
                  <a:rPr lang="fr-FR" dirty="0" smtClean="0"/>
                  <a:t> et </a:t>
                </a:r>
                <a14:m>
                  <m:oMath xmlns:m="http://schemas.openxmlformats.org/officeDocument/2006/math">
                    <m:r>
                      <a:rPr lang="fr-FR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𝜇</m:t>
                    </m:r>
                  </m:oMath>
                </a14:m>
                <a:endParaRPr lang="fr-FR" dirty="0"/>
              </a:p>
            </p:txBody>
          </p:sp>
        </mc:Choice>
        <mc:Fallback xmlns="">
          <p:sp>
            <p:nvSpPr>
              <p:cNvPr id="5" name="ZoneTexte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9552" y="3028890"/>
                <a:ext cx="8280920" cy="400110"/>
              </a:xfrm>
              <a:prstGeom prst="rect">
                <a:avLst/>
              </a:prstGeom>
              <a:blipFill rotWithShape="0">
                <a:blip r:embed="rId5"/>
                <a:stretch>
                  <a:fillRect l="-810" t="-7576" b="-27273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ZoneTexte 5"/>
          <p:cNvSpPr txBox="1"/>
          <p:nvPr/>
        </p:nvSpPr>
        <p:spPr>
          <a:xfrm>
            <a:off x="323528" y="3884622"/>
            <a:ext cx="835292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 smtClean="0"/>
              <a:t>On choisit le MAPE comme critère à minimiser pour estimer le modèle, c’est une fonction dans ce cas à 4 variables</a:t>
            </a:r>
            <a:endParaRPr lang="fr-FR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5" name="ZoneTexte 4"/>
              <p:cNvSpPr txBox="1"/>
              <p:nvPr/>
            </p:nvSpPr>
            <p:spPr>
              <a:xfrm>
                <a:off x="323528" y="364594"/>
                <a:ext cx="835292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fr-FR" dirty="0" smtClean="0"/>
                  <a:t>Initialisation des paramètres 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fr-FR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b="0" i="1" smtClean="0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fr-FR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fr-FR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fr-FR" b="0" i="1" smtClean="0">
                        <a:latin typeface="Cambria Math" panose="02040503050406030204" pitchFamily="18" charset="0"/>
                      </a:rPr>
                      <m:t>𝑥</m:t>
                    </m:r>
                    <m:d>
                      <m:dPr>
                        <m:begChr m:val="["/>
                        <m:endChr m:val="]"/>
                        <m:ctrlPr>
                          <a:rPr lang="fr-FR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fr-FR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  <m:r>
                      <a:rPr lang="fr-FR" b="0" i="1" smtClean="0"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fr-FR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fr-FR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fr-FR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fr-FR" b="0" i="1" smtClean="0">
                        <a:latin typeface="Cambria Math" panose="02040503050406030204" pitchFamily="18" charset="0"/>
                      </a:rPr>
                      <m:t>𝑥</m:t>
                    </m:r>
                    <m:d>
                      <m:dPr>
                        <m:begChr m:val="["/>
                        <m:endChr m:val="]"/>
                        <m:ctrlPr>
                          <a:rPr lang="fr-FR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fr-FR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d>
                    <m:r>
                      <a:rPr lang="fr-FR" b="0" i="0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fr-FR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𝜆</m:t>
                    </m:r>
                    <m:r>
                      <a:rPr lang="fr-F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fr-F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  <m:r>
                      <a:rPr lang="fr-F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[3]</m:t>
                    </m:r>
                  </m:oMath>
                </a14:m>
                <a:r>
                  <a:rPr lang="fr-FR" dirty="0" smtClean="0"/>
                  <a:t> et </a:t>
                </a:r>
                <a14:m>
                  <m:oMath xmlns:m="http://schemas.openxmlformats.org/officeDocument/2006/math">
                    <m:r>
                      <a:rPr lang="fr-FR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𝜇</m:t>
                    </m:r>
                    <m:r>
                      <a:rPr lang="fr-F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fr-F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  <m:r>
                      <a:rPr lang="fr-F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[4]</m:t>
                    </m:r>
                  </m:oMath>
                </a14:m>
                <a:r>
                  <a:rPr lang="fr-FR" dirty="0" smtClean="0"/>
                  <a:t> </a:t>
                </a:r>
                <a:endParaRPr lang="fr-FR" dirty="0"/>
              </a:p>
            </p:txBody>
          </p:sp>
        </mc:Choice>
        <mc:Fallback xmlns="">
          <p:sp>
            <p:nvSpPr>
              <p:cNvPr id="5" name="ZoneTexte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3528" y="364594"/>
                <a:ext cx="8352928" cy="400110"/>
              </a:xfrm>
              <a:prstGeom prst="rect">
                <a:avLst/>
              </a:prstGeom>
              <a:blipFill rotWithShape="0">
                <a:blip r:embed="rId2"/>
                <a:stretch>
                  <a:fillRect l="-730" t="-7692" b="-29231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ZoneTexte 5"/>
              <p:cNvSpPr txBox="1"/>
              <p:nvPr/>
            </p:nvSpPr>
            <p:spPr>
              <a:xfrm>
                <a:off x="467544" y="908720"/>
                <a:ext cx="7488832" cy="193899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fr-FR" dirty="0" smtClean="0"/>
                  <a:t>Mape = 0</a:t>
                </a:r>
              </a:p>
              <a:p>
                <a:r>
                  <a:rPr lang="fr-FR" dirty="0" smtClean="0"/>
                  <a:t>Pour i = 3 à T-h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fr-F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fr-F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fr-F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𝜆</m:t>
                      </m:r>
                      <m:sSub>
                        <m:sSubPr>
                          <m:ctrlPr>
                            <a:rPr lang="fr-F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fr-F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fr-F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d>
                        <m:dPr>
                          <m:ctrlPr>
                            <a:rPr lang="fr-F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fr-F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1−</m:t>
                          </m:r>
                          <m:r>
                            <a:rPr lang="fr-F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𝜆</m:t>
                          </m:r>
                        </m:e>
                      </m:d>
                      <m:d>
                        <m:dPr>
                          <m:ctrlPr>
                            <a:rPr lang="fr-F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fr-FR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fr-FR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fr-FR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−1</m:t>
                              </m:r>
                            </m:sub>
                          </m:sSub>
                          <m:r>
                            <a:rPr lang="fr-F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fr-FR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𝑇</m:t>
                              </m:r>
                            </m:e>
                            <m:sub>
                              <m:r>
                                <a:rPr lang="fr-FR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fr-FR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−1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fr-FR" b="0" dirty="0" smtClean="0">
                  <a:ea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fr-F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fr-F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fr-F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𝜇</m:t>
                      </m:r>
                      <m:d>
                        <m:dPr>
                          <m:ctrlPr>
                            <a:rPr lang="fr-F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fr-FR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fr-FR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fr-F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fr-FR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fr-FR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fr-FR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−1</m:t>
                              </m:r>
                            </m:sub>
                          </m:sSub>
                        </m:e>
                      </m:d>
                      <m:r>
                        <a:rPr lang="fr-F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d>
                        <m:dPr>
                          <m:ctrlPr>
                            <a:rPr lang="fr-F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fr-F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1−</m:t>
                          </m:r>
                          <m:r>
                            <a:rPr lang="fr-F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𝜇</m:t>
                          </m:r>
                        </m:e>
                      </m:d>
                      <m:sSub>
                        <m:sSubPr>
                          <m:ctrlPr>
                            <a:rPr lang="fr-F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fr-F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</m:t>
                          </m:r>
                          <m:r>
                            <a:rPr lang="fr-F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−1</m:t>
                          </m:r>
                        </m:sub>
                      </m:sSub>
                    </m:oMath>
                  </m:oMathPara>
                </a14:m>
                <a:endParaRPr lang="fr-FR" b="0" dirty="0" smtClean="0">
                  <a:ea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𝑀𝑎𝑝𝑒</m:t>
                      </m:r>
                      <m:r>
                        <a:rPr lang="fr-F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fr-F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𝑀𝑎𝑝𝑒</m:t>
                      </m:r>
                      <m:r>
                        <a:rPr lang="fr-F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r>
                        <a:rPr lang="fr-F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𝑎𝑏𝑠</m:t>
                      </m:r>
                      <m:d>
                        <m:dPr>
                          <m:ctrlPr>
                            <a:rPr lang="fr-F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fr-FR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fr-FR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fr-F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fr-FR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fr-FR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fr-FR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−1</m:t>
                              </m:r>
                            </m:sub>
                          </m:sSub>
                          <m:r>
                            <a:rPr lang="fr-F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fr-FR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𝑇</m:t>
                              </m:r>
                            </m:e>
                            <m:sub>
                              <m:r>
                                <a:rPr lang="fr-FR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fr-FR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−1</m:t>
                              </m:r>
                            </m:sub>
                          </m:sSub>
                        </m:e>
                      </m:d>
                      <m:r>
                        <a:rPr lang="fr-F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∗100/</m:t>
                      </m:r>
                      <m:sSub>
                        <m:sSubPr>
                          <m:ctrlPr>
                            <a:rPr lang="fr-F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fr-F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fr-FR" b="0" dirty="0" smtClean="0">
                  <a:ea typeface="Cambria Math" panose="02040503050406030204" pitchFamily="18" charset="0"/>
                </a:endParaRPr>
              </a:p>
              <a:p>
                <a:r>
                  <a:rPr lang="fr-FR" dirty="0" err="1" smtClean="0">
                    <a:ea typeface="Cambria Math" panose="02040503050406030204" pitchFamily="18" charset="0"/>
                  </a:rPr>
                  <a:t>Fin_pour</a:t>
                </a:r>
                <a:endParaRPr lang="fr-FR" b="0" dirty="0" smtClean="0"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6" name="ZoneTexte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7544" y="908720"/>
                <a:ext cx="7488832" cy="1938992"/>
              </a:xfrm>
              <a:prstGeom prst="rect">
                <a:avLst/>
              </a:prstGeom>
              <a:blipFill>
                <a:blip r:embed="rId3"/>
                <a:stretch>
                  <a:fillRect l="-896" t="-1258" b="-5031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ZoneTexte 6"/>
          <p:cNvSpPr txBox="1"/>
          <p:nvPr/>
        </p:nvSpPr>
        <p:spPr>
          <a:xfrm>
            <a:off x="287524" y="3645024"/>
            <a:ext cx="835292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 smtClean="0"/>
              <a:t>Optimisation de la fonction </a:t>
            </a:r>
            <a:r>
              <a:rPr lang="fr-FR" dirty="0" err="1" smtClean="0"/>
              <a:t>Mape</a:t>
            </a:r>
            <a:r>
              <a:rPr lang="fr-FR" dirty="0" smtClean="0"/>
              <a:t> par la procédure </a:t>
            </a:r>
            <a:r>
              <a:rPr lang="fr-FR" dirty="0" err="1" smtClean="0"/>
              <a:t>optim</a:t>
            </a:r>
            <a:endParaRPr lang="fr-FR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ZoneTexte 7"/>
              <p:cNvSpPr txBox="1"/>
              <p:nvPr/>
            </p:nvSpPr>
            <p:spPr>
              <a:xfrm>
                <a:off x="251520" y="4985881"/>
                <a:ext cx="8712968" cy="132343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fr-FR" dirty="0" smtClean="0"/>
                  <a:t>Calcul des prévisions pour </a:t>
                </a:r>
                <a:r>
                  <a:rPr lang="fr-FR" smtClean="0"/>
                  <a:t>les h </a:t>
                </a:r>
                <a:r>
                  <a:rPr lang="fr-FR" dirty="0" smtClean="0"/>
                  <a:t>derniers instants :</a:t>
                </a:r>
              </a:p>
              <a:p>
                <a:r>
                  <a:rPr lang="fr-FR" dirty="0" smtClean="0"/>
                  <a:t>Pour i = 1 à h</a:t>
                </a: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fr-FR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fr-FR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acc>
                        </m:e>
                        <m:sub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fr-FR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sub>
                      </m:sSub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𝑖</m:t>
                      </m:r>
                      <m:sSub>
                        <m:sSubPr>
                          <m:ctrlPr>
                            <a:rPr lang="fr-FR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sub>
                      </m:sSub>
                    </m:oMath>
                  </m:oMathPara>
                </a14:m>
                <a:endParaRPr lang="fr-FR" dirty="0" smtClean="0"/>
              </a:p>
              <a:p>
                <a:r>
                  <a:rPr lang="fr-FR" dirty="0" err="1" smtClean="0"/>
                  <a:t>Fin_pour</a:t>
                </a:r>
                <a:endParaRPr lang="fr-FR" dirty="0"/>
              </a:p>
            </p:txBody>
          </p:sp>
        </mc:Choice>
        <mc:Fallback xmlns="">
          <p:sp>
            <p:nvSpPr>
              <p:cNvPr id="8" name="ZoneTexte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1520" y="4985881"/>
                <a:ext cx="8712968" cy="1323439"/>
              </a:xfrm>
              <a:prstGeom prst="rect">
                <a:avLst/>
              </a:prstGeom>
              <a:blipFill>
                <a:blip r:embed="rId4"/>
                <a:stretch>
                  <a:fillRect l="-699" t="-2304" b="-7834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ZoneTexte 12"/>
              <p:cNvSpPr txBox="1"/>
              <p:nvPr/>
            </p:nvSpPr>
            <p:spPr>
              <a:xfrm>
                <a:off x="323528" y="2996952"/>
                <a:ext cx="4608512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𝑀𝑎𝑝𝑒</m:t>
                      </m:r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𝑀𝑎𝑝𝑒</m:t>
                      </m:r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/</m:t>
                      </m:r>
                      <m:d>
                        <m:dPr>
                          <m:ctrlPr>
                            <a:rPr lang="fr-FR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−2</m:t>
                          </m:r>
                        </m:e>
                      </m:d>
                    </m:oMath>
                  </m:oMathPara>
                </a14:m>
                <a:endParaRPr lang="fr-FR" dirty="0"/>
              </a:p>
            </p:txBody>
          </p:sp>
        </mc:Choice>
        <mc:Fallback xmlns="">
          <p:sp>
            <p:nvSpPr>
              <p:cNvPr id="13" name="ZoneTexte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3528" y="2996952"/>
                <a:ext cx="4608512" cy="400110"/>
              </a:xfrm>
              <a:prstGeom prst="rect">
                <a:avLst/>
              </a:prstGeom>
              <a:blipFill>
                <a:blip r:embed="rId5"/>
                <a:stretch>
                  <a:fillRect b="-18462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ZoneTexte 8"/>
          <p:cNvSpPr txBox="1"/>
          <p:nvPr/>
        </p:nvSpPr>
        <p:spPr>
          <a:xfrm>
            <a:off x="323528" y="4293096"/>
            <a:ext cx="8208912" cy="400110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fr-FR" dirty="0" smtClean="0"/>
              <a:t>Calcul du modèle sur l’horizon d’ajustement : 1,…, T-h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7139254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Text Box 2"/>
          <p:cNvSpPr txBox="1">
            <a:spLocks noChangeArrowheads="1"/>
          </p:cNvSpPr>
          <p:nvPr/>
        </p:nvSpPr>
        <p:spPr bwMode="auto">
          <a:xfrm>
            <a:off x="250825" y="368300"/>
            <a:ext cx="7920038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fr-FR" altLang="fr-FR" sz="2000" b="1"/>
              <a:t>Le lissage de Holt-Winters </a:t>
            </a:r>
            <a:r>
              <a:rPr lang="fr-FR" altLang="fr-FR" sz="2000"/>
              <a:t>(séries saisonnière)</a:t>
            </a:r>
            <a:endParaRPr lang="fr-FR" altLang="fr-FR" sz="2000" b="1"/>
          </a:p>
        </p:txBody>
      </p:sp>
      <p:sp>
        <p:nvSpPr>
          <p:cNvPr id="20483" name="Text Box 3"/>
          <p:cNvSpPr txBox="1">
            <a:spLocks noChangeArrowheads="1"/>
          </p:cNvSpPr>
          <p:nvPr/>
        </p:nvSpPr>
        <p:spPr bwMode="auto">
          <a:xfrm>
            <a:off x="323850" y="1052513"/>
            <a:ext cx="8280400" cy="701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fr-FR" altLang="fr-FR" sz="2000"/>
              <a:t>C’est une généralisation de la méthode de Holt, où la tendance est supposée localement linéaire.</a:t>
            </a:r>
          </a:p>
        </p:txBody>
      </p:sp>
      <p:sp>
        <p:nvSpPr>
          <p:cNvPr id="20484" name="Text Box 4"/>
          <p:cNvSpPr txBox="1">
            <a:spLocks noChangeArrowheads="1"/>
          </p:cNvSpPr>
          <p:nvPr/>
        </p:nvSpPr>
        <p:spPr bwMode="auto">
          <a:xfrm>
            <a:off x="395288" y="1935163"/>
            <a:ext cx="8424862" cy="701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fr-FR" altLang="fr-FR" sz="2000"/>
              <a:t>La composante saisonnière I</a:t>
            </a:r>
            <a:r>
              <a:rPr lang="fr-FR" altLang="fr-FR" sz="2000" baseline="-25000"/>
              <a:t>t</a:t>
            </a:r>
            <a:r>
              <a:rPr lang="fr-FR" altLang="fr-FR" sz="2000"/>
              <a:t>, de période s (s = 4 ou 12) est introduite au modèle, d’une manière multiplicative ou additive</a:t>
            </a:r>
          </a:p>
        </p:txBody>
      </p:sp>
      <p:sp>
        <p:nvSpPr>
          <p:cNvPr id="20485" name="Text Box 5"/>
          <p:cNvSpPr txBox="1">
            <a:spLocks noChangeArrowheads="1"/>
          </p:cNvSpPr>
          <p:nvPr/>
        </p:nvSpPr>
        <p:spPr bwMode="auto">
          <a:xfrm>
            <a:off x="395288" y="2997200"/>
            <a:ext cx="8353425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fr-FR" altLang="fr-FR" sz="2000"/>
              <a:t>Les paramètres du modèle sont : </a:t>
            </a:r>
          </a:p>
        </p:txBody>
      </p:sp>
      <p:sp>
        <p:nvSpPr>
          <p:cNvPr id="20486" name="Text Box 6"/>
          <p:cNvSpPr txBox="1">
            <a:spLocks noChangeArrowheads="1"/>
          </p:cNvSpPr>
          <p:nvPr/>
        </p:nvSpPr>
        <p:spPr bwMode="auto">
          <a:xfrm>
            <a:off x="1331913" y="3789363"/>
            <a:ext cx="6335712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fr-FR" altLang="fr-FR" sz="2000"/>
              <a:t>S</a:t>
            </a:r>
            <a:r>
              <a:rPr lang="fr-FR" altLang="fr-FR" sz="2000" baseline="-25000"/>
              <a:t>t</a:t>
            </a:r>
            <a:r>
              <a:rPr lang="fr-FR" altLang="fr-FR" sz="2000"/>
              <a:t> : Le niveau</a:t>
            </a:r>
          </a:p>
        </p:txBody>
      </p:sp>
      <p:sp>
        <p:nvSpPr>
          <p:cNvPr id="20487" name="Text Box 7"/>
          <p:cNvSpPr txBox="1">
            <a:spLocks noChangeArrowheads="1"/>
          </p:cNvSpPr>
          <p:nvPr/>
        </p:nvSpPr>
        <p:spPr bwMode="auto">
          <a:xfrm>
            <a:off x="1331913" y="4365625"/>
            <a:ext cx="6335712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fr-FR" altLang="fr-FR" sz="2000"/>
              <a:t>T</a:t>
            </a:r>
            <a:r>
              <a:rPr lang="fr-FR" altLang="fr-FR" sz="2000" baseline="-25000"/>
              <a:t>t</a:t>
            </a:r>
            <a:r>
              <a:rPr lang="fr-FR" altLang="fr-FR" sz="2000"/>
              <a:t> : La pente</a:t>
            </a:r>
          </a:p>
        </p:txBody>
      </p:sp>
      <p:sp>
        <p:nvSpPr>
          <p:cNvPr id="20488" name="Text Box 8"/>
          <p:cNvSpPr txBox="1">
            <a:spLocks noChangeArrowheads="1"/>
          </p:cNvSpPr>
          <p:nvPr/>
        </p:nvSpPr>
        <p:spPr bwMode="auto">
          <a:xfrm>
            <a:off x="1331913" y="4868863"/>
            <a:ext cx="6335712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fr-FR" altLang="fr-FR" sz="2000"/>
              <a:t>I</a:t>
            </a:r>
            <a:r>
              <a:rPr lang="fr-FR" altLang="fr-FR" sz="2000" baseline="-25000"/>
              <a:t>t</a:t>
            </a:r>
            <a:r>
              <a:rPr lang="fr-FR" altLang="fr-FR" sz="2000"/>
              <a:t> : La composante saisonnière</a:t>
            </a:r>
          </a:p>
        </p:txBody>
      </p:sp>
      <p:sp>
        <p:nvSpPr>
          <p:cNvPr id="20489" name="Text Box 9"/>
          <p:cNvSpPr txBox="1">
            <a:spLocks noChangeArrowheads="1"/>
          </p:cNvSpPr>
          <p:nvPr/>
        </p:nvSpPr>
        <p:spPr bwMode="auto">
          <a:xfrm>
            <a:off x="1331913" y="5516563"/>
            <a:ext cx="7056437" cy="8540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fr-FR" altLang="fr-FR" sz="2000" dirty="0"/>
              <a:t>s : La période de la composante saisonnière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fr-FR" altLang="fr-FR" sz="2000" dirty="0"/>
              <a:t>    (s = 12 données mensuelles, s = 4 données </a:t>
            </a:r>
            <a:r>
              <a:rPr lang="fr-FR" altLang="fr-FR" sz="2000" dirty="0" smtClean="0"/>
              <a:t>trimestrielles)</a:t>
            </a:r>
            <a:endParaRPr lang="fr-FR" altLang="fr-FR" sz="20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Text Box 4"/>
          <p:cNvSpPr txBox="1">
            <a:spLocks noChangeArrowheads="1"/>
          </p:cNvSpPr>
          <p:nvPr/>
        </p:nvSpPr>
        <p:spPr bwMode="auto">
          <a:xfrm>
            <a:off x="395288" y="476250"/>
            <a:ext cx="7993062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fr-FR" altLang="fr-FR" sz="2000"/>
              <a:t>Les équations de mise à jour du </a:t>
            </a:r>
            <a:r>
              <a:rPr lang="fr-FR" altLang="fr-FR" sz="2000" b="1"/>
              <a:t>modèle additif</a:t>
            </a:r>
            <a:r>
              <a:rPr lang="fr-FR" altLang="fr-FR" sz="2000"/>
              <a:t> :</a:t>
            </a:r>
          </a:p>
        </p:txBody>
      </p:sp>
      <p:sp>
        <p:nvSpPr>
          <p:cNvPr id="21507" name="Text Box 5"/>
          <p:cNvSpPr txBox="1">
            <a:spLocks noChangeArrowheads="1"/>
          </p:cNvSpPr>
          <p:nvPr/>
        </p:nvSpPr>
        <p:spPr bwMode="auto">
          <a:xfrm>
            <a:off x="755650" y="1196975"/>
            <a:ext cx="78486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fr-FR" altLang="fr-FR" sz="2000"/>
              <a:t>S</a:t>
            </a:r>
            <a:r>
              <a:rPr lang="fr-FR" altLang="fr-FR" sz="2000" baseline="-25000"/>
              <a:t>t</a:t>
            </a:r>
            <a:r>
              <a:rPr lang="fr-FR" altLang="fr-FR" sz="2000"/>
              <a:t> = </a:t>
            </a:r>
            <a:r>
              <a:rPr lang="el-GR" altLang="fr-FR" sz="2000"/>
              <a:t>α</a:t>
            </a:r>
            <a:r>
              <a:rPr lang="fr-FR" altLang="fr-FR" sz="2000"/>
              <a:t>( y</a:t>
            </a:r>
            <a:r>
              <a:rPr lang="fr-FR" altLang="fr-FR" sz="2000" baseline="-25000"/>
              <a:t>t</a:t>
            </a:r>
            <a:r>
              <a:rPr lang="fr-FR" altLang="fr-FR" sz="2000"/>
              <a:t> – I</a:t>
            </a:r>
            <a:r>
              <a:rPr lang="fr-FR" altLang="fr-FR" sz="2000" baseline="-25000"/>
              <a:t>t-s</a:t>
            </a:r>
            <a:r>
              <a:rPr lang="fr-FR" altLang="fr-FR" sz="2000"/>
              <a:t>) + (1 – </a:t>
            </a:r>
            <a:r>
              <a:rPr lang="el-GR" altLang="fr-FR" sz="2000"/>
              <a:t>α</a:t>
            </a:r>
            <a:r>
              <a:rPr lang="fr-FR" altLang="fr-FR" sz="2000"/>
              <a:t>)(S</a:t>
            </a:r>
            <a:r>
              <a:rPr lang="fr-FR" altLang="fr-FR" sz="2000" baseline="-25000"/>
              <a:t>t-1</a:t>
            </a:r>
            <a:r>
              <a:rPr lang="fr-FR" altLang="fr-FR" sz="2000"/>
              <a:t> + T</a:t>
            </a:r>
            <a:r>
              <a:rPr lang="fr-FR" altLang="fr-FR" sz="2000" baseline="-25000"/>
              <a:t>t-1</a:t>
            </a:r>
            <a:r>
              <a:rPr lang="fr-FR" altLang="fr-FR" sz="2000"/>
              <a:t>)</a:t>
            </a:r>
            <a:endParaRPr lang="el-GR" altLang="fr-FR" sz="2000"/>
          </a:p>
        </p:txBody>
      </p:sp>
      <p:sp>
        <p:nvSpPr>
          <p:cNvPr id="21508" name="Text Box 6"/>
          <p:cNvSpPr txBox="1">
            <a:spLocks noChangeArrowheads="1"/>
          </p:cNvSpPr>
          <p:nvPr/>
        </p:nvSpPr>
        <p:spPr bwMode="auto">
          <a:xfrm>
            <a:off x="755650" y="1879600"/>
            <a:ext cx="78486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fr-FR" altLang="fr-FR" sz="2000"/>
              <a:t>T</a:t>
            </a:r>
            <a:r>
              <a:rPr lang="fr-FR" altLang="fr-FR" sz="2000" baseline="-25000"/>
              <a:t>t</a:t>
            </a:r>
            <a:r>
              <a:rPr lang="fr-FR" altLang="fr-FR" sz="2000"/>
              <a:t> = </a:t>
            </a:r>
            <a:r>
              <a:rPr lang="el-GR" altLang="fr-FR" sz="2000"/>
              <a:t>γ</a:t>
            </a:r>
            <a:r>
              <a:rPr lang="fr-FR" altLang="fr-FR" sz="2000"/>
              <a:t>( S</a:t>
            </a:r>
            <a:r>
              <a:rPr lang="fr-FR" altLang="fr-FR" sz="2000" baseline="-25000"/>
              <a:t>t</a:t>
            </a:r>
            <a:r>
              <a:rPr lang="fr-FR" altLang="fr-FR" sz="2000"/>
              <a:t> – S</a:t>
            </a:r>
            <a:r>
              <a:rPr lang="fr-FR" altLang="fr-FR" sz="2000" baseline="-25000"/>
              <a:t>t-1</a:t>
            </a:r>
            <a:r>
              <a:rPr lang="fr-FR" altLang="fr-FR" sz="2000"/>
              <a:t>) + (1 – </a:t>
            </a:r>
            <a:r>
              <a:rPr lang="el-GR" altLang="fr-FR" sz="2000"/>
              <a:t>γ</a:t>
            </a:r>
            <a:r>
              <a:rPr lang="fr-FR" altLang="fr-FR" sz="2000"/>
              <a:t>)T</a:t>
            </a:r>
            <a:r>
              <a:rPr lang="fr-FR" altLang="fr-FR" sz="2000" baseline="-25000"/>
              <a:t>t-1</a:t>
            </a:r>
            <a:endParaRPr lang="el-GR" altLang="fr-FR" sz="2000"/>
          </a:p>
        </p:txBody>
      </p:sp>
      <p:sp>
        <p:nvSpPr>
          <p:cNvPr id="21509" name="Text Box 7"/>
          <p:cNvSpPr txBox="1">
            <a:spLocks noChangeArrowheads="1"/>
          </p:cNvSpPr>
          <p:nvPr/>
        </p:nvSpPr>
        <p:spPr bwMode="auto">
          <a:xfrm>
            <a:off x="755650" y="2527300"/>
            <a:ext cx="78486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fr-FR" altLang="fr-FR" sz="2000"/>
              <a:t>I</a:t>
            </a:r>
            <a:r>
              <a:rPr lang="fr-FR" altLang="fr-FR" sz="2000" baseline="-25000"/>
              <a:t>t</a:t>
            </a:r>
            <a:r>
              <a:rPr lang="fr-FR" altLang="fr-FR" sz="2000"/>
              <a:t> = </a:t>
            </a:r>
            <a:r>
              <a:rPr lang="el-GR" altLang="fr-FR" sz="2000"/>
              <a:t>δ</a:t>
            </a:r>
            <a:r>
              <a:rPr lang="fr-FR" altLang="fr-FR" sz="2000"/>
              <a:t>( y</a:t>
            </a:r>
            <a:r>
              <a:rPr lang="fr-FR" altLang="fr-FR" sz="2000" baseline="-25000"/>
              <a:t>t</a:t>
            </a:r>
            <a:r>
              <a:rPr lang="fr-FR" altLang="fr-FR" sz="2000"/>
              <a:t> – S</a:t>
            </a:r>
            <a:r>
              <a:rPr lang="fr-FR" altLang="fr-FR" sz="2000" baseline="-25000"/>
              <a:t>t</a:t>
            </a:r>
            <a:r>
              <a:rPr lang="fr-FR" altLang="fr-FR" sz="2000"/>
              <a:t>) + (1 – </a:t>
            </a:r>
            <a:r>
              <a:rPr lang="el-GR" altLang="fr-FR" sz="2000"/>
              <a:t>δ</a:t>
            </a:r>
            <a:r>
              <a:rPr lang="fr-FR" altLang="fr-FR" sz="2000"/>
              <a:t>)I</a:t>
            </a:r>
            <a:r>
              <a:rPr lang="fr-FR" altLang="fr-FR" sz="2000" baseline="-25000"/>
              <a:t>t-s</a:t>
            </a:r>
            <a:endParaRPr lang="el-GR" altLang="fr-FR" sz="2000"/>
          </a:p>
        </p:txBody>
      </p:sp>
      <p:sp>
        <p:nvSpPr>
          <p:cNvPr id="21510" name="Text Box 8"/>
          <p:cNvSpPr txBox="1">
            <a:spLocks noChangeArrowheads="1"/>
          </p:cNvSpPr>
          <p:nvPr/>
        </p:nvSpPr>
        <p:spPr bwMode="auto">
          <a:xfrm>
            <a:off x="250825" y="4040188"/>
            <a:ext cx="5400675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fr-FR" altLang="fr-FR" sz="2000"/>
              <a:t>La prévision à la date T, pour l’horizon h est : </a:t>
            </a:r>
          </a:p>
        </p:txBody>
      </p:sp>
      <p:graphicFrame>
        <p:nvGraphicFramePr>
          <p:cNvPr id="21511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30744876"/>
              </p:ext>
            </p:extLst>
          </p:nvPr>
        </p:nvGraphicFramePr>
        <p:xfrm>
          <a:off x="5629275" y="3989388"/>
          <a:ext cx="3363913" cy="571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734" name="Équation" r:id="rId3" imgW="1422360" imgH="241200" progId="Equation.3">
                  <p:embed/>
                </p:oleObj>
              </mc:Choice>
              <mc:Fallback>
                <p:oleObj name="Équation" r:id="rId3" imgW="1422360" imgH="241200" progId="Equation.3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29275" y="3989388"/>
                        <a:ext cx="3363913" cy="571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21512" name="Text Box 10"/>
              <p:cNvSpPr txBox="1">
                <a:spLocks noChangeArrowheads="1"/>
              </p:cNvSpPr>
              <p:nvPr/>
            </p:nvSpPr>
            <p:spPr bwMode="auto">
              <a:xfrm>
                <a:off x="323850" y="4760913"/>
                <a:ext cx="8424614" cy="40857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square">
                <a:spAutoFit/>
              </a:bodyPr>
              <a:lstStyle>
                <a:lvl1pPr eaLnBrk="0" hangingPunct="0"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r>
                  <a:rPr lang="fr-FR" altLang="fr-FR" sz="2000" dirty="0" smtClean="0"/>
                  <a:t>On utilise la périodicité de la composante saisonnière pour estimer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fr-FR" altLang="fr-FR" sz="20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fr-FR" altLang="fr-FR" sz="200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fr-FR" altLang="fr-FR" sz="2000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</m:acc>
                      </m:e>
                      <m:sub>
                        <m:r>
                          <a:rPr lang="fr-FR" altLang="fr-FR" sz="2000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  <m:r>
                          <a:rPr lang="fr-FR" altLang="fr-FR" sz="2000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fr-FR" altLang="fr-FR" sz="2000" b="0" i="1" smtClean="0">
                            <a:latin typeface="Cambria Math" panose="02040503050406030204" pitchFamily="18" charset="0"/>
                          </a:rPr>
                          <m:t>h</m:t>
                        </m:r>
                      </m:sub>
                    </m:sSub>
                  </m:oMath>
                </a14:m>
                <a:r>
                  <a:rPr lang="fr-FR" altLang="fr-FR" sz="2000" dirty="0" smtClean="0"/>
                  <a:t> </a:t>
                </a:r>
                <a:r>
                  <a:rPr lang="fr-FR" altLang="fr-FR" sz="2000" dirty="0"/>
                  <a:t>:</a:t>
                </a:r>
              </a:p>
            </p:txBody>
          </p:sp>
        </mc:Choice>
        <mc:Fallback xmlns="">
          <p:sp>
            <p:nvSpPr>
              <p:cNvPr id="21512" name="Text Box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23850" y="4760913"/>
                <a:ext cx="8424614" cy="408573"/>
              </a:xfrm>
              <a:prstGeom prst="rect">
                <a:avLst/>
              </a:prstGeom>
              <a:blipFill rotWithShape="0">
                <a:blip r:embed="rId5"/>
                <a:stretch>
                  <a:fillRect l="-724" t="-5970" b="-26866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513" name="Text Box 11"/>
              <p:cNvSpPr txBox="1">
                <a:spLocks noChangeArrowheads="1"/>
              </p:cNvSpPr>
              <p:nvPr/>
            </p:nvSpPr>
            <p:spPr bwMode="auto">
              <a:xfrm>
                <a:off x="611188" y="5337175"/>
                <a:ext cx="7489825" cy="40857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fr-FR" altLang="fr-FR" sz="20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fr-FR" altLang="fr-FR" sz="2000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fr-FR" altLang="fr-FR" sz="2000" i="1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</m:acc>
                      </m:e>
                      <m:sub>
                        <m:r>
                          <a:rPr lang="fr-FR" altLang="fr-FR" sz="2000" i="1">
                            <a:latin typeface="Cambria Math" panose="02040503050406030204" pitchFamily="18" charset="0"/>
                          </a:rPr>
                          <m:t>𝑇</m:t>
                        </m:r>
                        <m:r>
                          <a:rPr lang="fr-FR" altLang="fr-FR" sz="2000" i="1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fr-FR" altLang="fr-FR" sz="2000" i="1">
                            <a:latin typeface="Cambria Math" panose="02040503050406030204" pitchFamily="18" charset="0"/>
                          </a:rPr>
                          <m:t>h</m:t>
                        </m:r>
                      </m:sub>
                    </m:sSub>
                  </m:oMath>
                </a14:m>
                <a:r>
                  <a:rPr lang="fr-FR" altLang="fr-FR" sz="2000" dirty="0"/>
                  <a:t> = </a:t>
                </a:r>
                <a:r>
                  <a:rPr lang="fr-FR" altLang="fr-FR" sz="2000" dirty="0" err="1" smtClean="0"/>
                  <a:t>I</a:t>
                </a:r>
                <a:r>
                  <a:rPr lang="fr-FR" altLang="fr-FR" sz="2000" baseline="-25000" dirty="0" err="1" smtClean="0"/>
                  <a:t>T+h-s</a:t>
                </a:r>
                <a:r>
                  <a:rPr lang="fr-FR" altLang="fr-FR" sz="2000" dirty="0" smtClean="0"/>
                  <a:t> </a:t>
                </a:r>
                <a:r>
                  <a:rPr lang="fr-FR" altLang="fr-FR" sz="2000" dirty="0"/>
                  <a:t>si 0 &lt; h ≤ s</a:t>
                </a:r>
                <a:endParaRPr lang="fr-FR" altLang="fr-FR" sz="2000" baseline="-25000" dirty="0"/>
              </a:p>
            </p:txBody>
          </p:sp>
        </mc:Choice>
        <mc:Fallback xmlns="">
          <p:sp>
            <p:nvSpPr>
              <p:cNvPr id="21513" name="Text Box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11188" y="5337175"/>
                <a:ext cx="7489825" cy="408573"/>
              </a:xfrm>
              <a:prstGeom prst="rect">
                <a:avLst/>
              </a:prstGeom>
              <a:blipFill rotWithShape="0">
                <a:blip r:embed="rId6"/>
                <a:stretch>
                  <a:fillRect t="-5970" b="-26866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514" name="Text Box 12"/>
              <p:cNvSpPr txBox="1">
                <a:spLocks noChangeArrowheads="1"/>
              </p:cNvSpPr>
              <p:nvPr/>
            </p:nvSpPr>
            <p:spPr bwMode="auto">
              <a:xfrm>
                <a:off x="611188" y="5805488"/>
                <a:ext cx="7489825" cy="40857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fr-FR" altLang="fr-FR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fr-FR" altLang="fr-FR" sz="2000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fr-FR" altLang="fr-FR" sz="2000" i="1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</m:acc>
                      </m:e>
                      <m:sub>
                        <m:r>
                          <a:rPr lang="fr-FR" altLang="fr-FR" sz="2000" i="1">
                            <a:latin typeface="Cambria Math" panose="02040503050406030204" pitchFamily="18" charset="0"/>
                          </a:rPr>
                          <m:t>𝑇</m:t>
                        </m:r>
                        <m:r>
                          <a:rPr lang="fr-FR" altLang="fr-FR" sz="2000" i="1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fr-FR" altLang="fr-FR" sz="2000" i="1">
                            <a:latin typeface="Cambria Math" panose="02040503050406030204" pitchFamily="18" charset="0"/>
                          </a:rPr>
                          <m:t>h</m:t>
                        </m:r>
                      </m:sub>
                    </m:sSub>
                  </m:oMath>
                </a14:m>
                <a:r>
                  <a:rPr lang="fr-FR" altLang="fr-FR" sz="2000" dirty="0"/>
                  <a:t> = I</a:t>
                </a:r>
                <a:r>
                  <a:rPr lang="fr-FR" altLang="fr-FR" sz="2000" baseline="-25000" dirty="0"/>
                  <a:t>T+h-2s</a:t>
                </a:r>
                <a:r>
                  <a:rPr lang="fr-FR" altLang="fr-FR" sz="2000" dirty="0"/>
                  <a:t> si s &lt; h ≤ 2s, et ainsi de suite …</a:t>
                </a:r>
                <a:endParaRPr lang="fr-FR" altLang="fr-FR" sz="2000" baseline="-25000" dirty="0"/>
              </a:p>
            </p:txBody>
          </p:sp>
        </mc:Choice>
        <mc:Fallback xmlns="">
          <p:sp>
            <p:nvSpPr>
              <p:cNvPr id="21514" name="Text Box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11188" y="5805488"/>
                <a:ext cx="7489825" cy="408573"/>
              </a:xfrm>
              <a:prstGeom prst="rect">
                <a:avLst/>
              </a:prstGeom>
              <a:blipFill rotWithShape="0">
                <a:blip r:embed="rId7"/>
                <a:stretch>
                  <a:fillRect t="-4478" b="-26866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1515" name="Text Box 13"/>
          <p:cNvSpPr txBox="1">
            <a:spLocks noChangeArrowheads="1"/>
          </p:cNvSpPr>
          <p:nvPr/>
        </p:nvSpPr>
        <p:spPr bwMode="auto">
          <a:xfrm>
            <a:off x="395288" y="3429000"/>
            <a:ext cx="8208962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fr-FR" altLang="fr-FR" sz="2000"/>
              <a:t>Les paramètres </a:t>
            </a:r>
            <a:r>
              <a:rPr lang="el-GR" altLang="fr-FR" sz="2000"/>
              <a:t>α</a:t>
            </a:r>
            <a:r>
              <a:rPr lang="fr-FR" altLang="fr-FR" sz="2000"/>
              <a:t>, </a:t>
            </a:r>
            <a:r>
              <a:rPr lang="el-GR" altLang="fr-FR" sz="2000"/>
              <a:t>γ</a:t>
            </a:r>
            <a:r>
              <a:rPr lang="fr-FR" altLang="fr-FR" sz="2000"/>
              <a:t> et </a:t>
            </a:r>
            <a:r>
              <a:rPr lang="el-GR" altLang="fr-FR" sz="2000"/>
              <a:t>δ</a:t>
            </a:r>
            <a:r>
              <a:rPr lang="fr-FR" altLang="fr-FR" sz="2000"/>
              <a:t> sont compris entre 0 et 1.</a:t>
            </a:r>
            <a:endParaRPr lang="el-GR" altLang="fr-FR" sz="200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Text Box 2"/>
          <p:cNvSpPr txBox="1">
            <a:spLocks noChangeArrowheads="1"/>
          </p:cNvSpPr>
          <p:nvPr/>
        </p:nvSpPr>
        <p:spPr bwMode="auto">
          <a:xfrm>
            <a:off x="250825" y="333375"/>
            <a:ext cx="8569325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fr-FR" altLang="fr-FR" sz="2000" b="1"/>
              <a:t>Calcul des valeurs initiales</a:t>
            </a:r>
          </a:p>
        </p:txBody>
      </p:sp>
      <p:sp>
        <p:nvSpPr>
          <p:cNvPr id="22531" name="Text Box 3"/>
          <p:cNvSpPr txBox="1">
            <a:spLocks noChangeArrowheads="1"/>
          </p:cNvSpPr>
          <p:nvPr/>
        </p:nvSpPr>
        <p:spPr bwMode="auto">
          <a:xfrm>
            <a:off x="468313" y="981075"/>
            <a:ext cx="8280400" cy="701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fr-FR" altLang="fr-FR" sz="2000"/>
              <a:t>Les valeurs initiales des composantes </a:t>
            </a:r>
            <a:r>
              <a:rPr lang="fr-FR" altLang="fr-FR" sz="2000" smtClean="0"/>
              <a:t>saisonnières </a:t>
            </a:r>
            <a:r>
              <a:rPr lang="fr-FR" altLang="fr-FR" sz="2000"/>
              <a:t>sont </a:t>
            </a:r>
            <a:r>
              <a:rPr lang="fr-FR" altLang="fr-FR" sz="2000" smtClean="0"/>
              <a:t>obtenues </a:t>
            </a:r>
            <a:r>
              <a:rPr lang="fr-FR" altLang="fr-FR" sz="2000"/>
              <a:t>par la méthode de décomposition saisonnière</a:t>
            </a:r>
          </a:p>
        </p:txBody>
      </p:sp>
      <p:graphicFrame>
        <p:nvGraphicFramePr>
          <p:cNvPr id="22532" name="Object 4"/>
          <p:cNvGraphicFramePr>
            <a:graphicFrameLocks noChangeAspect="1"/>
          </p:cNvGraphicFramePr>
          <p:nvPr/>
        </p:nvGraphicFramePr>
        <p:xfrm>
          <a:off x="539750" y="1916113"/>
          <a:ext cx="5872163" cy="6238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755" name="Équation" r:id="rId3" imgW="3822700" imgH="406400" progId="Equation.3">
                  <p:embed/>
                </p:oleObj>
              </mc:Choice>
              <mc:Fallback>
                <p:oleObj name="Équation" r:id="rId3" imgW="3822700" imgH="40640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9750" y="1916113"/>
                        <a:ext cx="5872163" cy="6238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2533" name="Text Box 5"/>
          <p:cNvSpPr txBox="1">
            <a:spLocks noChangeArrowheads="1"/>
          </p:cNvSpPr>
          <p:nvPr/>
        </p:nvSpPr>
        <p:spPr bwMode="auto">
          <a:xfrm>
            <a:off x="395288" y="2781300"/>
            <a:ext cx="8497887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fr-FR" altLang="fr-FR" sz="2000"/>
              <a:t>Autre façon de calculer les valeurs initiales, pour une série trimestrielle :</a:t>
            </a:r>
          </a:p>
        </p:txBody>
      </p:sp>
      <p:sp>
        <p:nvSpPr>
          <p:cNvPr id="22534" name="Text Box 6"/>
          <p:cNvSpPr txBox="1">
            <a:spLocks noChangeArrowheads="1"/>
          </p:cNvSpPr>
          <p:nvPr/>
        </p:nvSpPr>
        <p:spPr bwMode="auto">
          <a:xfrm>
            <a:off x="539750" y="3573463"/>
            <a:ext cx="7993063" cy="701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fr-FR" altLang="fr-FR" sz="2000"/>
              <a:t>Les niveaux des derniers trimestres de la 1</a:t>
            </a:r>
            <a:r>
              <a:rPr lang="fr-FR" altLang="fr-FR" sz="2000" baseline="30000"/>
              <a:t>ère</a:t>
            </a:r>
            <a:r>
              <a:rPr lang="fr-FR" altLang="fr-FR" sz="2000"/>
              <a:t> année sont calculés en utilisant les MMC(4)</a:t>
            </a:r>
          </a:p>
        </p:txBody>
      </p:sp>
      <p:sp>
        <p:nvSpPr>
          <p:cNvPr id="22535" name="Text Box 7"/>
          <p:cNvSpPr txBox="1">
            <a:spLocks noChangeArrowheads="1"/>
          </p:cNvSpPr>
          <p:nvPr/>
        </p:nvSpPr>
        <p:spPr bwMode="auto">
          <a:xfrm>
            <a:off x="755650" y="4471988"/>
            <a:ext cx="80645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fr-FR" altLang="fr-FR" sz="2000"/>
              <a:t>T</a:t>
            </a:r>
            <a:r>
              <a:rPr lang="fr-FR" altLang="fr-FR" sz="2000" baseline="-25000"/>
              <a:t>4</a:t>
            </a:r>
            <a:r>
              <a:rPr lang="fr-FR" altLang="fr-FR" sz="2000"/>
              <a:t> = S</a:t>
            </a:r>
            <a:r>
              <a:rPr lang="fr-FR" altLang="fr-FR" sz="2000" baseline="-25000"/>
              <a:t>4</a:t>
            </a:r>
            <a:r>
              <a:rPr lang="fr-FR" altLang="fr-FR" sz="2000"/>
              <a:t> – S</a:t>
            </a:r>
            <a:r>
              <a:rPr lang="fr-FR" altLang="fr-FR" sz="2000" baseline="-25000"/>
              <a:t>3</a:t>
            </a:r>
            <a:endParaRPr lang="fr-FR" altLang="fr-FR" sz="2000"/>
          </a:p>
        </p:txBody>
      </p:sp>
      <p:sp>
        <p:nvSpPr>
          <p:cNvPr id="22536" name="Text Box 8"/>
          <p:cNvSpPr txBox="1">
            <a:spLocks noChangeArrowheads="1"/>
          </p:cNvSpPr>
          <p:nvPr/>
        </p:nvSpPr>
        <p:spPr bwMode="auto">
          <a:xfrm>
            <a:off x="828675" y="5048250"/>
            <a:ext cx="80645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fr-FR" altLang="fr-FR" sz="2000"/>
              <a:t>I</a:t>
            </a:r>
            <a:r>
              <a:rPr lang="fr-FR" altLang="fr-FR" sz="2000" baseline="-25000"/>
              <a:t>4</a:t>
            </a:r>
            <a:r>
              <a:rPr lang="fr-FR" altLang="fr-FR" sz="2000"/>
              <a:t> = y</a:t>
            </a:r>
            <a:r>
              <a:rPr lang="fr-FR" altLang="fr-FR" sz="2000" baseline="-25000"/>
              <a:t>4</a:t>
            </a:r>
            <a:r>
              <a:rPr lang="fr-FR" altLang="fr-FR" sz="2000"/>
              <a:t> – S</a:t>
            </a:r>
            <a:r>
              <a:rPr lang="fr-FR" altLang="fr-FR" sz="2000" baseline="-25000"/>
              <a:t>4</a:t>
            </a:r>
            <a:r>
              <a:rPr lang="fr-FR" altLang="fr-FR" sz="2000"/>
              <a:t>, I</a:t>
            </a:r>
            <a:r>
              <a:rPr lang="fr-FR" altLang="fr-FR" sz="2000" baseline="-25000"/>
              <a:t>3</a:t>
            </a:r>
            <a:r>
              <a:rPr lang="fr-FR" altLang="fr-FR" sz="2000"/>
              <a:t> = y</a:t>
            </a:r>
            <a:r>
              <a:rPr lang="fr-FR" altLang="fr-FR" sz="2000" baseline="-25000"/>
              <a:t>3</a:t>
            </a:r>
            <a:r>
              <a:rPr lang="fr-FR" altLang="fr-FR" sz="2000"/>
              <a:t> – S</a:t>
            </a:r>
            <a:r>
              <a:rPr lang="fr-FR" altLang="fr-FR" sz="2000" baseline="-25000"/>
              <a:t>3</a:t>
            </a:r>
            <a:r>
              <a:rPr lang="fr-FR" altLang="fr-FR" sz="2000"/>
              <a:t>, I</a:t>
            </a:r>
            <a:r>
              <a:rPr lang="fr-FR" altLang="fr-FR" sz="2000" baseline="-25000"/>
              <a:t>2</a:t>
            </a:r>
            <a:r>
              <a:rPr lang="fr-FR" altLang="fr-FR" sz="2000"/>
              <a:t> = y</a:t>
            </a:r>
            <a:r>
              <a:rPr lang="fr-FR" altLang="fr-FR" sz="2000" baseline="-25000"/>
              <a:t>2</a:t>
            </a:r>
            <a:r>
              <a:rPr lang="fr-FR" altLang="fr-FR" sz="2000"/>
              <a:t> – (S</a:t>
            </a:r>
            <a:r>
              <a:rPr lang="fr-FR" altLang="fr-FR" sz="2000" baseline="-25000"/>
              <a:t>3</a:t>
            </a:r>
            <a:r>
              <a:rPr lang="fr-FR" altLang="fr-FR" sz="2000"/>
              <a:t> – T</a:t>
            </a:r>
            <a:r>
              <a:rPr lang="fr-FR" altLang="fr-FR" sz="2000" baseline="-25000"/>
              <a:t>4</a:t>
            </a:r>
            <a:r>
              <a:rPr lang="fr-FR" altLang="fr-FR" sz="2000"/>
              <a:t>), I</a:t>
            </a:r>
            <a:r>
              <a:rPr lang="fr-FR" altLang="fr-FR" sz="2000" baseline="-25000"/>
              <a:t>1</a:t>
            </a:r>
            <a:r>
              <a:rPr lang="fr-FR" altLang="fr-FR" sz="2000"/>
              <a:t> = y</a:t>
            </a:r>
            <a:r>
              <a:rPr lang="fr-FR" altLang="fr-FR" sz="2000" baseline="-25000"/>
              <a:t>1</a:t>
            </a:r>
            <a:r>
              <a:rPr lang="fr-FR" altLang="fr-FR" sz="2000"/>
              <a:t> – (S</a:t>
            </a:r>
            <a:r>
              <a:rPr lang="fr-FR" altLang="fr-FR" sz="2000" baseline="-25000"/>
              <a:t>3</a:t>
            </a:r>
            <a:r>
              <a:rPr lang="fr-FR" altLang="fr-FR" sz="2000"/>
              <a:t> – 2T</a:t>
            </a:r>
            <a:r>
              <a:rPr lang="fr-FR" altLang="fr-FR" sz="2000" baseline="-25000"/>
              <a:t>4</a:t>
            </a:r>
            <a:r>
              <a:rPr lang="fr-FR" altLang="fr-FR" sz="2000"/>
              <a:t>)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Text Box 3"/>
          <p:cNvSpPr txBox="1">
            <a:spLocks noChangeArrowheads="1"/>
          </p:cNvSpPr>
          <p:nvPr/>
        </p:nvSpPr>
        <p:spPr bwMode="auto">
          <a:xfrm>
            <a:off x="539750" y="4040237"/>
            <a:ext cx="8135938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fr-FR" altLang="fr-FR" sz="2000" dirty="0"/>
              <a:t>L’erreur d’ajustement : e</a:t>
            </a:r>
            <a:r>
              <a:rPr lang="fr-FR" altLang="fr-FR" sz="2000" baseline="-25000" dirty="0"/>
              <a:t>t</a:t>
            </a:r>
            <a:r>
              <a:rPr lang="fr-FR" altLang="fr-FR" sz="2000" dirty="0"/>
              <a:t> = </a:t>
            </a:r>
            <a:r>
              <a:rPr lang="fr-FR" altLang="fr-FR" sz="2000" dirty="0" err="1"/>
              <a:t>y</a:t>
            </a:r>
            <a:r>
              <a:rPr lang="fr-FR" altLang="fr-FR" sz="2000" baseline="-25000" dirty="0" err="1"/>
              <a:t>t</a:t>
            </a:r>
            <a:r>
              <a:rPr lang="fr-FR" altLang="fr-FR" sz="2000" dirty="0"/>
              <a:t> </a:t>
            </a:r>
            <a:r>
              <a:rPr lang="fr-FR" altLang="fr-FR" sz="2000" dirty="0" smtClean="0"/>
              <a:t>– F</a:t>
            </a:r>
            <a:r>
              <a:rPr lang="fr-FR" altLang="fr-FR" sz="2000" baseline="-25000" dirty="0" smtClean="0"/>
              <a:t>t-1</a:t>
            </a:r>
            <a:endParaRPr lang="fr-FR" altLang="fr-FR" sz="2000" dirty="0"/>
          </a:p>
        </p:txBody>
      </p:sp>
      <p:sp>
        <p:nvSpPr>
          <p:cNvPr id="23555" name="Text Box 4"/>
          <p:cNvSpPr txBox="1">
            <a:spLocks noChangeArrowheads="1"/>
          </p:cNvSpPr>
          <p:nvPr/>
        </p:nvSpPr>
        <p:spPr bwMode="auto">
          <a:xfrm>
            <a:off x="539750" y="3392165"/>
            <a:ext cx="82804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fr-FR" altLang="fr-FR" sz="2000" dirty="0"/>
              <a:t>La série ajustée : </a:t>
            </a:r>
            <a:r>
              <a:rPr lang="fr-FR" altLang="fr-FR" sz="2000" dirty="0" smtClean="0"/>
              <a:t>F</a:t>
            </a:r>
            <a:r>
              <a:rPr lang="fr-FR" altLang="fr-FR" sz="2000" baseline="-25000" dirty="0" smtClean="0"/>
              <a:t>t-1</a:t>
            </a:r>
            <a:r>
              <a:rPr lang="fr-FR" altLang="fr-FR" sz="2000" dirty="0" smtClean="0"/>
              <a:t> </a:t>
            </a:r>
            <a:r>
              <a:rPr lang="fr-FR" altLang="fr-FR" sz="2000" dirty="0"/>
              <a:t>= S</a:t>
            </a:r>
            <a:r>
              <a:rPr lang="fr-FR" altLang="fr-FR" sz="2000" baseline="-25000" dirty="0"/>
              <a:t>t-1</a:t>
            </a:r>
            <a:r>
              <a:rPr lang="fr-FR" altLang="fr-FR" sz="2000" dirty="0"/>
              <a:t> + T</a:t>
            </a:r>
            <a:r>
              <a:rPr lang="fr-FR" altLang="fr-FR" sz="2000" baseline="-25000" dirty="0"/>
              <a:t>t-1</a:t>
            </a:r>
            <a:r>
              <a:rPr lang="fr-FR" altLang="fr-FR" sz="2000" dirty="0"/>
              <a:t> + I</a:t>
            </a:r>
            <a:r>
              <a:rPr lang="fr-FR" altLang="fr-FR" sz="2000" baseline="-25000" dirty="0"/>
              <a:t>t-s</a:t>
            </a:r>
            <a:endParaRPr lang="fr-FR" altLang="fr-FR" sz="2000" dirty="0"/>
          </a:p>
        </p:txBody>
      </p:sp>
      <p:sp>
        <p:nvSpPr>
          <p:cNvPr id="23556" name="Text Box 5"/>
          <p:cNvSpPr txBox="1">
            <a:spLocks noChangeArrowheads="1"/>
          </p:cNvSpPr>
          <p:nvPr/>
        </p:nvSpPr>
        <p:spPr bwMode="auto">
          <a:xfrm>
            <a:off x="468313" y="4760317"/>
            <a:ext cx="8351837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fr-FR" altLang="fr-FR" sz="2000"/>
              <a:t>Remarque : l’ajustement ne peut débuter qu’à partir de la 2</a:t>
            </a:r>
            <a:r>
              <a:rPr lang="fr-FR" altLang="fr-FR" sz="2000" baseline="30000"/>
              <a:t>ème</a:t>
            </a:r>
            <a:r>
              <a:rPr lang="fr-FR" altLang="fr-FR" sz="2000"/>
              <a:t> année.</a:t>
            </a:r>
          </a:p>
        </p:txBody>
      </p:sp>
      <p:sp>
        <p:nvSpPr>
          <p:cNvPr id="23557" name="Text Box 6"/>
          <p:cNvSpPr txBox="1">
            <a:spLocks noChangeArrowheads="1"/>
          </p:cNvSpPr>
          <p:nvPr/>
        </p:nvSpPr>
        <p:spPr bwMode="auto">
          <a:xfrm>
            <a:off x="539750" y="5247605"/>
            <a:ext cx="7345363" cy="701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fr-FR" altLang="fr-FR" sz="2000" dirty="0"/>
              <a:t>Application du lissage de Holt-</a:t>
            </a:r>
            <a:r>
              <a:rPr lang="fr-FR" altLang="fr-FR" sz="2000" dirty="0" err="1"/>
              <a:t>Winters</a:t>
            </a:r>
            <a:r>
              <a:rPr lang="fr-FR" altLang="fr-FR" sz="2000" dirty="0"/>
              <a:t> à la série ‘‘Consommation trimestrielle </a:t>
            </a:r>
            <a:r>
              <a:rPr lang="fr-FR" altLang="fr-FR" sz="2000" smtClean="0"/>
              <a:t>d’essence d’aviation </a:t>
            </a:r>
            <a:r>
              <a:rPr lang="fr-FR" altLang="fr-FR" sz="2000" dirty="0"/>
              <a:t>‘‘</a:t>
            </a:r>
          </a:p>
        </p:txBody>
      </p:sp>
      <p:sp>
        <p:nvSpPr>
          <p:cNvPr id="2" name="ZoneTexte 1"/>
          <p:cNvSpPr txBox="1"/>
          <p:nvPr/>
        </p:nvSpPr>
        <p:spPr>
          <a:xfrm>
            <a:off x="323528" y="665401"/>
            <a:ext cx="8496622" cy="1785104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fr-FR" dirty="0" smtClean="0"/>
              <a:t>Initialisation des composantes saisonnières :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r-FR" dirty="0" smtClean="0"/>
              <a:t>Calculer les moyennes mobiles centrées sur une année donnée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r-FR" dirty="0" smtClean="0"/>
              <a:t>Déduire les composantes saisonnières en retranchant les moyennes mobiles centrées des valeurs de la série</a:t>
            </a:r>
            <a:endParaRPr lang="fr-FR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Text Box 2"/>
          <p:cNvSpPr txBox="1">
            <a:spLocks noChangeArrowheads="1"/>
          </p:cNvSpPr>
          <p:nvPr/>
        </p:nvSpPr>
        <p:spPr bwMode="auto">
          <a:xfrm>
            <a:off x="395288" y="367829"/>
            <a:ext cx="7993062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fr-FR" altLang="fr-FR" sz="2000" b="1"/>
              <a:t>Les équations de mise à jour du modèle multiplicatif :</a:t>
            </a:r>
          </a:p>
        </p:txBody>
      </p:sp>
      <p:sp>
        <p:nvSpPr>
          <p:cNvPr id="24579" name="Text Box 4"/>
          <p:cNvSpPr txBox="1">
            <a:spLocks noChangeArrowheads="1"/>
          </p:cNvSpPr>
          <p:nvPr/>
        </p:nvSpPr>
        <p:spPr bwMode="auto">
          <a:xfrm>
            <a:off x="755650" y="1879600"/>
            <a:ext cx="78486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fr-FR" altLang="fr-FR" sz="2000"/>
              <a:t>T</a:t>
            </a:r>
            <a:r>
              <a:rPr lang="fr-FR" altLang="fr-FR" sz="2000" baseline="-25000"/>
              <a:t>t</a:t>
            </a:r>
            <a:r>
              <a:rPr lang="fr-FR" altLang="fr-FR" sz="2000"/>
              <a:t> = </a:t>
            </a:r>
            <a:r>
              <a:rPr lang="el-GR" altLang="fr-FR" sz="2000"/>
              <a:t>γ</a:t>
            </a:r>
            <a:r>
              <a:rPr lang="fr-FR" altLang="fr-FR" sz="2000"/>
              <a:t>( S</a:t>
            </a:r>
            <a:r>
              <a:rPr lang="fr-FR" altLang="fr-FR" sz="2000" baseline="-25000"/>
              <a:t>t</a:t>
            </a:r>
            <a:r>
              <a:rPr lang="fr-FR" altLang="fr-FR" sz="2000"/>
              <a:t> – S</a:t>
            </a:r>
            <a:r>
              <a:rPr lang="fr-FR" altLang="fr-FR" sz="2000" baseline="-25000"/>
              <a:t>t-1</a:t>
            </a:r>
            <a:r>
              <a:rPr lang="fr-FR" altLang="fr-FR" sz="2000"/>
              <a:t>) + (1 – </a:t>
            </a:r>
            <a:r>
              <a:rPr lang="el-GR" altLang="fr-FR" sz="2000"/>
              <a:t>γ</a:t>
            </a:r>
            <a:r>
              <a:rPr lang="fr-FR" altLang="fr-FR" sz="2000"/>
              <a:t>)T</a:t>
            </a:r>
            <a:r>
              <a:rPr lang="fr-FR" altLang="fr-FR" sz="2000" baseline="-25000"/>
              <a:t>t-1</a:t>
            </a:r>
            <a:endParaRPr lang="el-GR" altLang="fr-FR" sz="2000"/>
          </a:p>
        </p:txBody>
      </p:sp>
      <p:sp>
        <p:nvSpPr>
          <p:cNvPr id="24580" name="Text Box 6"/>
          <p:cNvSpPr txBox="1">
            <a:spLocks noChangeArrowheads="1"/>
          </p:cNvSpPr>
          <p:nvPr/>
        </p:nvSpPr>
        <p:spPr bwMode="auto">
          <a:xfrm>
            <a:off x="250825" y="4040188"/>
            <a:ext cx="5400675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fr-FR" altLang="fr-FR" sz="2000"/>
              <a:t>La prévision à la date T, pour l’horizon h est : </a:t>
            </a:r>
          </a:p>
        </p:txBody>
      </p:sp>
      <p:graphicFrame>
        <p:nvGraphicFramePr>
          <p:cNvPr id="24581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1091409"/>
              </p:ext>
            </p:extLst>
          </p:nvPr>
        </p:nvGraphicFramePr>
        <p:xfrm>
          <a:off x="5568950" y="3975100"/>
          <a:ext cx="3243263" cy="571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245" name="Équation" r:id="rId3" imgW="1371600" imgH="241200" progId="Equation.3">
                  <p:embed/>
                </p:oleObj>
              </mc:Choice>
              <mc:Fallback>
                <p:oleObj name="Équation" r:id="rId3" imgW="1371600" imgH="241200" progId="Equation.3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68950" y="3975100"/>
                        <a:ext cx="3243263" cy="571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4582" name="Text Box 8"/>
          <p:cNvSpPr txBox="1">
            <a:spLocks noChangeArrowheads="1"/>
          </p:cNvSpPr>
          <p:nvPr/>
        </p:nvSpPr>
        <p:spPr bwMode="auto">
          <a:xfrm>
            <a:off x="323850" y="4760913"/>
            <a:ext cx="82804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fr-FR" altLang="fr-FR" sz="2000"/>
              <a:t>On utilise la périodicité de la composante saisonnière pour estimer I</a:t>
            </a:r>
            <a:r>
              <a:rPr lang="fr-FR" altLang="fr-FR" sz="2000" baseline="-25000"/>
              <a:t>T+h</a:t>
            </a:r>
            <a:r>
              <a:rPr lang="fr-FR" altLang="fr-FR" sz="2000"/>
              <a:t> 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4583" name="Text Box 9"/>
              <p:cNvSpPr txBox="1">
                <a:spLocks noChangeArrowheads="1"/>
              </p:cNvSpPr>
              <p:nvPr/>
            </p:nvSpPr>
            <p:spPr bwMode="auto">
              <a:xfrm>
                <a:off x="611188" y="5337175"/>
                <a:ext cx="7489825" cy="40857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fr-FR" altLang="fr-FR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fr-FR" altLang="fr-FR" sz="2000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fr-FR" altLang="fr-FR" sz="2000" i="1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</m:acc>
                      </m:e>
                      <m:sub>
                        <m:r>
                          <a:rPr lang="fr-FR" altLang="fr-FR" sz="2000" i="1">
                            <a:latin typeface="Cambria Math" panose="02040503050406030204" pitchFamily="18" charset="0"/>
                          </a:rPr>
                          <m:t>𝑇</m:t>
                        </m:r>
                        <m:r>
                          <a:rPr lang="fr-FR" altLang="fr-FR" sz="2000" i="1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fr-FR" altLang="fr-FR" sz="2000" i="1">
                            <a:latin typeface="Cambria Math" panose="02040503050406030204" pitchFamily="18" charset="0"/>
                          </a:rPr>
                          <m:t>h</m:t>
                        </m:r>
                      </m:sub>
                    </m:sSub>
                  </m:oMath>
                </a14:m>
                <a:r>
                  <a:rPr lang="fr-FR" altLang="fr-FR" sz="2000" dirty="0"/>
                  <a:t> = </a:t>
                </a:r>
                <a:r>
                  <a:rPr lang="fr-FR" altLang="fr-FR" sz="2000" dirty="0" err="1"/>
                  <a:t>I</a:t>
                </a:r>
                <a:r>
                  <a:rPr lang="fr-FR" altLang="fr-FR" sz="2000" baseline="-25000" dirty="0" err="1"/>
                  <a:t>T+h-s</a:t>
                </a:r>
                <a:r>
                  <a:rPr lang="fr-FR" altLang="fr-FR" sz="2000" dirty="0"/>
                  <a:t> si 0 &lt; h ≤ s</a:t>
                </a:r>
                <a:endParaRPr lang="fr-FR" altLang="fr-FR" sz="2000" baseline="-25000" dirty="0"/>
              </a:p>
            </p:txBody>
          </p:sp>
        </mc:Choice>
        <mc:Fallback xmlns="">
          <p:sp>
            <p:nvSpPr>
              <p:cNvPr id="24583" name="Text Box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11188" y="5337175"/>
                <a:ext cx="7489825" cy="408573"/>
              </a:xfrm>
              <a:prstGeom prst="rect">
                <a:avLst/>
              </a:prstGeom>
              <a:blipFill rotWithShape="0">
                <a:blip r:embed="rId5"/>
                <a:stretch>
                  <a:fillRect t="-5970" b="-26866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584" name="Text Box 10"/>
              <p:cNvSpPr txBox="1">
                <a:spLocks noChangeArrowheads="1"/>
              </p:cNvSpPr>
              <p:nvPr/>
            </p:nvSpPr>
            <p:spPr bwMode="auto">
              <a:xfrm>
                <a:off x="611188" y="5840413"/>
                <a:ext cx="7489825" cy="40857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fr-FR" altLang="fr-FR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fr-FR" altLang="fr-FR" sz="2000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fr-FR" altLang="fr-FR" sz="2000" i="1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</m:acc>
                      </m:e>
                      <m:sub>
                        <m:r>
                          <a:rPr lang="fr-FR" altLang="fr-FR" sz="2000" i="1">
                            <a:latin typeface="Cambria Math" panose="02040503050406030204" pitchFamily="18" charset="0"/>
                          </a:rPr>
                          <m:t>𝑇</m:t>
                        </m:r>
                        <m:r>
                          <a:rPr lang="fr-FR" altLang="fr-FR" sz="2000" i="1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fr-FR" altLang="fr-FR" sz="2000" i="1">
                            <a:latin typeface="Cambria Math" panose="02040503050406030204" pitchFamily="18" charset="0"/>
                          </a:rPr>
                          <m:t>h</m:t>
                        </m:r>
                      </m:sub>
                    </m:sSub>
                  </m:oMath>
                </a14:m>
                <a:r>
                  <a:rPr lang="fr-FR" altLang="fr-FR" sz="2000" dirty="0"/>
                  <a:t> = I</a:t>
                </a:r>
                <a:r>
                  <a:rPr lang="fr-FR" altLang="fr-FR" sz="2000" baseline="-25000" dirty="0"/>
                  <a:t>T+h-2s</a:t>
                </a:r>
                <a:r>
                  <a:rPr lang="fr-FR" altLang="fr-FR" sz="2000" dirty="0"/>
                  <a:t> si s &lt; h ≤ 2s, et ainsi de suite …</a:t>
                </a:r>
                <a:endParaRPr lang="fr-FR" altLang="fr-FR" sz="2000" baseline="-25000" dirty="0"/>
              </a:p>
            </p:txBody>
          </p:sp>
        </mc:Choice>
        <mc:Fallback xmlns="">
          <p:sp>
            <p:nvSpPr>
              <p:cNvPr id="24584" name="Text Box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11188" y="5840413"/>
                <a:ext cx="7489825" cy="408573"/>
              </a:xfrm>
              <a:prstGeom prst="rect">
                <a:avLst/>
              </a:prstGeom>
              <a:blipFill rotWithShape="0">
                <a:blip r:embed="rId6"/>
                <a:stretch>
                  <a:fillRect t="-4478" b="-26866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4585" name="Text Box 11"/>
          <p:cNvSpPr txBox="1">
            <a:spLocks noChangeArrowheads="1"/>
          </p:cNvSpPr>
          <p:nvPr/>
        </p:nvSpPr>
        <p:spPr bwMode="auto">
          <a:xfrm>
            <a:off x="395288" y="3429000"/>
            <a:ext cx="8208962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fr-FR" altLang="fr-FR" sz="2000"/>
              <a:t>Les paramètres </a:t>
            </a:r>
            <a:r>
              <a:rPr lang="el-GR" altLang="fr-FR" sz="2000"/>
              <a:t>α</a:t>
            </a:r>
            <a:r>
              <a:rPr lang="fr-FR" altLang="fr-FR" sz="2000"/>
              <a:t>, </a:t>
            </a:r>
            <a:r>
              <a:rPr lang="el-GR" altLang="fr-FR" sz="2000"/>
              <a:t>γ</a:t>
            </a:r>
            <a:r>
              <a:rPr lang="fr-FR" altLang="fr-FR" sz="2000"/>
              <a:t> et </a:t>
            </a:r>
            <a:r>
              <a:rPr lang="el-GR" altLang="fr-FR" sz="2000"/>
              <a:t>δ</a:t>
            </a:r>
            <a:r>
              <a:rPr lang="fr-FR" altLang="fr-FR" sz="2000"/>
              <a:t> sont compris entre 0 et 1.</a:t>
            </a:r>
            <a:endParaRPr lang="el-GR" altLang="fr-FR" sz="2000"/>
          </a:p>
        </p:txBody>
      </p:sp>
      <p:graphicFrame>
        <p:nvGraphicFramePr>
          <p:cNvPr id="24586" name="Object 13"/>
          <p:cNvGraphicFramePr>
            <a:graphicFrameLocks noChangeAspect="1"/>
          </p:cNvGraphicFramePr>
          <p:nvPr/>
        </p:nvGraphicFramePr>
        <p:xfrm>
          <a:off x="827088" y="981075"/>
          <a:ext cx="3673475" cy="857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246" name="Équation" r:id="rId7" imgW="1905000" imgH="444500" progId="Equation.3">
                  <p:embed/>
                </p:oleObj>
              </mc:Choice>
              <mc:Fallback>
                <p:oleObj name="Équation" r:id="rId7" imgW="1905000" imgH="444500" progId="Equation.3">
                  <p:embed/>
                  <p:pic>
                    <p:nvPicPr>
                      <p:cNvPr id="0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27088" y="981075"/>
                        <a:ext cx="3673475" cy="8572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587" name="Object 14"/>
          <p:cNvGraphicFramePr>
            <a:graphicFrameLocks noChangeAspect="1"/>
          </p:cNvGraphicFramePr>
          <p:nvPr/>
        </p:nvGraphicFramePr>
        <p:xfrm>
          <a:off x="827088" y="2276475"/>
          <a:ext cx="2498725" cy="857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247" name="Équation" r:id="rId9" imgW="1294838" imgH="444307" progId="Equation.3">
                  <p:embed/>
                </p:oleObj>
              </mc:Choice>
              <mc:Fallback>
                <p:oleObj name="Équation" r:id="rId9" imgW="1294838" imgH="444307" progId="Equation.3">
                  <p:embed/>
                  <p:pic>
                    <p:nvPicPr>
                      <p:cNvPr id="0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27088" y="2276475"/>
                        <a:ext cx="2498725" cy="8572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Text Box 2"/>
          <p:cNvSpPr txBox="1">
            <a:spLocks noChangeArrowheads="1"/>
          </p:cNvSpPr>
          <p:nvPr/>
        </p:nvSpPr>
        <p:spPr bwMode="auto">
          <a:xfrm>
            <a:off x="250825" y="318627"/>
            <a:ext cx="8569325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fr-FR" altLang="fr-FR" sz="2000" b="1"/>
              <a:t>Calcul des valeurs initiales</a:t>
            </a:r>
          </a:p>
        </p:txBody>
      </p:sp>
      <p:sp>
        <p:nvSpPr>
          <p:cNvPr id="25603" name="Text Box 3"/>
          <p:cNvSpPr txBox="1">
            <a:spLocks noChangeArrowheads="1"/>
          </p:cNvSpPr>
          <p:nvPr/>
        </p:nvSpPr>
        <p:spPr bwMode="auto">
          <a:xfrm>
            <a:off x="468313" y="981075"/>
            <a:ext cx="8280400" cy="701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fr-FR" altLang="fr-FR" sz="2000"/>
              <a:t>Les valeurs initiales (t = 2)  des composantes saisonnière sont obtenus par la méthode de décomposition saisonnière</a:t>
            </a:r>
          </a:p>
        </p:txBody>
      </p:sp>
      <p:sp>
        <p:nvSpPr>
          <p:cNvPr id="25604" name="Text Box 5"/>
          <p:cNvSpPr txBox="1">
            <a:spLocks noChangeArrowheads="1"/>
          </p:cNvSpPr>
          <p:nvPr/>
        </p:nvSpPr>
        <p:spPr bwMode="auto">
          <a:xfrm>
            <a:off x="395288" y="3104133"/>
            <a:ext cx="8497887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fr-FR" altLang="fr-FR" sz="2000"/>
              <a:t>Autre façon de calculer les valeurs initiales, pour une série trimestrielle :</a:t>
            </a:r>
          </a:p>
        </p:txBody>
      </p:sp>
      <p:sp>
        <p:nvSpPr>
          <p:cNvPr id="25605" name="Text Box 6"/>
          <p:cNvSpPr txBox="1">
            <a:spLocks noChangeArrowheads="1"/>
          </p:cNvSpPr>
          <p:nvPr/>
        </p:nvSpPr>
        <p:spPr bwMode="auto">
          <a:xfrm>
            <a:off x="539750" y="3573463"/>
            <a:ext cx="7993063" cy="701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fr-FR" altLang="fr-FR" sz="2000"/>
              <a:t>Les niveaux des derniers trimestres de la 1</a:t>
            </a:r>
            <a:r>
              <a:rPr lang="fr-FR" altLang="fr-FR" sz="2000" baseline="30000"/>
              <a:t>ère</a:t>
            </a:r>
            <a:r>
              <a:rPr lang="fr-FR" altLang="fr-FR" sz="2000"/>
              <a:t> année sont calculés en utilisant les MMC(4)</a:t>
            </a:r>
          </a:p>
        </p:txBody>
      </p:sp>
      <p:sp>
        <p:nvSpPr>
          <p:cNvPr id="25606" name="Text Box 7"/>
          <p:cNvSpPr txBox="1">
            <a:spLocks noChangeArrowheads="1"/>
          </p:cNvSpPr>
          <p:nvPr/>
        </p:nvSpPr>
        <p:spPr bwMode="auto">
          <a:xfrm>
            <a:off x="755650" y="4471988"/>
            <a:ext cx="80645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fr-FR" altLang="fr-FR" sz="2000"/>
              <a:t>T</a:t>
            </a:r>
            <a:r>
              <a:rPr lang="fr-FR" altLang="fr-FR" sz="2000" baseline="-25000"/>
              <a:t>4</a:t>
            </a:r>
            <a:r>
              <a:rPr lang="fr-FR" altLang="fr-FR" sz="2000"/>
              <a:t> = S</a:t>
            </a:r>
            <a:r>
              <a:rPr lang="fr-FR" altLang="fr-FR" sz="2000" baseline="-25000"/>
              <a:t>4</a:t>
            </a:r>
            <a:r>
              <a:rPr lang="fr-FR" altLang="fr-FR" sz="2000"/>
              <a:t> – S</a:t>
            </a:r>
            <a:r>
              <a:rPr lang="fr-FR" altLang="fr-FR" sz="2000" baseline="-25000"/>
              <a:t>3</a:t>
            </a:r>
            <a:endParaRPr lang="fr-FR" altLang="fr-FR" sz="2000"/>
          </a:p>
        </p:txBody>
      </p:sp>
      <p:graphicFrame>
        <p:nvGraphicFramePr>
          <p:cNvPr id="25607" name="Object 9"/>
          <p:cNvGraphicFramePr>
            <a:graphicFrameLocks noChangeAspect="1"/>
          </p:cNvGraphicFramePr>
          <p:nvPr/>
        </p:nvGraphicFramePr>
        <p:xfrm>
          <a:off x="1547813" y="1773238"/>
          <a:ext cx="4535487" cy="8366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045" name="Équation" r:id="rId3" imgW="2616200" imgH="482600" progId="Equation.3">
                  <p:embed/>
                </p:oleObj>
              </mc:Choice>
              <mc:Fallback>
                <p:oleObj name="Équation" r:id="rId3" imgW="2616200" imgH="482600" progId="Equation.3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47813" y="1773238"/>
                        <a:ext cx="4535487" cy="8366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608" name="Object 10"/>
          <p:cNvGraphicFramePr>
            <a:graphicFrameLocks noChangeAspect="1"/>
          </p:cNvGraphicFramePr>
          <p:nvPr/>
        </p:nvGraphicFramePr>
        <p:xfrm>
          <a:off x="865188" y="5084763"/>
          <a:ext cx="4930775" cy="771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046" name="Équation" r:id="rId5" imgW="2844800" imgH="444500" progId="Equation.3">
                  <p:embed/>
                </p:oleObj>
              </mc:Choice>
              <mc:Fallback>
                <p:oleObj name="Équation" r:id="rId5" imgW="2844800" imgH="444500" progId="Equation.3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65188" y="5084763"/>
                        <a:ext cx="4930775" cy="7715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Text Box 2"/>
          <p:cNvSpPr txBox="1">
            <a:spLocks noChangeArrowheads="1"/>
          </p:cNvSpPr>
          <p:nvPr/>
        </p:nvSpPr>
        <p:spPr bwMode="auto">
          <a:xfrm>
            <a:off x="539750" y="3501008"/>
            <a:ext cx="82804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fr-FR" altLang="fr-FR" sz="2000" dirty="0"/>
              <a:t>La série ajustée : </a:t>
            </a:r>
            <a:r>
              <a:rPr lang="fr-FR" altLang="fr-FR" sz="2000" dirty="0" smtClean="0"/>
              <a:t>F</a:t>
            </a:r>
            <a:r>
              <a:rPr lang="fr-FR" altLang="fr-FR" sz="2000" baseline="-25000" dirty="0" smtClean="0"/>
              <a:t>t-1</a:t>
            </a:r>
            <a:r>
              <a:rPr lang="fr-FR" altLang="fr-FR" sz="2000" dirty="0" smtClean="0"/>
              <a:t> </a:t>
            </a:r>
            <a:r>
              <a:rPr lang="fr-FR" altLang="fr-FR" sz="2000" dirty="0"/>
              <a:t>= (S</a:t>
            </a:r>
            <a:r>
              <a:rPr lang="fr-FR" altLang="fr-FR" sz="2000" baseline="-25000" dirty="0"/>
              <a:t>t-1</a:t>
            </a:r>
            <a:r>
              <a:rPr lang="fr-FR" altLang="fr-FR" sz="2000" dirty="0"/>
              <a:t> + T</a:t>
            </a:r>
            <a:r>
              <a:rPr lang="fr-FR" altLang="fr-FR" sz="2000" baseline="-25000" dirty="0"/>
              <a:t>t-1</a:t>
            </a:r>
            <a:r>
              <a:rPr lang="fr-FR" altLang="fr-FR" sz="2000" dirty="0"/>
              <a:t>)I</a:t>
            </a:r>
            <a:r>
              <a:rPr lang="fr-FR" altLang="fr-FR" sz="2000" baseline="-25000" dirty="0"/>
              <a:t>t-s</a:t>
            </a:r>
            <a:endParaRPr lang="fr-FR" altLang="fr-FR" sz="2000" dirty="0"/>
          </a:p>
        </p:txBody>
      </p:sp>
      <p:sp>
        <p:nvSpPr>
          <p:cNvPr id="26627" name="Text Box 3"/>
          <p:cNvSpPr txBox="1">
            <a:spLocks noChangeArrowheads="1"/>
          </p:cNvSpPr>
          <p:nvPr/>
        </p:nvSpPr>
        <p:spPr bwMode="auto">
          <a:xfrm>
            <a:off x="539750" y="4149080"/>
            <a:ext cx="8135938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fr-FR" altLang="fr-FR" sz="2000" dirty="0"/>
              <a:t>L’erreur d’ajustement : e</a:t>
            </a:r>
            <a:r>
              <a:rPr lang="fr-FR" altLang="fr-FR" sz="2000" baseline="-25000" dirty="0"/>
              <a:t>t</a:t>
            </a:r>
            <a:r>
              <a:rPr lang="fr-FR" altLang="fr-FR" sz="2000" dirty="0"/>
              <a:t> = </a:t>
            </a:r>
            <a:r>
              <a:rPr lang="fr-FR" altLang="fr-FR" sz="2000" dirty="0" err="1"/>
              <a:t>y</a:t>
            </a:r>
            <a:r>
              <a:rPr lang="fr-FR" altLang="fr-FR" sz="2000" baseline="-25000" dirty="0" err="1"/>
              <a:t>t</a:t>
            </a:r>
            <a:r>
              <a:rPr lang="fr-FR" altLang="fr-FR" sz="2000" dirty="0"/>
              <a:t> </a:t>
            </a:r>
            <a:r>
              <a:rPr lang="fr-FR" altLang="fr-FR" sz="2000" dirty="0" smtClean="0"/>
              <a:t>– F</a:t>
            </a:r>
            <a:r>
              <a:rPr lang="fr-FR" altLang="fr-FR" sz="2000" baseline="-25000" dirty="0" smtClean="0"/>
              <a:t>t-1</a:t>
            </a:r>
            <a:endParaRPr lang="fr-FR" altLang="fr-FR" sz="2000" dirty="0"/>
          </a:p>
        </p:txBody>
      </p:sp>
      <p:sp>
        <p:nvSpPr>
          <p:cNvPr id="26628" name="Text Box 4"/>
          <p:cNvSpPr txBox="1">
            <a:spLocks noChangeArrowheads="1"/>
          </p:cNvSpPr>
          <p:nvPr/>
        </p:nvSpPr>
        <p:spPr bwMode="auto">
          <a:xfrm>
            <a:off x="468313" y="5085184"/>
            <a:ext cx="8351837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fr-FR" altLang="fr-FR" sz="2000"/>
              <a:t>Remarque : l’ajustement ne peut débuter qu’à partir de la 2</a:t>
            </a:r>
            <a:r>
              <a:rPr lang="fr-FR" altLang="fr-FR" sz="2000" baseline="30000"/>
              <a:t>ème</a:t>
            </a:r>
            <a:r>
              <a:rPr lang="fr-FR" altLang="fr-FR" sz="2000"/>
              <a:t> année.</a:t>
            </a:r>
          </a:p>
        </p:txBody>
      </p:sp>
      <p:sp>
        <p:nvSpPr>
          <p:cNvPr id="26629" name="Text Box 5"/>
          <p:cNvSpPr txBox="1">
            <a:spLocks noChangeArrowheads="1"/>
          </p:cNvSpPr>
          <p:nvPr/>
        </p:nvSpPr>
        <p:spPr bwMode="auto">
          <a:xfrm>
            <a:off x="539750" y="5805264"/>
            <a:ext cx="7920038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fr-FR" altLang="fr-FR" sz="2000"/>
              <a:t>Application à la série : ventes des bouteilles de champagne</a:t>
            </a:r>
          </a:p>
        </p:txBody>
      </p:sp>
      <p:sp>
        <p:nvSpPr>
          <p:cNvPr id="6" name="ZoneTexte 5"/>
          <p:cNvSpPr txBox="1"/>
          <p:nvPr/>
        </p:nvSpPr>
        <p:spPr>
          <a:xfrm>
            <a:off x="323528" y="548680"/>
            <a:ext cx="8496622" cy="1785104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fr-FR" dirty="0" smtClean="0"/>
              <a:t>Initialisation des composantes saisonnières :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r-FR" dirty="0" smtClean="0"/>
              <a:t>Calculer les moyennes mobiles centrées sur une année donnée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r-FR" dirty="0" smtClean="0"/>
              <a:t>Déduire les composantes saisonnières en faisant le rapport </a:t>
            </a:r>
            <a:r>
              <a:rPr lang="fr-FR" dirty="0"/>
              <a:t>des valeurs de la </a:t>
            </a:r>
            <a:r>
              <a:rPr lang="fr-FR" dirty="0" smtClean="0"/>
              <a:t>série avec les moyennes mobiles centrées</a:t>
            </a:r>
            <a:endParaRPr lang="fr-FR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Text Box 2"/>
          <p:cNvSpPr txBox="1">
            <a:spLocks noChangeArrowheads="1"/>
          </p:cNvSpPr>
          <p:nvPr/>
        </p:nvSpPr>
        <p:spPr bwMode="auto">
          <a:xfrm>
            <a:off x="250825" y="333375"/>
            <a:ext cx="6192838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fr-FR" altLang="fr-FR" sz="2000" b="1"/>
              <a:t>Le lissage généralisé</a:t>
            </a:r>
          </a:p>
        </p:txBody>
      </p:sp>
      <p:sp>
        <p:nvSpPr>
          <p:cNvPr id="27651" name="Text Box 3"/>
          <p:cNvSpPr txBox="1">
            <a:spLocks noChangeArrowheads="1"/>
          </p:cNvSpPr>
          <p:nvPr/>
        </p:nvSpPr>
        <p:spPr bwMode="auto">
          <a:xfrm>
            <a:off x="430213" y="1125538"/>
            <a:ext cx="8713787" cy="8540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fr-FR" altLang="fr-FR" sz="2000"/>
              <a:t>La série y</a:t>
            </a:r>
            <a:r>
              <a:rPr lang="fr-FR" altLang="fr-FR" sz="2000" baseline="-25000"/>
              <a:t>t</a:t>
            </a:r>
            <a:r>
              <a:rPr lang="fr-FR" altLang="fr-FR" sz="2000"/>
              <a:t> t = 1 … T, est ajustée au voisinage de T par la fonction : 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fr-FR" altLang="fr-FR" sz="2000" i="1"/>
              <a:t>φ(t-T) = f(t-T)’a,  f(t)</a:t>
            </a:r>
            <a:r>
              <a:rPr lang="fr-FR" altLang="fr-FR" sz="2000"/>
              <a:t> et </a:t>
            </a:r>
            <a:r>
              <a:rPr lang="fr-FR" altLang="fr-FR" sz="2000" i="1"/>
              <a:t>a</a:t>
            </a:r>
            <a:r>
              <a:rPr lang="fr-FR" altLang="fr-FR" sz="2000"/>
              <a:t> sont deux vecteurs de taille </a:t>
            </a:r>
            <a:r>
              <a:rPr lang="fr-FR" altLang="fr-FR" sz="2000" i="1"/>
              <a:t>(n,1)</a:t>
            </a:r>
            <a:endParaRPr lang="fr-FR" altLang="fr-FR" sz="2000"/>
          </a:p>
        </p:txBody>
      </p:sp>
      <p:sp>
        <p:nvSpPr>
          <p:cNvPr id="27652" name="Text Box 4"/>
          <p:cNvSpPr txBox="1">
            <a:spLocks noChangeArrowheads="1"/>
          </p:cNvSpPr>
          <p:nvPr/>
        </p:nvSpPr>
        <p:spPr bwMode="auto">
          <a:xfrm>
            <a:off x="323850" y="2420938"/>
            <a:ext cx="8569325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fr-FR" altLang="fr-FR" sz="2000"/>
              <a:t>a(T) est estimé en minimisant                                      = </a:t>
            </a:r>
            <a:r>
              <a:rPr lang="fr-FR" altLang="fr-FR" sz="2000" i="1"/>
              <a:t>(y - Fa)’Ω(y - Fa)</a:t>
            </a:r>
            <a:r>
              <a:rPr lang="fr-FR" altLang="fr-FR" sz="2000"/>
              <a:t> </a:t>
            </a:r>
          </a:p>
        </p:txBody>
      </p:sp>
      <p:sp>
        <p:nvSpPr>
          <p:cNvPr id="27653" name="Rectangle 5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fr-FR" altLang="fr-FR" sz="2000"/>
          </a:p>
        </p:txBody>
      </p:sp>
      <p:graphicFrame>
        <p:nvGraphicFramePr>
          <p:cNvPr id="27654" name="Object 6"/>
          <p:cNvGraphicFramePr>
            <a:graphicFrameLocks noChangeAspect="1"/>
          </p:cNvGraphicFramePr>
          <p:nvPr/>
        </p:nvGraphicFramePr>
        <p:xfrm>
          <a:off x="3924300" y="2276475"/>
          <a:ext cx="2344738" cy="698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535" name="Équation" r:id="rId3" imgW="1497950" imgH="444307" progId="Equation.3">
                  <p:embed/>
                </p:oleObj>
              </mc:Choice>
              <mc:Fallback>
                <p:oleObj name="Équation" r:id="rId3" imgW="1497950" imgH="444307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24300" y="2276475"/>
                        <a:ext cx="2344738" cy="698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655" name="Object 7"/>
          <p:cNvGraphicFramePr>
            <a:graphicFrameLocks noChangeAspect="1"/>
          </p:cNvGraphicFramePr>
          <p:nvPr/>
        </p:nvGraphicFramePr>
        <p:xfrm>
          <a:off x="539750" y="3068638"/>
          <a:ext cx="1119188" cy="15192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536" name="Équation" r:id="rId5" imgW="698500" imgH="939800" progId="Equation.3">
                  <p:embed/>
                </p:oleObj>
              </mc:Choice>
              <mc:Fallback>
                <p:oleObj name="Équation" r:id="rId5" imgW="698500" imgH="939800" progId="Equation.3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9750" y="3068638"/>
                        <a:ext cx="1119188" cy="15192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656" name="Object 8"/>
          <p:cNvGraphicFramePr>
            <a:graphicFrameLocks noChangeAspect="1"/>
          </p:cNvGraphicFramePr>
          <p:nvPr/>
        </p:nvGraphicFramePr>
        <p:xfrm>
          <a:off x="2051050" y="3141663"/>
          <a:ext cx="1582738" cy="13446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537" name="Équation" r:id="rId7" imgW="1079500" imgH="914400" progId="Equation.3">
                  <p:embed/>
                </p:oleObj>
              </mc:Choice>
              <mc:Fallback>
                <p:oleObj name="Équation" r:id="rId7" imgW="1079500" imgH="914400" progId="Equation.3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51050" y="3141663"/>
                        <a:ext cx="1582738" cy="13446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7657" name="Rectangle 9"/>
          <p:cNvSpPr>
            <a:spLocks noChangeArrowheads="1"/>
          </p:cNvSpPr>
          <p:nvPr/>
        </p:nvSpPr>
        <p:spPr bwMode="auto">
          <a:xfrm>
            <a:off x="0" y="2225675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fr-FR" altLang="fr-FR" sz="2000"/>
          </a:p>
        </p:txBody>
      </p:sp>
      <p:sp>
        <p:nvSpPr>
          <p:cNvPr id="27658" name="Rectangle 10"/>
          <p:cNvSpPr>
            <a:spLocks noChangeArrowheads="1"/>
          </p:cNvSpPr>
          <p:nvPr/>
        </p:nvSpPr>
        <p:spPr bwMode="auto">
          <a:xfrm>
            <a:off x="0" y="3168650"/>
            <a:ext cx="227013" cy="2746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fr-FR" sz="1200">
                <a:cs typeface="Times New Roman" pitchFamily="18" charset="0"/>
              </a:rPr>
              <a:t>,</a:t>
            </a:r>
            <a:endParaRPr lang="fr-FR" altLang="fr-FR" sz="1800"/>
          </a:p>
        </p:txBody>
      </p:sp>
      <p:sp>
        <p:nvSpPr>
          <p:cNvPr id="27659" name="Rectangle 11"/>
          <p:cNvSpPr>
            <a:spLocks noChangeArrowheads="1"/>
          </p:cNvSpPr>
          <p:nvPr/>
        </p:nvSpPr>
        <p:spPr bwMode="auto">
          <a:xfrm>
            <a:off x="3563938" y="3500438"/>
            <a:ext cx="327025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fr-FR" sz="2000">
                <a:cs typeface="Times New Roman" pitchFamily="18" charset="0"/>
              </a:rPr>
              <a:t>, une matrice de taille </a:t>
            </a:r>
            <a:r>
              <a:rPr lang="fr-FR" altLang="fr-FR" sz="2000" i="1">
                <a:cs typeface="Times New Roman" pitchFamily="18" charset="0"/>
              </a:rPr>
              <a:t>(T,n)</a:t>
            </a:r>
            <a:r>
              <a:rPr lang="fr-FR" altLang="fr-FR" sz="2000">
                <a:cs typeface="Times New Roman" pitchFamily="18" charset="0"/>
              </a:rPr>
              <a:t> </a:t>
            </a:r>
            <a:endParaRPr lang="fr-FR" altLang="fr-FR" sz="2000"/>
          </a:p>
        </p:txBody>
      </p:sp>
      <p:graphicFrame>
        <p:nvGraphicFramePr>
          <p:cNvPr id="27660" name="Object 12"/>
          <p:cNvGraphicFramePr>
            <a:graphicFrameLocks noChangeAspect="1"/>
          </p:cNvGraphicFramePr>
          <p:nvPr/>
        </p:nvGraphicFramePr>
        <p:xfrm>
          <a:off x="609600" y="4581525"/>
          <a:ext cx="3175000" cy="1930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538" name="Équation" r:id="rId9" imgW="1879600" imgH="1143000" progId="Equation.3">
                  <p:embed/>
                </p:oleObj>
              </mc:Choice>
              <mc:Fallback>
                <p:oleObj name="Équation" r:id="rId9" imgW="1879600" imgH="1143000" progId="Equation.3">
                  <p:embed/>
                  <p:pic>
                    <p:nvPicPr>
                      <p:cNvPr id="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9600" y="4581525"/>
                        <a:ext cx="3175000" cy="1930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7661" name="Text Box 13"/>
          <p:cNvSpPr txBox="1">
            <a:spLocks noChangeArrowheads="1"/>
          </p:cNvSpPr>
          <p:nvPr/>
        </p:nvSpPr>
        <p:spPr bwMode="auto">
          <a:xfrm>
            <a:off x="3995738" y="5229225"/>
            <a:ext cx="4824412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endParaRPr lang="fr-FR" altLang="fr-FR" sz="2000"/>
          </a:p>
        </p:txBody>
      </p:sp>
      <p:sp>
        <p:nvSpPr>
          <p:cNvPr id="27662" name="Text Box 14"/>
          <p:cNvSpPr txBox="1">
            <a:spLocks noChangeArrowheads="1"/>
          </p:cNvSpPr>
          <p:nvPr/>
        </p:nvSpPr>
        <p:spPr bwMode="auto">
          <a:xfrm>
            <a:off x="3708400" y="5300663"/>
            <a:ext cx="5040313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l-GR" altLang="fr-FR" sz="2000"/>
              <a:t>β</a:t>
            </a:r>
            <a:r>
              <a:rPr lang="fr-FR" altLang="fr-FR" sz="2000"/>
              <a:t> est le paramètre de lissage, 0 &lt; </a:t>
            </a:r>
            <a:r>
              <a:rPr lang="el-GR" altLang="fr-FR" sz="2000"/>
              <a:t>β</a:t>
            </a:r>
            <a:r>
              <a:rPr lang="fr-FR" altLang="fr-FR" sz="2000"/>
              <a:t> &lt; 1</a:t>
            </a:r>
            <a:endParaRPr lang="el-GR" altLang="fr-FR" sz="200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Text Box 4"/>
          <p:cNvSpPr txBox="1">
            <a:spLocks noChangeArrowheads="1"/>
          </p:cNvSpPr>
          <p:nvPr/>
        </p:nvSpPr>
        <p:spPr bwMode="auto">
          <a:xfrm>
            <a:off x="250825" y="404813"/>
            <a:ext cx="8497888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fr-FR" altLang="fr-FR" sz="2000"/>
              <a:t>Choix de la fonction f(t) ?</a:t>
            </a:r>
          </a:p>
        </p:txBody>
      </p:sp>
      <p:sp>
        <p:nvSpPr>
          <p:cNvPr id="28675" name="Text Box 5"/>
          <p:cNvSpPr txBox="1">
            <a:spLocks noChangeArrowheads="1"/>
          </p:cNvSpPr>
          <p:nvPr/>
        </p:nvSpPr>
        <p:spPr bwMode="auto">
          <a:xfrm>
            <a:off x="323850" y="981075"/>
            <a:ext cx="8820150" cy="701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fr-FR" altLang="fr-FR" sz="2000"/>
              <a:t>f(t) peut être choisie de telle sorte que l’ajustement de la série soit  : constant, linéaire, polynomiale, sinusoïdale ou exponentiel. </a:t>
            </a:r>
          </a:p>
        </p:txBody>
      </p:sp>
      <p:sp>
        <p:nvSpPr>
          <p:cNvPr id="28676" name="Text Box 6"/>
          <p:cNvSpPr txBox="1">
            <a:spLocks noChangeArrowheads="1"/>
          </p:cNvSpPr>
          <p:nvPr/>
        </p:nvSpPr>
        <p:spPr bwMode="auto">
          <a:xfrm>
            <a:off x="250825" y="1916113"/>
            <a:ext cx="8748713" cy="8540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fr-FR" altLang="fr-FR" sz="2000"/>
              <a:t>Pour toutes ces formes, f(t) vérifie la propriété de matrice à transition fixe :</a:t>
            </a:r>
          </a:p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fr-FR" altLang="fr-FR" sz="2000"/>
              <a:t>f(t) = Af(t-1), A matrice de taille (n,n).</a:t>
            </a:r>
          </a:p>
        </p:txBody>
      </p:sp>
      <p:sp>
        <p:nvSpPr>
          <p:cNvPr id="28677" name="Text Box 7"/>
          <p:cNvSpPr txBox="1">
            <a:spLocks noChangeArrowheads="1"/>
          </p:cNvSpPr>
          <p:nvPr/>
        </p:nvSpPr>
        <p:spPr bwMode="auto">
          <a:xfrm>
            <a:off x="395288" y="3357563"/>
            <a:ext cx="67691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fr-FR" altLang="fr-FR" sz="2000"/>
              <a:t>Ajustement constant : </a:t>
            </a:r>
            <a:r>
              <a:rPr lang="el-GR" altLang="fr-FR" sz="2000"/>
              <a:t>φ</a:t>
            </a:r>
            <a:r>
              <a:rPr lang="fr-FR" altLang="fr-FR" sz="2000"/>
              <a:t>(t) = a</a:t>
            </a:r>
            <a:endParaRPr lang="el-GR" altLang="fr-FR" sz="2000"/>
          </a:p>
        </p:txBody>
      </p:sp>
      <p:sp>
        <p:nvSpPr>
          <p:cNvPr id="28678" name="Text Box 8"/>
          <p:cNvSpPr txBox="1">
            <a:spLocks noChangeArrowheads="1"/>
          </p:cNvSpPr>
          <p:nvPr/>
        </p:nvSpPr>
        <p:spPr bwMode="auto">
          <a:xfrm>
            <a:off x="755650" y="3951288"/>
            <a:ext cx="8243888" cy="701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fr-FR" altLang="fr-FR" sz="2000"/>
              <a:t>Dans ce cas f(t) = 1, le lissage généralisé coïncide avec le lissage </a:t>
            </a:r>
            <a:r>
              <a:rPr lang="fr-FR" altLang="fr-FR" sz="2000" smtClean="0"/>
              <a:t>simple et </a:t>
            </a:r>
            <a:r>
              <a:rPr lang="fr-FR" altLang="fr-FR" sz="2000"/>
              <a:t>A = 1.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Text Box 2"/>
          <p:cNvSpPr txBox="1">
            <a:spLocks noChangeArrowheads="1"/>
          </p:cNvSpPr>
          <p:nvPr/>
        </p:nvSpPr>
        <p:spPr bwMode="auto">
          <a:xfrm>
            <a:off x="250825" y="260350"/>
            <a:ext cx="8137525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fr-FR" altLang="fr-FR" sz="2000"/>
              <a:t>Ajustement linéaire </a:t>
            </a:r>
            <a:r>
              <a:rPr lang="el-GR" altLang="fr-FR" sz="2000"/>
              <a:t>φ</a:t>
            </a:r>
            <a:r>
              <a:rPr lang="fr-FR" altLang="fr-FR" sz="2000"/>
              <a:t>(t) = a</a:t>
            </a:r>
            <a:r>
              <a:rPr lang="fr-FR" altLang="fr-FR" sz="2000" baseline="-25000"/>
              <a:t>1</a:t>
            </a:r>
            <a:r>
              <a:rPr lang="fr-FR" altLang="fr-FR" sz="2000"/>
              <a:t> + a</a:t>
            </a:r>
            <a:r>
              <a:rPr lang="fr-FR" altLang="fr-FR" sz="2000" baseline="-25000"/>
              <a:t>2</a:t>
            </a:r>
            <a:r>
              <a:rPr lang="fr-FR" altLang="fr-FR" sz="2000"/>
              <a:t>t</a:t>
            </a:r>
            <a:endParaRPr lang="el-GR" altLang="fr-FR" sz="2000"/>
          </a:p>
        </p:txBody>
      </p:sp>
      <p:graphicFrame>
        <p:nvGraphicFramePr>
          <p:cNvPr id="29699" name="Object 3"/>
          <p:cNvGraphicFramePr>
            <a:graphicFrameLocks noChangeAspect="1"/>
          </p:cNvGraphicFramePr>
          <p:nvPr/>
        </p:nvGraphicFramePr>
        <p:xfrm>
          <a:off x="1187450" y="765175"/>
          <a:ext cx="5257800" cy="7858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363" name="Équation" r:id="rId3" imgW="3060700" imgH="457200" progId="Equation.3">
                  <p:embed/>
                </p:oleObj>
              </mc:Choice>
              <mc:Fallback>
                <p:oleObj name="Équation" r:id="rId3" imgW="3060700" imgH="457200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87450" y="765175"/>
                        <a:ext cx="5257800" cy="7858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9700" name="Text Box 4"/>
          <p:cNvSpPr txBox="1">
            <a:spLocks noChangeArrowheads="1"/>
          </p:cNvSpPr>
          <p:nvPr/>
        </p:nvSpPr>
        <p:spPr bwMode="auto">
          <a:xfrm>
            <a:off x="395288" y="1916113"/>
            <a:ext cx="8353425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l-GR" altLang="fr-FR" sz="2000"/>
              <a:t>φ</a:t>
            </a:r>
            <a:r>
              <a:rPr lang="fr-FR" altLang="fr-FR" sz="2000"/>
              <a:t>(t) est un polynôme de degré m</a:t>
            </a:r>
            <a:endParaRPr lang="el-GR" altLang="fr-FR" sz="2000"/>
          </a:p>
        </p:txBody>
      </p:sp>
      <p:sp>
        <p:nvSpPr>
          <p:cNvPr id="29701" name="Text Box 5"/>
          <p:cNvSpPr txBox="1">
            <a:spLocks noChangeArrowheads="1"/>
          </p:cNvSpPr>
          <p:nvPr/>
        </p:nvSpPr>
        <p:spPr bwMode="auto">
          <a:xfrm>
            <a:off x="250825" y="2492375"/>
            <a:ext cx="8569325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fr-FR" altLang="fr-FR" sz="2000"/>
              <a:t>f</a:t>
            </a:r>
            <a:r>
              <a:rPr lang="fr-FR" altLang="fr-FR" sz="2000" baseline="-25000"/>
              <a:t>1</a:t>
            </a:r>
            <a:r>
              <a:rPr lang="fr-FR" altLang="fr-FR" sz="2000"/>
              <a:t>(t)=1, f</a:t>
            </a:r>
            <a:r>
              <a:rPr lang="fr-FR" altLang="fr-FR" sz="2000" baseline="-25000"/>
              <a:t>2</a:t>
            </a:r>
            <a:r>
              <a:rPr lang="fr-FR" altLang="fr-FR" sz="2000"/>
              <a:t>(t) = t, f</a:t>
            </a:r>
            <a:r>
              <a:rPr lang="fr-FR" altLang="fr-FR" sz="2000" baseline="-25000"/>
              <a:t>3</a:t>
            </a:r>
            <a:r>
              <a:rPr lang="fr-FR" altLang="fr-FR" sz="2000"/>
              <a:t>(t) = t(t-1)/2, … , f</a:t>
            </a:r>
            <a:r>
              <a:rPr lang="fr-FR" altLang="fr-FR" sz="2000" baseline="-25000"/>
              <a:t>m+1</a:t>
            </a:r>
            <a:r>
              <a:rPr lang="fr-FR" altLang="fr-FR" sz="2000"/>
              <a:t>(t) = t(t-1) … (t-m+1)/m! </a:t>
            </a:r>
          </a:p>
        </p:txBody>
      </p:sp>
      <p:sp>
        <p:nvSpPr>
          <p:cNvPr id="29702" name="Text Box 6"/>
          <p:cNvSpPr txBox="1">
            <a:spLocks noChangeArrowheads="1"/>
          </p:cNvSpPr>
          <p:nvPr/>
        </p:nvSpPr>
        <p:spPr bwMode="auto">
          <a:xfrm>
            <a:off x="468313" y="3032125"/>
            <a:ext cx="78486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fr-FR" altLang="fr-FR" sz="2000"/>
              <a:t>On a la relation  f</a:t>
            </a:r>
            <a:r>
              <a:rPr lang="fr-FR" altLang="fr-FR" sz="2000" baseline="-25000"/>
              <a:t>k</a:t>
            </a:r>
            <a:r>
              <a:rPr lang="fr-FR" altLang="fr-FR" sz="2000"/>
              <a:t>(t) = f</a:t>
            </a:r>
            <a:r>
              <a:rPr lang="fr-FR" altLang="fr-FR" sz="2000" baseline="-25000"/>
              <a:t>k-1</a:t>
            </a:r>
            <a:r>
              <a:rPr lang="fr-FR" altLang="fr-FR" sz="2000"/>
              <a:t>(t-1) + f</a:t>
            </a:r>
            <a:r>
              <a:rPr lang="fr-FR" altLang="fr-FR" sz="2000" baseline="-25000"/>
              <a:t>k</a:t>
            </a:r>
            <a:r>
              <a:rPr lang="fr-FR" altLang="fr-FR" sz="2000"/>
              <a:t>(t-1), k &gt; 1</a:t>
            </a:r>
          </a:p>
        </p:txBody>
      </p:sp>
      <p:sp>
        <p:nvSpPr>
          <p:cNvPr id="29703" name="Text Box 7"/>
          <p:cNvSpPr txBox="1">
            <a:spLocks noChangeArrowheads="1"/>
          </p:cNvSpPr>
          <p:nvPr/>
        </p:nvSpPr>
        <p:spPr bwMode="auto">
          <a:xfrm>
            <a:off x="323850" y="4292600"/>
            <a:ext cx="82804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endParaRPr lang="fr-FR" altLang="fr-FR" sz="2000"/>
          </a:p>
        </p:txBody>
      </p:sp>
      <p:graphicFrame>
        <p:nvGraphicFramePr>
          <p:cNvPr id="29704" name="Object 8"/>
          <p:cNvGraphicFramePr>
            <a:graphicFrameLocks noChangeAspect="1"/>
          </p:cNvGraphicFramePr>
          <p:nvPr/>
        </p:nvGraphicFramePr>
        <p:xfrm>
          <a:off x="1042988" y="3500438"/>
          <a:ext cx="1728787" cy="12588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364" name="Équation" r:id="rId5" imgW="977900" imgH="711200" progId="Equation.3">
                  <p:embed/>
                </p:oleObj>
              </mc:Choice>
              <mc:Fallback>
                <p:oleObj name="Équation" r:id="rId5" imgW="977900" imgH="711200" progId="Equation.3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42988" y="3500438"/>
                        <a:ext cx="1728787" cy="12588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9705" name="Text Box 9"/>
          <p:cNvSpPr txBox="1">
            <a:spLocks noChangeArrowheads="1"/>
          </p:cNvSpPr>
          <p:nvPr/>
        </p:nvSpPr>
        <p:spPr bwMode="auto">
          <a:xfrm>
            <a:off x="2916238" y="3860800"/>
            <a:ext cx="554355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fr-FR" altLang="fr-FR" sz="2000"/>
              <a:t>est à matrice de transition fixe si : f(t) = Af(t-1)</a:t>
            </a:r>
          </a:p>
        </p:txBody>
      </p:sp>
      <p:graphicFrame>
        <p:nvGraphicFramePr>
          <p:cNvPr id="29706" name="Object 10"/>
          <p:cNvGraphicFramePr>
            <a:graphicFrameLocks noChangeAspect="1"/>
          </p:cNvGraphicFramePr>
          <p:nvPr/>
        </p:nvGraphicFramePr>
        <p:xfrm>
          <a:off x="2555875" y="4365625"/>
          <a:ext cx="2808288" cy="2247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365" name="Équation" r:id="rId7" imgW="1714500" imgH="1371600" progId="Equation.3">
                  <p:embed/>
                </p:oleObj>
              </mc:Choice>
              <mc:Fallback>
                <p:oleObj name="Équation" r:id="rId7" imgW="1714500" imgH="1371600" progId="Equation.3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55875" y="4365625"/>
                        <a:ext cx="2808288" cy="2247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9707" name="Text Box 11"/>
          <p:cNvSpPr txBox="1">
            <a:spLocks noChangeArrowheads="1"/>
          </p:cNvSpPr>
          <p:nvPr/>
        </p:nvSpPr>
        <p:spPr bwMode="auto">
          <a:xfrm>
            <a:off x="6300788" y="4797425"/>
            <a:ext cx="2519362" cy="701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fr-FR" altLang="fr-FR" sz="2000"/>
              <a:t>La 1</a:t>
            </a:r>
            <a:r>
              <a:rPr lang="fr-FR" altLang="fr-FR" sz="2000" baseline="30000"/>
              <a:t>ère</a:t>
            </a:r>
            <a:r>
              <a:rPr lang="fr-FR" altLang="fr-FR" sz="2000"/>
              <a:t> et la 2</a:t>
            </a:r>
            <a:r>
              <a:rPr lang="fr-FR" altLang="fr-FR" sz="2000" baseline="30000"/>
              <a:t>ème</a:t>
            </a:r>
            <a:r>
              <a:rPr lang="fr-FR" altLang="fr-FR" sz="2000"/>
              <a:t> diagonale = 1</a:t>
            </a:r>
          </a:p>
        </p:txBody>
      </p:sp>
      <p:sp>
        <p:nvSpPr>
          <p:cNvPr id="29708" name="AutoShape 12"/>
          <p:cNvSpPr>
            <a:spLocks noChangeArrowheads="1"/>
          </p:cNvSpPr>
          <p:nvPr/>
        </p:nvSpPr>
        <p:spPr bwMode="auto">
          <a:xfrm>
            <a:off x="6156325" y="4724400"/>
            <a:ext cx="2087563" cy="936625"/>
          </a:xfrm>
          <a:prstGeom prst="wedgeRoundRectCallout">
            <a:avLst>
              <a:gd name="adj1" fmla="val -86199"/>
              <a:gd name="adj2" fmla="val 55931"/>
              <a:gd name="adj3" fmla="val 16667"/>
            </a:avLst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fr-FR" altLang="fr-FR" sz="200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Text Box 2"/>
          <p:cNvSpPr txBox="1">
            <a:spLocks noChangeArrowheads="1"/>
          </p:cNvSpPr>
          <p:nvPr/>
        </p:nvSpPr>
        <p:spPr bwMode="auto">
          <a:xfrm>
            <a:off x="250825" y="333375"/>
            <a:ext cx="74168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fr-FR" altLang="fr-FR" sz="2000"/>
              <a:t>Ajustement sinusoïdale </a:t>
            </a:r>
            <a:r>
              <a:rPr lang="el-GR" altLang="fr-FR" sz="2000"/>
              <a:t>φ</a:t>
            </a:r>
            <a:r>
              <a:rPr lang="fr-FR" altLang="fr-FR" sz="2000"/>
              <a:t>(t) = a</a:t>
            </a:r>
            <a:r>
              <a:rPr lang="fr-FR" altLang="fr-FR" sz="2000" baseline="-25000"/>
              <a:t>1</a:t>
            </a:r>
            <a:r>
              <a:rPr lang="fr-FR" altLang="fr-FR" sz="2000"/>
              <a:t>sin(wt) + a</a:t>
            </a:r>
            <a:r>
              <a:rPr lang="fr-FR" altLang="fr-FR" sz="2000" baseline="-25000"/>
              <a:t>2</a:t>
            </a:r>
            <a:r>
              <a:rPr lang="fr-FR" altLang="fr-FR" sz="2000"/>
              <a:t>cos(wt)</a:t>
            </a:r>
            <a:endParaRPr lang="el-GR" altLang="fr-FR" sz="2000"/>
          </a:p>
        </p:txBody>
      </p:sp>
      <p:graphicFrame>
        <p:nvGraphicFramePr>
          <p:cNvPr id="30723" name="Object 3"/>
          <p:cNvGraphicFramePr>
            <a:graphicFrameLocks noChangeAspect="1"/>
          </p:cNvGraphicFramePr>
          <p:nvPr/>
        </p:nvGraphicFramePr>
        <p:xfrm>
          <a:off x="619125" y="908050"/>
          <a:ext cx="4430713" cy="7858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606" name="Équation" r:id="rId3" imgW="2578100" imgH="457200" progId="Equation.3">
                  <p:embed/>
                </p:oleObj>
              </mc:Choice>
              <mc:Fallback>
                <p:oleObj name="Équation" r:id="rId3" imgW="2578100" imgH="457200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9125" y="908050"/>
                        <a:ext cx="4430713" cy="7858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0724" name="Text Box 4"/>
          <p:cNvSpPr txBox="1">
            <a:spLocks noChangeArrowheads="1"/>
          </p:cNvSpPr>
          <p:nvPr/>
        </p:nvSpPr>
        <p:spPr bwMode="auto">
          <a:xfrm>
            <a:off x="4932363" y="1160463"/>
            <a:ext cx="3889375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fr-FR" altLang="fr-FR" sz="2000"/>
              <a:t>on a f(t) = Af(t-1)</a:t>
            </a:r>
          </a:p>
        </p:txBody>
      </p:sp>
      <p:sp>
        <p:nvSpPr>
          <p:cNvPr id="30725" name="Text Box 5"/>
          <p:cNvSpPr txBox="1">
            <a:spLocks noChangeArrowheads="1"/>
          </p:cNvSpPr>
          <p:nvPr/>
        </p:nvSpPr>
        <p:spPr bwMode="auto">
          <a:xfrm>
            <a:off x="395288" y="2276475"/>
            <a:ext cx="8208962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fr-FR" altLang="fr-FR" sz="2000"/>
              <a:t>Ajustement exponentiel  </a:t>
            </a:r>
            <a:r>
              <a:rPr lang="el-GR" altLang="fr-FR" sz="2000"/>
              <a:t>φ</a:t>
            </a:r>
            <a:r>
              <a:rPr lang="fr-FR" altLang="fr-FR" sz="2000"/>
              <a:t>(t) = ae</a:t>
            </a:r>
            <a:r>
              <a:rPr lang="el-GR" altLang="fr-FR" sz="2000" baseline="30000"/>
              <a:t>α</a:t>
            </a:r>
            <a:r>
              <a:rPr lang="fr-FR" altLang="fr-FR" sz="2000" baseline="30000"/>
              <a:t>t</a:t>
            </a:r>
            <a:endParaRPr lang="el-GR" altLang="fr-FR" sz="2000" baseline="30000"/>
          </a:p>
        </p:txBody>
      </p:sp>
      <p:sp>
        <p:nvSpPr>
          <p:cNvPr id="30726" name="Text Box 6"/>
          <p:cNvSpPr txBox="1">
            <a:spLocks noChangeArrowheads="1"/>
          </p:cNvSpPr>
          <p:nvPr/>
        </p:nvSpPr>
        <p:spPr bwMode="auto">
          <a:xfrm>
            <a:off x="827088" y="2924175"/>
            <a:ext cx="7993062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fr-FR" altLang="fr-FR" sz="2000"/>
              <a:t>f(t) = e</a:t>
            </a:r>
            <a:r>
              <a:rPr lang="el-GR" altLang="fr-FR" sz="2000" baseline="30000"/>
              <a:t>α</a:t>
            </a:r>
            <a:r>
              <a:rPr lang="fr-FR" altLang="fr-FR" sz="2000" baseline="30000"/>
              <a:t>t</a:t>
            </a:r>
            <a:r>
              <a:rPr lang="fr-FR" altLang="fr-FR" sz="2000"/>
              <a:t>, A = e</a:t>
            </a:r>
            <a:r>
              <a:rPr lang="el-GR" altLang="fr-FR" sz="2000" baseline="30000"/>
              <a:t>α</a:t>
            </a:r>
            <a:r>
              <a:rPr lang="fr-FR" altLang="fr-FR" sz="2000"/>
              <a:t>, on a f(t) = Af(t-1)</a:t>
            </a:r>
            <a:endParaRPr lang="el-GR" altLang="fr-FR" sz="2000"/>
          </a:p>
        </p:txBody>
      </p:sp>
      <p:sp>
        <p:nvSpPr>
          <p:cNvPr id="30727" name="Text Box 7"/>
          <p:cNvSpPr txBox="1">
            <a:spLocks noChangeArrowheads="1"/>
          </p:cNvSpPr>
          <p:nvPr/>
        </p:nvSpPr>
        <p:spPr bwMode="auto">
          <a:xfrm>
            <a:off x="179388" y="3933825"/>
            <a:ext cx="8424862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fr-FR" altLang="fr-FR" sz="2000"/>
              <a:t>La solution du problème de minimisation : </a:t>
            </a:r>
          </a:p>
        </p:txBody>
      </p:sp>
      <p:graphicFrame>
        <p:nvGraphicFramePr>
          <p:cNvPr id="30728" name="Object 8"/>
          <p:cNvGraphicFramePr>
            <a:graphicFrameLocks noChangeAspect="1"/>
          </p:cNvGraphicFramePr>
          <p:nvPr/>
        </p:nvGraphicFramePr>
        <p:xfrm>
          <a:off x="2627313" y="4508500"/>
          <a:ext cx="4530725" cy="698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607" name="Équation" r:id="rId5" imgW="2895600" imgH="444500" progId="Equation.3">
                  <p:embed/>
                </p:oleObj>
              </mc:Choice>
              <mc:Fallback>
                <p:oleObj name="Équation" r:id="rId5" imgW="2895600" imgH="444500" progId="Equation.3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27313" y="4508500"/>
                        <a:ext cx="4530725" cy="698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0729" name="Rectangle 9"/>
          <p:cNvSpPr>
            <a:spLocks noChangeArrowheads="1"/>
          </p:cNvSpPr>
          <p:nvPr/>
        </p:nvSpPr>
        <p:spPr bwMode="auto">
          <a:xfrm>
            <a:off x="250825" y="5445125"/>
            <a:ext cx="3144838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fr-FR" sz="2000" i="1">
                <a:cs typeface="Times New Roman" pitchFamily="18" charset="0"/>
              </a:rPr>
              <a:t>a(T) = (F’ΩF)</a:t>
            </a:r>
            <a:r>
              <a:rPr lang="fr-FR" altLang="fr-FR" sz="2000" i="1" baseline="30000">
                <a:cs typeface="Times New Roman" pitchFamily="18" charset="0"/>
              </a:rPr>
              <a:t>-1</a:t>
            </a:r>
            <a:r>
              <a:rPr lang="fr-FR" altLang="fr-FR" sz="2000" i="1">
                <a:cs typeface="Times New Roman" pitchFamily="18" charset="0"/>
              </a:rPr>
              <a:t>F’Ωy</a:t>
            </a:r>
            <a:r>
              <a:rPr lang="fr-FR" altLang="fr-FR" sz="2000">
                <a:cs typeface="Times New Roman" pitchFamily="18" charset="0"/>
              </a:rPr>
              <a:t>, avec  </a:t>
            </a:r>
            <a:endParaRPr lang="fr-FR" altLang="fr-FR" sz="2000"/>
          </a:p>
        </p:txBody>
      </p:sp>
      <p:graphicFrame>
        <p:nvGraphicFramePr>
          <p:cNvPr id="30730" name="Object 10"/>
          <p:cNvGraphicFramePr>
            <a:graphicFrameLocks noChangeAspect="1"/>
          </p:cNvGraphicFramePr>
          <p:nvPr/>
        </p:nvGraphicFramePr>
        <p:xfrm>
          <a:off x="3275013" y="5318125"/>
          <a:ext cx="2736850" cy="7032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608" name="Équation" r:id="rId7" imgW="1739900" imgH="444500" progId="Equation.3">
                  <p:embed/>
                </p:oleObj>
              </mc:Choice>
              <mc:Fallback>
                <p:oleObj name="Équation" r:id="rId7" imgW="1739900" imgH="444500" progId="Equation.3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75013" y="5318125"/>
                        <a:ext cx="2736850" cy="7032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0731" name="Rectangle 11"/>
          <p:cNvSpPr>
            <a:spLocks noChangeArrowheads="1"/>
          </p:cNvSpPr>
          <p:nvPr/>
        </p:nvSpPr>
        <p:spPr bwMode="auto">
          <a:xfrm>
            <a:off x="5908675" y="5408613"/>
            <a:ext cx="534988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fr-FR" sz="2000">
                <a:cs typeface="Times New Roman" pitchFamily="18" charset="0"/>
              </a:rPr>
              <a:t> et </a:t>
            </a:r>
            <a:endParaRPr lang="fr-FR" altLang="fr-FR" sz="2000"/>
          </a:p>
        </p:txBody>
      </p:sp>
      <p:graphicFrame>
        <p:nvGraphicFramePr>
          <p:cNvPr id="30732" name="Object 12"/>
          <p:cNvGraphicFramePr>
            <a:graphicFrameLocks noChangeAspect="1"/>
          </p:cNvGraphicFramePr>
          <p:nvPr/>
        </p:nvGraphicFramePr>
        <p:xfrm>
          <a:off x="6372225" y="5295900"/>
          <a:ext cx="2592388" cy="7254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609" name="Équation" r:id="rId9" imgW="1600200" imgH="444500" progId="Equation.3">
                  <p:embed/>
                </p:oleObj>
              </mc:Choice>
              <mc:Fallback>
                <p:oleObj name="Équation" r:id="rId9" imgW="1600200" imgH="444500" progId="Equation.3">
                  <p:embed/>
                  <p:pic>
                    <p:nvPicPr>
                      <p:cNvPr id="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372225" y="5295900"/>
                        <a:ext cx="2592388" cy="7254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2"/>
          <p:cNvSpPr>
            <a:spLocks noChangeArrowheads="1"/>
          </p:cNvSpPr>
          <p:nvPr/>
        </p:nvSpPr>
        <p:spPr bwMode="auto">
          <a:xfrm>
            <a:off x="323850" y="333375"/>
            <a:ext cx="2268538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fr-FR" sz="2000">
                <a:cs typeface="Times New Roman" pitchFamily="18" charset="0"/>
              </a:rPr>
              <a:t>Comme 0 &lt; β &lt; 1, </a:t>
            </a:r>
            <a:endParaRPr lang="fr-FR" altLang="fr-FR" sz="2000"/>
          </a:p>
        </p:txBody>
      </p:sp>
      <p:graphicFrame>
        <p:nvGraphicFramePr>
          <p:cNvPr id="31747" name="Object 3"/>
          <p:cNvGraphicFramePr>
            <a:graphicFrameLocks noChangeAspect="1"/>
          </p:cNvGraphicFramePr>
          <p:nvPr/>
        </p:nvGraphicFramePr>
        <p:xfrm>
          <a:off x="2627313" y="346075"/>
          <a:ext cx="2233612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4329" name="Équation" r:id="rId3" imgW="1219200" imgH="228600" progId="Equation.3">
                  <p:embed/>
                </p:oleObj>
              </mc:Choice>
              <mc:Fallback>
                <p:oleObj name="Équation" r:id="rId3" imgW="1219200" imgH="228600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27313" y="346075"/>
                        <a:ext cx="2233612" cy="419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1748" name="Text Box 4"/>
          <p:cNvSpPr txBox="1">
            <a:spLocks noChangeArrowheads="1"/>
          </p:cNvSpPr>
          <p:nvPr/>
        </p:nvSpPr>
        <p:spPr bwMode="auto">
          <a:xfrm>
            <a:off x="250825" y="981075"/>
            <a:ext cx="8569325" cy="701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fr-FR" altLang="fr-FR" sz="2000"/>
              <a:t>La convergence de </a:t>
            </a:r>
            <a:r>
              <a:rPr lang="fr-FR" altLang="fr-FR" sz="2000" i="1"/>
              <a:t>F’</a:t>
            </a:r>
            <a:r>
              <a:rPr lang="el-GR" altLang="fr-FR" sz="2000" i="1"/>
              <a:t>Ω</a:t>
            </a:r>
            <a:r>
              <a:rPr lang="fr-FR" altLang="fr-FR" sz="2000" i="1"/>
              <a:t>F</a:t>
            </a:r>
            <a:r>
              <a:rPr lang="fr-FR" altLang="fr-FR" sz="2000"/>
              <a:t>, nécessite </a:t>
            </a:r>
            <a:r>
              <a:rPr lang="el-GR" altLang="fr-FR" sz="2000"/>
              <a:t>β</a:t>
            </a:r>
            <a:r>
              <a:rPr lang="fr-FR" altLang="fr-FR" sz="2000"/>
              <a:t> &lt; e</a:t>
            </a:r>
            <a:r>
              <a:rPr lang="fr-FR" altLang="fr-FR" sz="2000" baseline="30000"/>
              <a:t>2</a:t>
            </a:r>
            <a:r>
              <a:rPr lang="el-GR" altLang="fr-FR" sz="2000" baseline="30000"/>
              <a:t>α</a:t>
            </a:r>
            <a:r>
              <a:rPr lang="fr-FR" altLang="fr-FR" sz="2000"/>
              <a:t>, pour l’ajustement exponentiel et est assurée pour les autres ajustements.</a:t>
            </a:r>
            <a:endParaRPr lang="el-GR" altLang="fr-FR" sz="2000" baseline="30000"/>
          </a:p>
        </p:txBody>
      </p:sp>
      <p:sp>
        <p:nvSpPr>
          <p:cNvPr id="31749" name="Rectangle 5"/>
          <p:cNvSpPr>
            <a:spLocks noChangeArrowheads="1"/>
          </p:cNvSpPr>
          <p:nvPr/>
        </p:nvSpPr>
        <p:spPr bwMode="auto">
          <a:xfrm>
            <a:off x="395288" y="1989138"/>
            <a:ext cx="3305175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fr-FR" sz="2000" i="1"/>
              <a:t>Donc â(T)</a:t>
            </a:r>
            <a:r>
              <a:rPr lang="fr-FR" altLang="fr-FR" sz="2000"/>
              <a:t> = M</a:t>
            </a:r>
            <a:r>
              <a:rPr lang="fr-FR" altLang="fr-FR" sz="2000" baseline="30000"/>
              <a:t>-1</a:t>
            </a:r>
            <a:r>
              <a:rPr lang="fr-FR" altLang="fr-FR" sz="2000"/>
              <a:t>F’Ωy, avec  </a:t>
            </a:r>
          </a:p>
        </p:txBody>
      </p:sp>
      <p:graphicFrame>
        <p:nvGraphicFramePr>
          <p:cNvPr id="31750" name="Object 6"/>
          <p:cNvGraphicFramePr>
            <a:graphicFrameLocks noChangeAspect="1"/>
          </p:cNvGraphicFramePr>
          <p:nvPr/>
        </p:nvGraphicFramePr>
        <p:xfrm>
          <a:off x="3752850" y="1773238"/>
          <a:ext cx="2824163" cy="784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4330" name="Équation" r:id="rId5" imgW="1600200" imgH="444500" progId="Equation.3">
                  <p:embed/>
                </p:oleObj>
              </mc:Choice>
              <mc:Fallback>
                <p:oleObj name="Équation" r:id="rId5" imgW="1600200" imgH="444500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52850" y="1773238"/>
                        <a:ext cx="2824163" cy="7842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1751" name="Text Box 8"/>
          <p:cNvSpPr txBox="1">
            <a:spLocks noChangeArrowheads="1"/>
          </p:cNvSpPr>
          <p:nvPr/>
        </p:nvSpPr>
        <p:spPr bwMode="auto">
          <a:xfrm>
            <a:off x="468313" y="2852738"/>
            <a:ext cx="8135937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fr-FR" altLang="fr-FR" sz="2000"/>
              <a:t>Equation de mise à jour de â(T) = M</a:t>
            </a:r>
            <a:r>
              <a:rPr lang="fr-FR" altLang="fr-FR" sz="2000" baseline="30000"/>
              <a:t>-1</a:t>
            </a:r>
            <a:r>
              <a:rPr lang="fr-FR" altLang="fr-FR" sz="2000"/>
              <a:t>Z(T)</a:t>
            </a:r>
          </a:p>
        </p:txBody>
      </p:sp>
      <p:graphicFrame>
        <p:nvGraphicFramePr>
          <p:cNvPr id="31752" name="Object 9"/>
          <p:cNvGraphicFramePr>
            <a:graphicFrameLocks noChangeAspect="1"/>
          </p:cNvGraphicFramePr>
          <p:nvPr/>
        </p:nvGraphicFramePr>
        <p:xfrm>
          <a:off x="901700" y="3284538"/>
          <a:ext cx="5735638" cy="784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4331" name="Équation" r:id="rId7" imgW="3251200" imgH="444500" progId="Equation.3">
                  <p:embed/>
                </p:oleObj>
              </mc:Choice>
              <mc:Fallback>
                <p:oleObj name="Équation" r:id="rId7" imgW="3251200" imgH="444500" progId="Equation.3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01700" y="3284538"/>
                        <a:ext cx="5735638" cy="7842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1753" name="Object 10"/>
          <p:cNvGraphicFramePr>
            <a:graphicFrameLocks noChangeAspect="1"/>
          </p:cNvGraphicFramePr>
          <p:nvPr/>
        </p:nvGraphicFramePr>
        <p:xfrm>
          <a:off x="1071563" y="4149725"/>
          <a:ext cx="4257675" cy="762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4332" name="Équation" r:id="rId9" imgW="2413000" imgH="431800" progId="Equation.3">
                  <p:embed/>
                </p:oleObj>
              </mc:Choice>
              <mc:Fallback>
                <p:oleObj name="Équation" r:id="rId9" imgW="2413000" imgH="431800" progId="Equation.3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71563" y="4149725"/>
                        <a:ext cx="4257675" cy="762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1754" name="Object 11"/>
          <p:cNvGraphicFramePr>
            <a:graphicFrameLocks noChangeAspect="1"/>
          </p:cNvGraphicFramePr>
          <p:nvPr/>
        </p:nvGraphicFramePr>
        <p:xfrm>
          <a:off x="1071563" y="4941888"/>
          <a:ext cx="4279900" cy="762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4333" name="Équation" r:id="rId11" imgW="2425700" imgH="431800" progId="Equation.3">
                  <p:embed/>
                </p:oleObj>
              </mc:Choice>
              <mc:Fallback>
                <p:oleObj name="Équation" r:id="rId11" imgW="2425700" imgH="431800" progId="Equation.3">
                  <p:embed/>
                  <p:pic>
                    <p:nvPicPr>
                      <p:cNvPr id="0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71563" y="4941888"/>
                        <a:ext cx="4279900" cy="762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1755" name="Text Box 12"/>
          <p:cNvSpPr txBox="1">
            <a:spLocks noChangeArrowheads="1"/>
          </p:cNvSpPr>
          <p:nvPr/>
        </p:nvSpPr>
        <p:spPr bwMode="auto">
          <a:xfrm>
            <a:off x="7056438" y="3429000"/>
            <a:ext cx="2195512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fr-FR" altLang="fr-FR" sz="2000"/>
              <a:t>j = i + 1</a:t>
            </a:r>
          </a:p>
        </p:txBody>
      </p:sp>
      <p:graphicFrame>
        <p:nvGraphicFramePr>
          <p:cNvPr id="31756" name="Object 13"/>
          <p:cNvGraphicFramePr>
            <a:graphicFrameLocks noChangeAspect="1"/>
          </p:cNvGraphicFramePr>
          <p:nvPr/>
        </p:nvGraphicFramePr>
        <p:xfrm>
          <a:off x="1376363" y="5949950"/>
          <a:ext cx="3362325" cy="403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4334" name="Équation" r:id="rId13" imgW="1905000" imgH="228600" progId="Equation.3">
                  <p:embed/>
                </p:oleObj>
              </mc:Choice>
              <mc:Fallback>
                <p:oleObj name="Équation" r:id="rId13" imgW="1905000" imgH="228600" progId="Equation.3">
                  <p:embed/>
                  <p:pic>
                    <p:nvPicPr>
                      <p:cNvPr id="0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76363" y="5949950"/>
                        <a:ext cx="3362325" cy="4032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2770" name="Object 2"/>
          <p:cNvGraphicFramePr>
            <a:graphicFrameLocks noChangeAspect="1"/>
          </p:cNvGraphicFramePr>
          <p:nvPr/>
        </p:nvGraphicFramePr>
        <p:xfrm>
          <a:off x="862013" y="404813"/>
          <a:ext cx="4214812" cy="403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210" name="Équation" r:id="rId3" imgW="2387600" imgH="228600" progId="Equation.3">
                  <p:embed/>
                </p:oleObj>
              </mc:Choice>
              <mc:Fallback>
                <p:oleObj name="Équation" r:id="rId3" imgW="2387600" imgH="228600" progId="Equation.3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62013" y="404813"/>
                        <a:ext cx="4214812" cy="4032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2771" name="Text Box 3"/>
          <p:cNvSpPr txBox="1">
            <a:spLocks noChangeArrowheads="1"/>
          </p:cNvSpPr>
          <p:nvPr/>
        </p:nvSpPr>
        <p:spPr bwMode="auto">
          <a:xfrm>
            <a:off x="1549400" y="1773238"/>
            <a:ext cx="41021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fr-FR" altLang="fr-FR" sz="2000"/>
              <a:t>avec g = M</a:t>
            </a:r>
            <a:r>
              <a:rPr lang="fr-FR" altLang="fr-FR" sz="2000" baseline="30000"/>
              <a:t>-1</a:t>
            </a:r>
            <a:r>
              <a:rPr lang="fr-FR" altLang="fr-FR" sz="2000"/>
              <a:t>f(0) et G = M</a:t>
            </a:r>
            <a:r>
              <a:rPr lang="fr-FR" altLang="fr-FR" sz="2000" baseline="30000"/>
              <a:t>-1</a:t>
            </a:r>
            <a:r>
              <a:rPr lang="el-GR" altLang="fr-FR" sz="2000"/>
              <a:t>β</a:t>
            </a:r>
            <a:r>
              <a:rPr lang="fr-FR" altLang="fr-FR" sz="2000"/>
              <a:t>A</a:t>
            </a:r>
            <a:r>
              <a:rPr lang="fr-FR" altLang="fr-FR" sz="2000" baseline="30000"/>
              <a:t>-1</a:t>
            </a:r>
            <a:r>
              <a:rPr lang="fr-FR" altLang="fr-FR" sz="2000"/>
              <a:t>M</a:t>
            </a:r>
            <a:endParaRPr lang="el-GR" altLang="fr-FR" sz="2000"/>
          </a:p>
        </p:txBody>
      </p:sp>
      <p:graphicFrame>
        <p:nvGraphicFramePr>
          <p:cNvPr id="32772" name="Object 4"/>
          <p:cNvGraphicFramePr>
            <a:graphicFrameLocks noChangeAspect="1"/>
          </p:cNvGraphicFramePr>
          <p:nvPr/>
        </p:nvGraphicFramePr>
        <p:xfrm>
          <a:off x="811213" y="1052513"/>
          <a:ext cx="6454775" cy="403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211" name="Équation" r:id="rId5" imgW="3657600" imgH="228600" progId="Equation.3">
                  <p:embed/>
                </p:oleObj>
              </mc:Choice>
              <mc:Fallback>
                <p:oleObj name="Équation" r:id="rId5" imgW="3657600" imgH="22860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11213" y="1052513"/>
                        <a:ext cx="6454775" cy="4032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2773" name="Text Box 5"/>
          <p:cNvSpPr txBox="1">
            <a:spLocks noChangeArrowheads="1"/>
          </p:cNvSpPr>
          <p:nvPr/>
        </p:nvSpPr>
        <p:spPr bwMode="auto">
          <a:xfrm>
            <a:off x="468313" y="2636838"/>
            <a:ext cx="7991475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fr-FR" altLang="fr-FR" sz="2000"/>
              <a:t>La prévision de Y</a:t>
            </a:r>
            <a:r>
              <a:rPr lang="fr-FR" altLang="fr-FR" sz="2000" baseline="-25000"/>
              <a:t>T+h</a:t>
            </a:r>
            <a:r>
              <a:rPr lang="fr-FR" altLang="fr-FR" sz="2000"/>
              <a:t> est f(h)’â(T)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3795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36623161"/>
              </p:ext>
            </p:extLst>
          </p:nvPr>
        </p:nvGraphicFramePr>
        <p:xfrm>
          <a:off x="600529" y="3356992"/>
          <a:ext cx="4549775" cy="22177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234" name="Équation" r:id="rId3" imgW="2705040" imgH="1320480" progId="Equation.3">
                  <p:embed/>
                </p:oleObj>
              </mc:Choice>
              <mc:Fallback>
                <p:oleObj name="Équation" r:id="rId3" imgW="2705040" imgH="1320480" progId="Equation.3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0529" y="3356992"/>
                        <a:ext cx="4549775" cy="22177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3796" name="Text Box 4"/>
          <p:cNvSpPr txBox="1">
            <a:spLocks noChangeArrowheads="1"/>
          </p:cNvSpPr>
          <p:nvPr/>
        </p:nvSpPr>
        <p:spPr bwMode="auto">
          <a:xfrm>
            <a:off x="539750" y="404813"/>
            <a:ext cx="7848600" cy="701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fr-FR" altLang="fr-FR" sz="2000"/>
              <a:t>Expression de la matrice M dans le cas d’un ajustement polynomial de degré 2</a:t>
            </a:r>
          </a:p>
        </p:txBody>
      </p:sp>
      <p:sp>
        <p:nvSpPr>
          <p:cNvPr id="33797" name="Text Box 6"/>
          <p:cNvSpPr txBox="1">
            <a:spLocks noChangeArrowheads="1"/>
          </p:cNvSpPr>
          <p:nvPr/>
        </p:nvSpPr>
        <p:spPr bwMode="auto">
          <a:xfrm>
            <a:off x="576944" y="1628800"/>
            <a:ext cx="8424863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fr-FR" altLang="fr-FR" sz="2000" smtClean="0"/>
              <a:t>f(j)’ </a:t>
            </a:r>
            <a:r>
              <a:rPr lang="fr-FR" altLang="fr-FR" sz="2000" dirty="0"/>
              <a:t>= [1  </a:t>
            </a:r>
            <a:r>
              <a:rPr lang="fr-FR" altLang="fr-FR" sz="2000" dirty="0" smtClean="0"/>
              <a:t>j  j(j-1</a:t>
            </a:r>
            <a:r>
              <a:rPr lang="fr-FR" altLang="fr-FR" sz="2000" dirty="0"/>
              <a:t>)/2]</a:t>
            </a:r>
          </a:p>
        </p:txBody>
      </p:sp>
      <p:graphicFrame>
        <p:nvGraphicFramePr>
          <p:cNvPr id="3" name="Obje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34417024"/>
              </p:ext>
            </p:extLst>
          </p:nvPr>
        </p:nvGraphicFramePr>
        <p:xfrm>
          <a:off x="912895" y="2405856"/>
          <a:ext cx="3894137" cy="7032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235" name="Équation" r:id="rId5" imgW="2476440" imgH="444240" progId="Equation.3">
                  <p:embed/>
                </p:oleObj>
              </mc:Choice>
              <mc:Fallback>
                <p:oleObj name="Équation" r:id="rId5" imgW="2476440" imgH="444240" progId="Equation.3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12895" y="2405856"/>
                        <a:ext cx="3894137" cy="7032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1"/>
          <p:cNvSpPr txBox="1"/>
          <p:nvPr/>
        </p:nvSpPr>
        <p:spPr>
          <a:xfrm>
            <a:off x="539552" y="476672"/>
            <a:ext cx="792088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 smtClean="0"/>
              <a:t>Modèle de lissage généralisé pour ajuster une série mensuelle</a:t>
            </a:r>
            <a:endParaRPr lang="fr-FR" b="1" dirty="0"/>
          </a:p>
        </p:txBody>
      </p:sp>
      <p:graphicFrame>
        <p:nvGraphicFramePr>
          <p:cNvPr id="3" name="Obje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8066700"/>
              </p:ext>
            </p:extLst>
          </p:nvPr>
        </p:nvGraphicFramePr>
        <p:xfrm>
          <a:off x="611560" y="1052809"/>
          <a:ext cx="2016224" cy="573032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034" name="Équation" r:id="rId3" imgW="1206360" imgH="3429000" progId="Equation.3">
                  <p:embed/>
                </p:oleObj>
              </mc:Choice>
              <mc:Fallback>
                <p:oleObj name="Équation" r:id="rId3" imgW="1206360" imgH="3429000" progId="Equation.3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611560" y="1052809"/>
                        <a:ext cx="2016224" cy="573032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4" name="ZoneTexte 3"/>
              <p:cNvSpPr txBox="1"/>
              <p:nvPr/>
            </p:nvSpPr>
            <p:spPr>
              <a:xfrm>
                <a:off x="3131840" y="1844824"/>
                <a:ext cx="5472608" cy="7078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fr-FR" dirty="0" smtClean="0"/>
                  <a:t>La matrice M est une matrice carrée d’ordre 14</a:t>
                </a:r>
              </a:p>
              <a:p>
                <a:r>
                  <a:rPr lang="fr-FR" dirty="0" smtClean="0"/>
                  <a:t>w = 2</a:t>
                </a:r>
                <a14:m>
                  <m:oMath xmlns:m="http://schemas.openxmlformats.org/officeDocument/2006/math">
                    <m:r>
                      <a:rPr lang="fr-FR" i="1" smtClean="0">
                        <a:latin typeface="Cambria Math"/>
                        <a:ea typeface="Cambria Math"/>
                      </a:rPr>
                      <m:t>𝜋</m:t>
                    </m:r>
                    <m:r>
                      <a:rPr lang="fr-FR" b="0" i="1" smtClean="0">
                        <a:latin typeface="Cambria Math"/>
                        <a:ea typeface="Cambria Math"/>
                      </a:rPr>
                      <m:t>/12</m:t>
                    </m:r>
                  </m:oMath>
                </a14:m>
                <a:endParaRPr lang="fr-FR" dirty="0"/>
              </a:p>
            </p:txBody>
          </p:sp>
        </mc:Choice>
        <mc:Fallback xmlns="">
          <p:sp>
            <p:nvSpPr>
              <p:cNvPr id="4" name="ZoneTexte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31840" y="1844824"/>
                <a:ext cx="5472608" cy="707886"/>
              </a:xfrm>
              <a:prstGeom prst="rect">
                <a:avLst/>
              </a:prstGeom>
              <a:blipFill rotWithShape="1">
                <a:blip r:embed="rId5"/>
                <a:stretch>
                  <a:fillRect l="-1226" t="-3448" r="-780" b="-15517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92916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t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63826104"/>
              </p:ext>
            </p:extLst>
          </p:nvPr>
        </p:nvGraphicFramePr>
        <p:xfrm>
          <a:off x="251520" y="1125538"/>
          <a:ext cx="4554537" cy="4968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250" name="Équation" r:id="rId3" imgW="3987720" imgH="3200400" progId="Equation.3">
                  <p:embed/>
                </p:oleObj>
              </mc:Choice>
              <mc:Fallback>
                <p:oleObj name="Équation" r:id="rId3" imgW="3987720" imgH="3200400" progId="Equation.3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51520" y="1125538"/>
                        <a:ext cx="4554537" cy="49688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ZoneTexte 2"/>
          <p:cNvSpPr txBox="1"/>
          <p:nvPr/>
        </p:nvSpPr>
        <p:spPr>
          <a:xfrm>
            <a:off x="323528" y="260648"/>
            <a:ext cx="741682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 smtClean="0"/>
              <a:t>Calcul de la matrice A</a:t>
            </a:r>
            <a:endParaRPr lang="fr-FR" dirty="0"/>
          </a:p>
        </p:txBody>
      </p:sp>
      <p:sp>
        <p:nvSpPr>
          <p:cNvPr id="4" name="ZoneTexte 3"/>
          <p:cNvSpPr txBox="1"/>
          <p:nvPr/>
        </p:nvSpPr>
        <p:spPr>
          <a:xfrm>
            <a:off x="5292080" y="1484784"/>
            <a:ext cx="331236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 smtClean="0"/>
              <a:t>a = cos(w) et b = sin(w)</a:t>
            </a:r>
            <a:endParaRPr lang="fr-FR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ZoneTexte 4"/>
              <p:cNvSpPr txBox="1"/>
              <p:nvPr/>
            </p:nvSpPr>
            <p:spPr>
              <a:xfrm>
                <a:off x="5292080" y="2204864"/>
                <a:ext cx="3672408" cy="74751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fr-FR" dirty="0" smtClean="0"/>
                  <a:t>La matrice A vérifie : 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b="0" i="1" smtClean="0">
                          <a:latin typeface="Cambria Math"/>
                        </a:rPr>
                        <m:t>𝐴</m:t>
                      </m:r>
                      <m:d>
                        <m:dPr>
                          <m:ctrlPr>
                            <a:rPr lang="fr-FR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fr-FR" b="0" i="1" smtClean="0">
                              <a:latin typeface="Cambria Math"/>
                            </a:rPr>
                            <m:t>𝑓</m:t>
                          </m:r>
                          <m:d>
                            <m:dPr>
                              <m:ctrlPr>
                                <a:rPr lang="fr-FR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fr-FR" b="0" i="1" smtClean="0">
                                  <a:latin typeface="Cambria Math"/>
                                </a:rPr>
                                <m:t>𝑗</m:t>
                              </m:r>
                            </m:e>
                          </m:d>
                        </m:e>
                      </m:d>
                      <m:r>
                        <a:rPr lang="fr-FR" b="0" i="1" smtClean="0">
                          <a:latin typeface="Cambria Math"/>
                        </a:rPr>
                        <m:t>=</m:t>
                      </m:r>
                      <m:r>
                        <a:rPr lang="fr-FR" b="0" i="1" smtClean="0">
                          <a:latin typeface="Cambria Math"/>
                        </a:rPr>
                        <m:t>𝑓</m:t>
                      </m:r>
                      <m:d>
                        <m:dPr>
                          <m:ctrlPr>
                            <a:rPr lang="fr-FR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fr-FR" b="0" i="1" smtClean="0">
                              <a:latin typeface="Cambria Math"/>
                            </a:rPr>
                            <m:t>𝑗</m:t>
                          </m:r>
                          <m:r>
                            <a:rPr lang="fr-FR" b="0" i="1" smtClean="0">
                              <a:latin typeface="Cambria Math"/>
                            </a:rPr>
                            <m:t>+1</m:t>
                          </m:r>
                        </m:e>
                      </m:d>
                      <m:r>
                        <a:rPr lang="fr-FR" b="0" i="1" smtClean="0">
                          <a:latin typeface="Cambria Math"/>
                        </a:rPr>
                        <m:t>, </m:t>
                      </m:r>
                      <m:r>
                        <a:rPr lang="fr-FR" b="0" i="1" smtClean="0">
                          <a:latin typeface="Cambria Math"/>
                        </a:rPr>
                        <m:t>𝑗</m:t>
                      </m:r>
                      <m:r>
                        <a:rPr lang="fr-FR" b="0" i="1" smtClean="0">
                          <a:latin typeface="Cambria Math"/>
                        </a:rPr>
                        <m:t>=1,2, …</m:t>
                      </m:r>
                    </m:oMath>
                  </m:oMathPara>
                </a14:m>
                <a:endParaRPr lang="fr-FR" dirty="0"/>
              </a:p>
            </p:txBody>
          </p:sp>
        </mc:Choice>
        <mc:Fallback xmlns="">
          <p:sp>
            <p:nvSpPr>
              <p:cNvPr id="5" name="ZoneTexte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92080" y="2204864"/>
                <a:ext cx="3672408" cy="747512"/>
              </a:xfrm>
              <a:prstGeom prst="rect">
                <a:avLst/>
              </a:prstGeom>
              <a:blipFill rotWithShape="1">
                <a:blip r:embed="rId5"/>
                <a:stretch>
                  <a:fillRect l="-1658" t="-3279" b="-5738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6" name="Obje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86722195"/>
              </p:ext>
            </p:extLst>
          </p:nvPr>
        </p:nvGraphicFramePr>
        <p:xfrm>
          <a:off x="5004048" y="3501008"/>
          <a:ext cx="3894137" cy="7032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251" name="Équation" r:id="rId6" imgW="2476440" imgH="444240" progId="Equation.3">
                  <p:embed/>
                </p:oleObj>
              </mc:Choice>
              <mc:Fallback>
                <p:oleObj name="Équation" r:id="rId6" imgW="2476440" imgH="4442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04048" y="3501008"/>
                        <a:ext cx="3894137" cy="7032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5849734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1"/>
          <p:cNvSpPr txBox="1"/>
          <p:nvPr/>
        </p:nvSpPr>
        <p:spPr>
          <a:xfrm>
            <a:off x="179512" y="724634"/>
            <a:ext cx="792088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 smtClean="0"/>
              <a:t>Tableau de sélection du modèle  de prévision</a:t>
            </a:r>
            <a:endParaRPr lang="fr-FR" dirty="0"/>
          </a:p>
        </p:txBody>
      </p:sp>
      <p:graphicFrame>
        <p:nvGraphicFramePr>
          <p:cNvPr id="3" name="Tableau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64267107"/>
              </p:ext>
            </p:extLst>
          </p:nvPr>
        </p:nvGraphicFramePr>
        <p:xfrm>
          <a:off x="1524000" y="1341864"/>
          <a:ext cx="6096000" cy="3383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fr-FR" sz="20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Cas</a:t>
                      </a:r>
                      <a:endParaRPr lang="fr-FR" sz="20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fr-FR" sz="20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Série ayant</a:t>
                      </a:r>
                      <a:r>
                        <a:rPr lang="fr-FR" sz="2000" baseline="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la plus petite variance</a:t>
                      </a:r>
                      <a:endParaRPr lang="fr-FR" sz="20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fr-FR" sz="20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Modèle</a:t>
                      </a:r>
                      <a:endParaRPr lang="fr-FR" sz="20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fr-FR" sz="20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</a:t>
                      </a:r>
                      <a:endParaRPr lang="fr-FR" sz="20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fr-FR" sz="2000" dirty="0" err="1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X</a:t>
                      </a:r>
                      <a:r>
                        <a:rPr lang="fr-FR" sz="2000" baseline="-25000" dirty="0" err="1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</a:t>
                      </a:r>
                      <a:endParaRPr lang="fr-FR" sz="20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fr-FR" sz="20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Lissage simple</a:t>
                      </a:r>
                      <a:endParaRPr lang="fr-FR" sz="20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fr-FR" sz="20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</a:t>
                      </a:r>
                      <a:endParaRPr lang="fr-FR" sz="20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fr-FR" sz="20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(1-B)</a:t>
                      </a:r>
                      <a:r>
                        <a:rPr lang="fr-FR" sz="2000" dirty="0" err="1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X</a:t>
                      </a:r>
                      <a:r>
                        <a:rPr lang="fr-FR" sz="2000" baseline="-25000" dirty="0" err="1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</a:t>
                      </a:r>
                      <a:endParaRPr lang="fr-FR" sz="20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fr-FR" sz="20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DA-N</a:t>
                      </a:r>
                      <a:endParaRPr lang="fr-FR" sz="20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fr-FR" sz="20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</a:t>
                      </a:r>
                      <a:endParaRPr lang="fr-FR" sz="20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fr-FR" sz="20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(1-B)</a:t>
                      </a:r>
                      <a:r>
                        <a:rPr lang="fr-FR" sz="2000" baseline="300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  <a:r>
                        <a:rPr lang="fr-FR" sz="2000" baseline="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X</a:t>
                      </a:r>
                      <a:r>
                        <a:rPr lang="fr-FR" sz="2000" baseline="-250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</a:t>
                      </a:r>
                      <a:endParaRPr lang="fr-FR" sz="20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fr-FR" sz="20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Lissage de Holt</a:t>
                      </a:r>
                      <a:endParaRPr lang="fr-FR" sz="20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fr-FR" sz="20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</a:t>
                      </a:r>
                      <a:endParaRPr lang="fr-FR" sz="20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fr-FR" sz="20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(1-B</a:t>
                      </a:r>
                      <a:r>
                        <a:rPr lang="fr-FR" sz="2000" baseline="300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</a:t>
                      </a:r>
                      <a:r>
                        <a:rPr lang="fr-FR" sz="2000" baseline="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)</a:t>
                      </a:r>
                      <a:r>
                        <a:rPr lang="fr-FR" sz="2000" baseline="0" dirty="0" err="1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X</a:t>
                      </a:r>
                      <a:r>
                        <a:rPr lang="fr-FR" sz="2000" baseline="-25000" dirty="0" err="1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</a:t>
                      </a:r>
                      <a:endParaRPr lang="fr-FR" sz="20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fr-FR" sz="20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N-M</a:t>
                      </a:r>
                      <a:endParaRPr lang="fr-FR" sz="20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fr-FR" sz="20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</a:t>
                      </a:r>
                      <a:endParaRPr lang="fr-FR" sz="20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fr-FR" sz="20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(1-B)(1-B</a:t>
                      </a:r>
                      <a:r>
                        <a:rPr lang="fr-FR" sz="2000" baseline="300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</a:t>
                      </a:r>
                      <a:r>
                        <a:rPr lang="fr-FR" sz="2000" baseline="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)</a:t>
                      </a:r>
                      <a:r>
                        <a:rPr lang="fr-FR" sz="2000" baseline="0" dirty="0" err="1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X</a:t>
                      </a:r>
                      <a:r>
                        <a:rPr lang="fr-FR" sz="2000" baseline="-25000" dirty="0" err="1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</a:t>
                      </a:r>
                      <a:endParaRPr lang="fr-FR" sz="20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fr-FR" sz="20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DA-M</a:t>
                      </a:r>
                      <a:endParaRPr lang="fr-FR" sz="20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fr-FR" sz="20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</a:t>
                      </a:r>
                      <a:endParaRPr lang="fr-FR" sz="20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fr-FR" sz="20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(1-B</a:t>
                      </a:r>
                      <a:r>
                        <a:rPr lang="fr-FR" sz="2000" baseline="300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  <a:r>
                        <a:rPr lang="fr-FR" sz="2000" baseline="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)(1-B</a:t>
                      </a:r>
                      <a:r>
                        <a:rPr lang="fr-FR" sz="2000" baseline="300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</a:t>
                      </a:r>
                      <a:r>
                        <a:rPr lang="fr-FR" sz="2000" baseline="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)</a:t>
                      </a:r>
                      <a:r>
                        <a:rPr lang="fr-FR" sz="2000" baseline="0" dirty="0" err="1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X</a:t>
                      </a:r>
                      <a:r>
                        <a:rPr lang="fr-FR" sz="2000" baseline="-25000" dirty="0" err="1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</a:t>
                      </a:r>
                      <a:endParaRPr lang="fr-FR" sz="20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fr-FR" sz="20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H-W multiplicatif</a:t>
                      </a:r>
                      <a:endParaRPr lang="fr-FR" sz="20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4" name="ZoneTexte 3"/>
          <p:cNvSpPr txBox="1"/>
          <p:nvPr/>
        </p:nvSpPr>
        <p:spPr>
          <a:xfrm>
            <a:off x="611560" y="4941168"/>
            <a:ext cx="662473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 err="1" smtClean="0"/>
              <a:t>BX</a:t>
            </a:r>
            <a:r>
              <a:rPr lang="fr-FR" baseline="-25000" dirty="0" err="1" smtClean="0"/>
              <a:t>t</a:t>
            </a:r>
            <a:r>
              <a:rPr lang="fr-FR" dirty="0"/>
              <a:t> </a:t>
            </a:r>
            <a:r>
              <a:rPr lang="fr-FR" dirty="0" smtClean="0"/>
              <a:t>= X</a:t>
            </a:r>
            <a:r>
              <a:rPr lang="fr-FR" baseline="-25000" dirty="0" smtClean="0"/>
              <a:t>t-1</a:t>
            </a:r>
            <a:r>
              <a:rPr lang="fr-FR" dirty="0"/>
              <a:t>,</a:t>
            </a:r>
            <a:r>
              <a:rPr lang="fr-FR" baseline="-25000" dirty="0" smtClean="0"/>
              <a:t> </a:t>
            </a:r>
            <a:r>
              <a:rPr lang="fr-FR" dirty="0" smtClean="0"/>
              <a:t>B</a:t>
            </a:r>
            <a:r>
              <a:rPr lang="fr-FR" baseline="30000" dirty="0" smtClean="0"/>
              <a:t>2</a:t>
            </a:r>
            <a:r>
              <a:rPr lang="fr-FR" dirty="0" smtClean="0"/>
              <a:t>X</a:t>
            </a:r>
            <a:r>
              <a:rPr lang="fr-FR" baseline="-25000" dirty="0" smtClean="0"/>
              <a:t>t</a:t>
            </a:r>
            <a:r>
              <a:rPr lang="fr-FR" dirty="0" smtClean="0"/>
              <a:t> = X</a:t>
            </a:r>
            <a:r>
              <a:rPr lang="fr-FR" baseline="-25000" dirty="0" smtClean="0"/>
              <a:t>t-2</a:t>
            </a:r>
            <a:r>
              <a:rPr lang="fr-FR" dirty="0" smtClean="0"/>
              <a:t>, </a:t>
            </a:r>
            <a:r>
              <a:rPr lang="fr-FR" dirty="0" err="1" smtClean="0"/>
              <a:t>B</a:t>
            </a:r>
            <a:r>
              <a:rPr lang="fr-FR" baseline="30000" dirty="0" err="1" smtClean="0"/>
              <a:t>s</a:t>
            </a:r>
            <a:r>
              <a:rPr lang="fr-FR" dirty="0" err="1" smtClean="0"/>
              <a:t>X</a:t>
            </a:r>
            <a:r>
              <a:rPr lang="fr-FR" baseline="-25000" dirty="0" err="1" smtClean="0"/>
              <a:t>t</a:t>
            </a:r>
            <a:r>
              <a:rPr lang="fr-FR" dirty="0" smtClean="0"/>
              <a:t> = </a:t>
            </a:r>
            <a:r>
              <a:rPr lang="fr-FR" dirty="0" err="1" smtClean="0"/>
              <a:t>X</a:t>
            </a:r>
            <a:r>
              <a:rPr lang="fr-FR" baseline="-25000" dirty="0" err="1" smtClean="0"/>
              <a:t>t</a:t>
            </a:r>
            <a:r>
              <a:rPr lang="fr-FR" baseline="-25000" dirty="0" smtClean="0"/>
              <a:t>-s</a:t>
            </a:r>
            <a:endParaRPr lang="fr-FR" dirty="0"/>
          </a:p>
        </p:txBody>
      </p:sp>
      <p:sp>
        <p:nvSpPr>
          <p:cNvPr id="5" name="Text Box 9"/>
          <p:cNvSpPr txBox="1">
            <a:spLocks noChangeArrowheads="1"/>
          </p:cNvSpPr>
          <p:nvPr/>
        </p:nvSpPr>
        <p:spPr bwMode="auto">
          <a:xfrm>
            <a:off x="611560" y="5516563"/>
            <a:ext cx="7056437" cy="8540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fr-FR" altLang="fr-FR" sz="2000" dirty="0"/>
              <a:t>s : La période de la composante saisonnière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fr-FR" altLang="fr-FR" sz="2000"/>
              <a:t>    (s = 12 données mensuelles, s = 4 données </a:t>
            </a:r>
            <a:r>
              <a:rPr lang="fr-FR" altLang="fr-FR" sz="2000" smtClean="0"/>
              <a:t>trimestrielles)</a:t>
            </a:r>
            <a:endParaRPr lang="fr-FR" altLang="fr-FR" sz="2000"/>
          </a:p>
        </p:txBody>
      </p:sp>
      <p:sp>
        <p:nvSpPr>
          <p:cNvPr id="6" name="ZoneTexte 5"/>
          <p:cNvSpPr txBox="1"/>
          <p:nvPr/>
        </p:nvSpPr>
        <p:spPr>
          <a:xfrm>
            <a:off x="179512" y="260648"/>
            <a:ext cx="828092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 smtClean="0"/>
              <a:t>Les modèles de Gardner</a:t>
            </a:r>
            <a:endParaRPr lang="fr-FR" b="1" dirty="0"/>
          </a:p>
        </p:txBody>
      </p:sp>
    </p:spTree>
    <p:extLst>
      <p:ext uri="{BB962C8B-B14F-4D97-AF65-F5344CB8AC3E}">
        <p14:creationId xmlns:p14="http://schemas.microsoft.com/office/powerpoint/2010/main" val="13303289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ZoneTexte 1"/>
              <p:cNvSpPr txBox="1"/>
              <p:nvPr/>
            </p:nvSpPr>
            <p:spPr>
              <a:xfrm>
                <a:off x="251520" y="188640"/>
                <a:ext cx="8640960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d>
                      <m:dPr>
                        <m:ctrlPr>
                          <a:rPr lang="fr-FR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fr-FR" b="0" i="1" smtClean="0">
                            <a:latin typeface="Cambria Math" panose="02040503050406030204" pitchFamily="18" charset="0"/>
                          </a:rPr>
                          <m:t>1−</m:t>
                        </m:r>
                        <m:r>
                          <a:rPr lang="fr-FR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</m:d>
                    <m:sSub>
                      <m:sSubPr>
                        <m:ctrlPr>
                          <a:rPr lang="fr-FR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fr-FR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fr-FR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fr-FR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fr-FR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fr-FR" b="0" i="1" smtClean="0"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fr-FR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fr-FR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fr-FR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sub>
                    </m:sSub>
                  </m:oMath>
                </a14:m>
                <a:r>
                  <a:rPr lang="fr-FR" dirty="0" smtClean="0"/>
                  <a:t> </a:t>
                </a:r>
                <a:endParaRPr lang="fr-FR" dirty="0"/>
              </a:p>
            </p:txBody>
          </p:sp>
        </mc:Choice>
        <mc:Fallback xmlns="">
          <p:sp>
            <p:nvSpPr>
              <p:cNvPr id="2" name="ZoneTexte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1520" y="188640"/>
                <a:ext cx="8640960" cy="400110"/>
              </a:xfrm>
              <a:prstGeom prst="rect">
                <a:avLst/>
              </a:prstGeom>
              <a:blipFill rotWithShape="0">
                <a:blip r:embed="rId2"/>
                <a:stretch>
                  <a:fillRect b="-1515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ZoneTexte 2"/>
              <p:cNvSpPr txBox="1"/>
              <p:nvPr/>
            </p:nvSpPr>
            <p:spPr>
              <a:xfrm>
                <a:off x="179512" y="796642"/>
                <a:ext cx="8640960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sSup>
                      <m:sSupPr>
                        <m:ctrlPr>
                          <a:rPr lang="fr-FR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fr-FR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fr-FR" i="1">
                                <a:latin typeface="Cambria Math" panose="02040503050406030204" pitchFamily="18" charset="0"/>
                              </a:rPr>
                              <m:t>1−</m:t>
                            </m:r>
                            <m:r>
                              <a:rPr lang="fr-FR" i="1">
                                <a:latin typeface="Cambria Math" panose="02040503050406030204" pitchFamily="18" charset="0"/>
                              </a:rPr>
                              <m:t>𝐵</m:t>
                            </m:r>
                          </m:e>
                        </m:d>
                      </m:e>
                      <m:sup>
                        <m:r>
                          <a:rPr lang="fr-FR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sSub>
                      <m:sSubPr>
                        <m:ctrlPr>
                          <a:rPr lang="fr-FR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fr-FR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fr-FR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fr-FR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fr-FR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fr-FR" b="0" i="1" smtClean="0"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fr-FR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b="0" i="1" smtClean="0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fr-FR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fr-FR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fr-FR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sub>
                    </m:sSub>
                    <m:r>
                      <a:rPr lang="fr-FR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fr-FR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fr-FR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fr-FR" b="0" i="1" smtClean="0">
                            <a:latin typeface="Cambria Math" panose="02040503050406030204" pitchFamily="18" charset="0"/>
                          </a:rPr>
                          <m:t>−2</m:t>
                        </m:r>
                      </m:sub>
                    </m:sSub>
                  </m:oMath>
                </a14:m>
                <a:r>
                  <a:rPr lang="fr-FR" dirty="0" smtClean="0"/>
                  <a:t> </a:t>
                </a:r>
                <a:endParaRPr lang="fr-FR" dirty="0"/>
              </a:p>
            </p:txBody>
          </p:sp>
        </mc:Choice>
        <mc:Fallback xmlns="">
          <p:sp>
            <p:nvSpPr>
              <p:cNvPr id="3" name="ZoneTexte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9512" y="796642"/>
                <a:ext cx="8640960" cy="400110"/>
              </a:xfrm>
              <a:prstGeom prst="rect">
                <a:avLst/>
              </a:prstGeom>
              <a:blipFill rotWithShape="0">
                <a:blip r:embed="rId3"/>
                <a:stretch>
                  <a:fillRect b="-4615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ZoneTexte 3"/>
              <p:cNvSpPr txBox="1"/>
              <p:nvPr/>
            </p:nvSpPr>
            <p:spPr>
              <a:xfrm>
                <a:off x="251520" y="1484784"/>
                <a:ext cx="7920880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d>
                      <m:dPr>
                        <m:ctrlPr>
                          <a:rPr lang="fr-FR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fr-FR" b="0" i="1" smtClean="0">
                            <a:latin typeface="Cambria Math" panose="02040503050406030204" pitchFamily="18" charset="0"/>
                          </a:rPr>
                          <m:t>1−</m:t>
                        </m:r>
                        <m:sSup>
                          <m:sSupPr>
                            <m:ctrlPr>
                              <a:rPr lang="fr-FR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fr-FR" b="0" i="1" smtClean="0">
                                <a:latin typeface="Cambria Math" panose="02040503050406030204" pitchFamily="18" charset="0"/>
                              </a:rPr>
                              <m:t>𝐵</m:t>
                            </m:r>
                          </m:e>
                          <m:sup>
                            <m:r>
                              <a:rPr lang="fr-FR" b="0" i="1" smtClean="0">
                                <a:latin typeface="Cambria Math" panose="02040503050406030204" pitchFamily="18" charset="0"/>
                              </a:rPr>
                              <m:t>𝑠</m:t>
                            </m:r>
                          </m:sup>
                        </m:sSup>
                      </m:e>
                    </m:d>
                    <m:sSub>
                      <m:sSubPr>
                        <m:ctrlPr>
                          <a:rPr lang="fr-FR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fr-FR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fr-FR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fr-FR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fr-FR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fr-FR" b="0" i="1" smtClean="0"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fr-FR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fr-FR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fr-FR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fr-FR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sub>
                    </m:sSub>
                  </m:oMath>
                </a14:m>
                <a:r>
                  <a:rPr lang="fr-FR" dirty="0" smtClean="0"/>
                  <a:t> </a:t>
                </a:r>
                <a:endParaRPr lang="fr-FR" dirty="0"/>
              </a:p>
            </p:txBody>
          </p:sp>
        </mc:Choice>
        <mc:Fallback xmlns="">
          <p:sp>
            <p:nvSpPr>
              <p:cNvPr id="4" name="ZoneTexte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1520" y="1484784"/>
                <a:ext cx="7920880" cy="400110"/>
              </a:xfrm>
              <a:prstGeom prst="rect">
                <a:avLst/>
              </a:prstGeom>
              <a:blipFill rotWithShape="0">
                <a:blip r:embed="rId4"/>
                <a:stretch>
                  <a:fillRect b="-3077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ZoneTexte 5"/>
              <p:cNvSpPr txBox="1"/>
              <p:nvPr/>
            </p:nvSpPr>
            <p:spPr>
              <a:xfrm>
                <a:off x="179512" y="2020778"/>
                <a:ext cx="8280920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fr-FR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1−</m:t>
                          </m:r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</m:d>
                      <m:d>
                        <m:dPr>
                          <m:ctrlPr>
                            <a:rPr lang="fr-FR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1−</m:t>
                          </m:r>
                          <m:sSup>
                            <m:sSupPr>
                              <m:ctrlPr>
                                <a:rPr lang="fr-FR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fr-FR" b="0" i="1" smtClean="0"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e>
                            <m:sup>
                              <m:r>
                                <a:rPr lang="fr-FR" b="0" i="1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sup>
                          </m:sSup>
                        </m:e>
                      </m:d>
                      <m:sSub>
                        <m:sSubPr>
                          <m:ctrlPr>
                            <a:rPr lang="fr-FR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fr-FR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1−</m:t>
                          </m:r>
                          <m:sSup>
                            <m:sSupPr>
                              <m:ctrlPr>
                                <a:rPr lang="fr-FR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fr-FR" b="0" i="1" smtClean="0"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e>
                            <m:sup>
                              <m:r>
                                <a:rPr lang="fr-FR" b="0" i="1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sup>
                          </m:sSup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𝐵</m:t>
                          </m:r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fr-FR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fr-FR" b="0" i="1" smtClean="0"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e>
                            <m:sup>
                              <m:r>
                                <a:rPr lang="fr-FR" b="0" i="1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  <m:r>
                                <a:rPr lang="fr-FR" b="0" i="1" smtClean="0">
                                  <a:latin typeface="Cambria Math" panose="02040503050406030204" pitchFamily="18" charset="0"/>
                                </a:rPr>
                                <m:t>+1</m:t>
                              </m:r>
                            </m:sup>
                          </m:sSup>
                        </m:e>
                      </m:d>
                      <m:sSub>
                        <m:sSubPr>
                          <m:ctrlPr>
                            <a:rPr lang="fr-FR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fr-FR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fr-FR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sub>
                      </m:sSub>
                      <m:r>
                        <a:rPr lang="fr-FR" b="0" i="0" smtClean="0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fr-FR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sub>
                      </m:sSub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fr-FR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sub>
                      </m:sSub>
                    </m:oMath>
                  </m:oMathPara>
                </a14:m>
                <a:endParaRPr lang="fr-FR" dirty="0"/>
              </a:p>
            </p:txBody>
          </p:sp>
        </mc:Choice>
        <mc:Fallback xmlns="">
          <p:sp>
            <p:nvSpPr>
              <p:cNvPr id="6" name="ZoneTexte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9512" y="2020778"/>
                <a:ext cx="8280920" cy="400110"/>
              </a:xfrm>
              <a:prstGeom prst="rect">
                <a:avLst/>
              </a:prstGeom>
              <a:blipFill rotWithShape="0">
                <a:blip r:embed="rId5"/>
                <a:stretch>
                  <a:fillRect b="-3030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ZoneTexte 6"/>
              <p:cNvSpPr txBox="1"/>
              <p:nvPr/>
            </p:nvSpPr>
            <p:spPr>
              <a:xfrm>
                <a:off x="107504" y="2668850"/>
                <a:ext cx="856056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fr-FR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1−</m:t>
                          </m:r>
                          <m:sSup>
                            <m:sSupPr>
                              <m:ctrlPr>
                                <a:rPr lang="fr-FR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fr-FR" b="0" i="1" smtClean="0"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e>
                            <m:sup>
                              <m:r>
                                <a:rPr lang="fr-FR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d>
                      <m:d>
                        <m:dPr>
                          <m:ctrlPr>
                            <a:rPr lang="fr-FR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1−</m:t>
                          </m:r>
                          <m:sSup>
                            <m:sSupPr>
                              <m:ctrlPr>
                                <a:rPr lang="fr-FR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fr-FR" b="0" i="1" smtClean="0"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e>
                            <m:sup>
                              <m:r>
                                <a:rPr lang="fr-FR" b="0" i="1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sup>
                          </m:sSup>
                        </m:e>
                      </m:d>
                      <m:sSub>
                        <m:sSubPr>
                          <m:ctrlPr>
                            <a:rPr lang="fr-FR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fr-FR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1−</m:t>
                          </m:r>
                          <m:sSup>
                            <m:sSupPr>
                              <m:ctrlPr>
                                <a:rPr lang="fr-FR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fr-FR" b="0" i="1" smtClean="0"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e>
                            <m:sup>
                              <m:r>
                                <a:rPr lang="fr-FR" b="0" i="1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sup>
                          </m:sSup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p>
                            <m:sSupPr>
                              <m:ctrlPr>
                                <a:rPr lang="fr-FR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fr-FR" b="0" i="1" smtClean="0"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e>
                            <m:sup>
                              <m:r>
                                <a:rPr lang="fr-FR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fr-FR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fr-FR" b="0" i="1" smtClean="0"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e>
                            <m:sup>
                              <m:r>
                                <a:rPr lang="fr-FR" b="0" i="1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  <m:r>
                                <a:rPr lang="fr-FR" b="0" i="1" smtClean="0">
                                  <a:latin typeface="Cambria Math" panose="02040503050406030204" pitchFamily="18" charset="0"/>
                                </a:rPr>
                                <m:t>+2</m:t>
                              </m:r>
                            </m:sup>
                          </m:sSup>
                        </m:e>
                      </m:d>
                      <m:sSub>
                        <m:sSubPr>
                          <m:ctrlPr>
                            <a:rPr lang="fr-FR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fr-FR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fr-FR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sub>
                      </m:sSub>
                      <m:r>
                        <a:rPr lang="fr-FR" b="0" i="0" smtClean="0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fr-FR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−2</m:t>
                          </m:r>
                        </m:sub>
                      </m:sSub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fr-FR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−2</m:t>
                          </m:r>
                        </m:sub>
                      </m:sSub>
                    </m:oMath>
                  </m:oMathPara>
                </a14:m>
                <a:endParaRPr lang="fr-FR" dirty="0"/>
              </a:p>
            </p:txBody>
          </p:sp>
        </mc:Choice>
        <mc:Fallback xmlns="">
          <p:sp>
            <p:nvSpPr>
              <p:cNvPr id="7" name="ZoneTexte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7504" y="2668850"/>
                <a:ext cx="8560568" cy="400110"/>
              </a:xfrm>
              <a:prstGeom prst="rect">
                <a:avLst/>
              </a:prstGeom>
              <a:blipFill rotWithShape="0">
                <a:blip r:embed="rId6"/>
                <a:stretch>
                  <a:fillRect b="-4615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202173092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1"/>
          <p:cNvSpPr txBox="1"/>
          <p:nvPr/>
        </p:nvSpPr>
        <p:spPr>
          <a:xfrm>
            <a:off x="395536" y="260648"/>
            <a:ext cx="806489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 smtClean="0">
                <a:latin typeface="Arial" panose="020B0604020202020204" pitchFamily="34" charset="0"/>
                <a:cs typeface="Arial" panose="020B0604020202020204" pitchFamily="34" charset="0"/>
              </a:rPr>
              <a:t>Le modèle DA-N : </a:t>
            </a:r>
            <a:r>
              <a:rPr lang="fr-FR" dirty="0" err="1" smtClean="0">
                <a:latin typeface="Arial" panose="020B0604020202020204" pitchFamily="34" charset="0"/>
                <a:cs typeface="Arial" panose="020B0604020202020204" pitchFamily="34" charset="0"/>
              </a:rPr>
              <a:t>damped</a:t>
            </a:r>
            <a:r>
              <a:rPr lang="fr-FR" dirty="0" smtClean="0">
                <a:latin typeface="Arial" panose="020B0604020202020204" pitchFamily="34" charset="0"/>
                <a:cs typeface="Arial" panose="020B0604020202020204" pitchFamily="34" charset="0"/>
              </a:rPr>
              <a:t> additive none</a:t>
            </a:r>
            <a:endParaRPr lang="fr-FR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ZoneTexte 2"/>
              <p:cNvSpPr txBox="1"/>
              <p:nvPr/>
            </p:nvSpPr>
            <p:spPr>
              <a:xfrm>
                <a:off x="539552" y="836713"/>
                <a:ext cx="4536504" cy="234904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b="0" i="1" smtClean="0">
                              <a:latin typeface="Cambria Math"/>
                            </a:rPr>
                            <m:t>𝑆</m:t>
                          </m:r>
                        </m:e>
                        <m:sub>
                          <m:r>
                            <a:rPr lang="fr-FR" b="0" i="1" smtClean="0">
                              <a:latin typeface="Cambria Math"/>
                            </a:rPr>
                            <m:t>𝑡</m:t>
                          </m:r>
                        </m:sub>
                      </m:sSub>
                      <m:r>
                        <a:rPr lang="fr-FR" b="0" i="1" smtClean="0">
                          <a:latin typeface="Cambria Math"/>
                        </a:rPr>
                        <m:t>=</m:t>
                      </m:r>
                      <m:r>
                        <a:rPr lang="fr-FR" b="0" i="1" smtClean="0">
                          <a:latin typeface="Cambria Math"/>
                          <a:ea typeface="Cambria Math"/>
                        </a:rPr>
                        <m:t>𝛼</m:t>
                      </m:r>
                      <m:sSub>
                        <m:sSubPr>
                          <m:ctrlPr>
                            <a:rPr lang="fr-FR" b="0" i="1" smtClean="0"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sSubPr>
                        <m:e>
                          <m:r>
                            <a:rPr lang="fr-FR" b="0" i="1" smtClean="0">
                              <a:latin typeface="Cambria Math"/>
                              <a:ea typeface="Cambria Math"/>
                            </a:rPr>
                            <m:t>𝑋</m:t>
                          </m:r>
                        </m:e>
                        <m:sub>
                          <m:r>
                            <a:rPr lang="fr-FR" b="0" i="1" smtClean="0">
                              <a:latin typeface="Cambria Math"/>
                              <a:ea typeface="Cambria Math"/>
                            </a:rPr>
                            <m:t>𝑡</m:t>
                          </m:r>
                        </m:sub>
                      </m:sSub>
                      <m:r>
                        <a:rPr lang="fr-FR" b="0" i="1" smtClean="0">
                          <a:latin typeface="Cambria Math"/>
                          <a:ea typeface="Cambria Math"/>
                        </a:rPr>
                        <m:t>+</m:t>
                      </m:r>
                      <m:d>
                        <m:dPr>
                          <m:ctrlPr>
                            <a:rPr lang="fr-FR" b="0" i="1" smtClean="0"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dPr>
                        <m:e>
                          <m:r>
                            <a:rPr lang="fr-FR" b="0" i="1" smtClean="0">
                              <a:latin typeface="Cambria Math"/>
                              <a:ea typeface="Cambria Math"/>
                            </a:rPr>
                            <m:t>1−</m:t>
                          </m:r>
                          <m:r>
                            <a:rPr lang="fr-FR" b="0" i="1" smtClean="0">
                              <a:latin typeface="Cambria Math"/>
                              <a:ea typeface="Cambria Math"/>
                            </a:rPr>
                            <m:t>𝛼</m:t>
                          </m:r>
                        </m:e>
                      </m:d>
                      <m:d>
                        <m:dPr>
                          <m:ctrlPr>
                            <a:rPr lang="fr-FR" b="0" i="1" smtClean="0"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fr-FR" b="0" i="1" smtClean="0">
                                  <a:latin typeface="Cambria Math" panose="02040503050406030204" pitchFamily="18" charset="0"/>
                                  <a:ea typeface="Cambria Math"/>
                                </a:rPr>
                              </m:ctrlPr>
                            </m:sSubPr>
                            <m:e>
                              <m:r>
                                <a:rPr lang="fr-FR" b="0" i="1" smtClean="0">
                                  <a:latin typeface="Cambria Math"/>
                                  <a:ea typeface="Cambria Math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fr-FR" b="0" i="1" smtClean="0">
                                  <a:latin typeface="Cambria Math"/>
                                  <a:ea typeface="Cambria Math"/>
                                </a:rPr>
                                <m:t>𝑡</m:t>
                              </m:r>
                              <m:r>
                                <a:rPr lang="fr-FR" b="0" i="1" smtClean="0">
                                  <a:latin typeface="Cambria Math"/>
                                  <a:ea typeface="Cambria Math"/>
                                </a:rPr>
                                <m:t>−1</m:t>
                              </m:r>
                            </m:sub>
                          </m:sSub>
                          <m:r>
                            <a:rPr lang="fr-FR" b="0" i="1" smtClean="0">
                              <a:latin typeface="Cambria Math"/>
                              <a:ea typeface="Cambria Math"/>
                            </a:rPr>
                            <m:t>+</m:t>
                          </m:r>
                          <m:r>
                            <a:rPr lang="fr-FR" b="0" i="1" smtClean="0">
                              <a:latin typeface="Cambria Math"/>
                              <a:ea typeface="Cambria Math"/>
                            </a:rPr>
                            <m:t>𝜑</m:t>
                          </m:r>
                          <m:sSub>
                            <m:sSubPr>
                              <m:ctrlPr>
                                <a:rPr lang="fr-FR" b="0" i="1" smtClean="0">
                                  <a:latin typeface="Cambria Math" panose="02040503050406030204" pitchFamily="18" charset="0"/>
                                  <a:ea typeface="Cambria Math"/>
                                </a:rPr>
                              </m:ctrlPr>
                            </m:sSubPr>
                            <m:e>
                              <m:r>
                                <a:rPr lang="fr-FR" b="0" i="1" smtClean="0">
                                  <a:latin typeface="Cambria Math"/>
                                  <a:ea typeface="Cambria Math"/>
                                </a:rPr>
                                <m:t>𝑇</m:t>
                              </m:r>
                            </m:e>
                            <m:sub>
                              <m:r>
                                <a:rPr lang="fr-FR" b="0" i="1" smtClean="0">
                                  <a:latin typeface="Cambria Math"/>
                                  <a:ea typeface="Cambria Math"/>
                                </a:rPr>
                                <m:t>𝑡</m:t>
                              </m:r>
                              <m:r>
                                <a:rPr lang="fr-FR" b="0" i="1" smtClean="0">
                                  <a:latin typeface="Cambria Math"/>
                                  <a:ea typeface="Cambria Math"/>
                                </a:rPr>
                                <m:t>−1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fr-FR" b="0" dirty="0" smtClean="0">
                  <a:ea typeface="Cambria Math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fr-FR" dirty="0" smtClean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fr-FR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b="0" i="1" smtClean="0">
                            <a:latin typeface="Cambria Math"/>
                          </a:rPr>
                          <m:t>𝑇</m:t>
                        </m:r>
                      </m:e>
                      <m:sub>
                        <m:r>
                          <a:rPr lang="fr-FR" b="0" i="1" smtClean="0">
                            <a:latin typeface="Cambria Math"/>
                          </a:rPr>
                          <m:t>𝑡</m:t>
                        </m:r>
                      </m:sub>
                    </m:sSub>
                    <m:r>
                      <a:rPr lang="fr-FR" b="0" i="1" smtClean="0">
                        <a:latin typeface="Cambria Math"/>
                      </a:rPr>
                      <m:t>=</m:t>
                    </m:r>
                    <m:r>
                      <a:rPr lang="fr-FR" b="0" i="1" smtClean="0">
                        <a:latin typeface="Cambria Math"/>
                        <a:ea typeface="Cambria Math"/>
                      </a:rPr>
                      <m:t>𝛾</m:t>
                    </m:r>
                    <m:d>
                      <m:dPr>
                        <m:ctrlPr>
                          <a:rPr lang="fr-FR" b="0" i="1" smtClean="0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fr-FR" b="0" i="1" smtClean="0">
                                <a:latin typeface="Cambria Math" panose="02040503050406030204" pitchFamily="18" charset="0"/>
                                <a:ea typeface="Cambria Math"/>
                              </a:rPr>
                            </m:ctrlPr>
                          </m:sSubPr>
                          <m:e>
                            <m:r>
                              <a:rPr lang="fr-FR" b="0" i="1" smtClean="0">
                                <a:latin typeface="Cambria Math"/>
                                <a:ea typeface="Cambria Math"/>
                              </a:rPr>
                              <m:t>𝑆</m:t>
                            </m:r>
                          </m:e>
                          <m:sub>
                            <m:r>
                              <a:rPr lang="fr-FR" b="0" i="1" smtClean="0">
                                <a:latin typeface="Cambria Math"/>
                                <a:ea typeface="Cambria Math"/>
                              </a:rPr>
                              <m:t>𝑡</m:t>
                            </m:r>
                          </m:sub>
                        </m:sSub>
                        <m:r>
                          <a:rPr lang="fr-FR" b="0" i="1" smtClean="0">
                            <a:latin typeface="Cambria Math"/>
                            <a:ea typeface="Cambria Math"/>
                          </a:rPr>
                          <m:t>−</m:t>
                        </m:r>
                        <m:sSub>
                          <m:sSubPr>
                            <m:ctrlPr>
                              <a:rPr lang="fr-FR" b="0" i="1" smtClean="0">
                                <a:latin typeface="Cambria Math" panose="02040503050406030204" pitchFamily="18" charset="0"/>
                                <a:ea typeface="Cambria Math"/>
                              </a:rPr>
                            </m:ctrlPr>
                          </m:sSubPr>
                          <m:e>
                            <m:r>
                              <a:rPr lang="fr-FR" b="0" i="1" smtClean="0">
                                <a:latin typeface="Cambria Math"/>
                                <a:ea typeface="Cambria Math"/>
                              </a:rPr>
                              <m:t>𝑆</m:t>
                            </m:r>
                          </m:e>
                          <m:sub>
                            <m:r>
                              <a:rPr lang="fr-FR" b="0" i="1" smtClean="0">
                                <a:latin typeface="Cambria Math"/>
                                <a:ea typeface="Cambria Math"/>
                              </a:rPr>
                              <m:t>𝑡</m:t>
                            </m:r>
                            <m:r>
                              <a:rPr lang="fr-FR" b="0" i="1" smtClean="0">
                                <a:latin typeface="Cambria Math"/>
                                <a:ea typeface="Cambria Math"/>
                              </a:rPr>
                              <m:t>−1</m:t>
                            </m:r>
                          </m:sub>
                        </m:sSub>
                      </m:e>
                    </m:d>
                    <m:r>
                      <a:rPr lang="fr-FR" b="0" i="1" smtClean="0">
                        <a:latin typeface="Cambria Math"/>
                        <a:ea typeface="Cambria Math"/>
                      </a:rPr>
                      <m:t>+</m:t>
                    </m:r>
                    <m:d>
                      <m:dPr>
                        <m:ctrlPr>
                          <a:rPr lang="fr-FR" b="0" i="1" smtClean="0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dPr>
                      <m:e>
                        <m:r>
                          <a:rPr lang="fr-FR" b="0" i="1" smtClean="0">
                            <a:latin typeface="Cambria Math"/>
                            <a:ea typeface="Cambria Math"/>
                          </a:rPr>
                          <m:t>1−</m:t>
                        </m:r>
                        <m:r>
                          <a:rPr lang="fr-FR" b="0" i="1" smtClean="0">
                            <a:latin typeface="Cambria Math"/>
                            <a:ea typeface="Cambria Math"/>
                          </a:rPr>
                          <m:t>𝛾</m:t>
                        </m:r>
                      </m:e>
                    </m:d>
                    <m:r>
                      <a:rPr lang="fr-FR" b="0" i="1" smtClean="0">
                        <a:latin typeface="Cambria Math"/>
                        <a:ea typeface="Cambria Math"/>
                      </a:rPr>
                      <m:t>𝜑</m:t>
                    </m:r>
                    <m:sSub>
                      <m:sSubPr>
                        <m:ctrlPr>
                          <a:rPr lang="fr-FR" b="0" i="1" smtClean="0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sSubPr>
                      <m:e>
                        <m:r>
                          <a:rPr lang="fr-FR" b="0" i="1" smtClean="0">
                            <a:latin typeface="Cambria Math"/>
                            <a:ea typeface="Cambria Math"/>
                          </a:rPr>
                          <m:t>𝑇</m:t>
                        </m:r>
                      </m:e>
                      <m:sub>
                        <m:r>
                          <a:rPr lang="fr-FR" b="0" i="1" smtClean="0">
                            <a:latin typeface="Cambria Math"/>
                            <a:ea typeface="Cambria Math"/>
                          </a:rPr>
                          <m:t>𝑡</m:t>
                        </m:r>
                        <m:r>
                          <a:rPr lang="fr-FR" b="0" i="1" smtClean="0">
                            <a:latin typeface="Cambria Math"/>
                            <a:ea typeface="Cambria Math"/>
                          </a:rPr>
                          <m:t>−1</m:t>
                        </m:r>
                      </m:sub>
                    </m:sSub>
                  </m:oMath>
                </a14:m>
                <a:endParaRPr lang="fr-FR" b="0" dirty="0" smtClean="0">
                  <a:ea typeface="Cambria Math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fr-FR" dirty="0" smtClean="0">
                    <a:latin typeface="Arial" panose="020B0604020202020204" pitchFamily="34" charset="0"/>
                    <a:cs typeface="Arial" panose="020B0604020202020204" pitchFamily="34" charset="0"/>
                  </a:rPr>
                  <a:t>La série ajustée 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fr-FR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fr-FR" b="0" i="1" smtClean="0">
                            <a:latin typeface="Cambria Math"/>
                            <a:cs typeface="Arial" panose="020B0604020202020204" pitchFamily="34" charset="0"/>
                          </a:rPr>
                          <m:t>𝐹</m:t>
                        </m:r>
                      </m:e>
                      <m:sub>
                        <m:r>
                          <a:rPr lang="fr-FR" b="0" i="1" smtClean="0">
                            <a:latin typeface="Cambria Math"/>
                            <a:cs typeface="Arial" panose="020B0604020202020204" pitchFamily="34" charset="0"/>
                          </a:rPr>
                          <m:t>𝑡</m:t>
                        </m:r>
                        <m:r>
                          <a:rPr lang="fr-FR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−1</m:t>
                        </m:r>
                      </m:sub>
                    </m:sSub>
                    <m:r>
                      <a:rPr lang="fr-FR" b="0" i="1" smtClean="0">
                        <a:latin typeface="Cambria Math"/>
                        <a:cs typeface="Arial" panose="020B0604020202020204" pitchFamily="34" charset="0"/>
                      </a:rPr>
                      <m:t>=</m:t>
                    </m:r>
                    <m:sSub>
                      <m:sSubPr>
                        <m:ctrlPr>
                          <a:rPr lang="fr-FR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fr-FR" b="0" i="1" smtClean="0">
                            <a:latin typeface="Cambria Math"/>
                            <a:cs typeface="Arial" panose="020B0604020202020204" pitchFamily="34" charset="0"/>
                          </a:rPr>
                          <m:t>𝑆</m:t>
                        </m:r>
                      </m:e>
                      <m:sub>
                        <m:r>
                          <a:rPr lang="fr-FR" b="0" i="1" smtClean="0">
                            <a:latin typeface="Cambria Math"/>
                            <a:cs typeface="Arial" panose="020B0604020202020204" pitchFamily="34" charset="0"/>
                          </a:rPr>
                          <m:t>𝑡</m:t>
                        </m:r>
                        <m:r>
                          <a:rPr lang="fr-FR" b="0" i="1" smtClean="0">
                            <a:latin typeface="Cambria Math"/>
                            <a:cs typeface="Arial" panose="020B0604020202020204" pitchFamily="34" charset="0"/>
                          </a:rPr>
                          <m:t>−1</m:t>
                        </m:r>
                      </m:sub>
                    </m:sSub>
                    <m:r>
                      <a:rPr lang="fr-FR" b="0" i="1" smtClean="0">
                        <a:latin typeface="Cambria Math"/>
                        <a:cs typeface="Arial" panose="020B0604020202020204" pitchFamily="34" charset="0"/>
                      </a:rPr>
                      <m:t>+</m:t>
                    </m:r>
                    <m:r>
                      <a:rPr lang="fr-FR" b="0" i="1" smtClean="0">
                        <a:latin typeface="Cambria Math"/>
                        <a:ea typeface="Cambria Math"/>
                        <a:cs typeface="Arial" panose="020B0604020202020204" pitchFamily="34" charset="0"/>
                      </a:rPr>
                      <m:t>𝜑</m:t>
                    </m:r>
                    <m:sSub>
                      <m:sSubPr>
                        <m:ctrlPr>
                          <a:rPr lang="fr-FR" b="0" i="1" smtClean="0">
                            <a:latin typeface="Cambria Math" panose="02040503050406030204" pitchFamily="18" charset="0"/>
                            <a:ea typeface="Cambria Math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fr-FR" b="0" i="1" smtClean="0">
                            <a:latin typeface="Cambria Math"/>
                            <a:ea typeface="Cambria Math"/>
                            <a:cs typeface="Arial" panose="020B0604020202020204" pitchFamily="34" charset="0"/>
                          </a:rPr>
                          <m:t>𝑇</m:t>
                        </m:r>
                      </m:e>
                      <m:sub>
                        <m:r>
                          <a:rPr lang="fr-FR" b="0" i="1" smtClean="0">
                            <a:latin typeface="Cambria Math"/>
                            <a:ea typeface="Cambria Math"/>
                            <a:cs typeface="Arial" panose="020B0604020202020204" pitchFamily="34" charset="0"/>
                          </a:rPr>
                          <m:t>𝑡</m:t>
                        </m:r>
                        <m:r>
                          <a:rPr lang="fr-FR" b="0" i="1" smtClean="0">
                            <a:latin typeface="Cambria Math"/>
                            <a:ea typeface="Cambria Math"/>
                            <a:cs typeface="Arial" panose="020B0604020202020204" pitchFamily="34" charset="0"/>
                          </a:rPr>
                          <m:t>−1</m:t>
                        </m:r>
                      </m:sub>
                    </m:sSub>
                  </m:oMath>
                </a14:m>
                <a:endParaRPr lang="fr-FR" dirty="0" smtClean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fr-FR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fr-FR" b="0" i="1" smtClean="0">
                                  <a:latin typeface="Cambria Math"/>
                                </a:rPr>
                                <m:t>𝑋</m:t>
                              </m:r>
                            </m:e>
                          </m:acc>
                        </m:e>
                        <m:sub>
                          <m:r>
                            <a:rPr lang="fr-FR" b="0" i="1" smtClean="0">
                              <a:latin typeface="Cambria Math"/>
                            </a:rPr>
                            <m:t>𝑡</m:t>
                          </m:r>
                        </m:sub>
                      </m:sSub>
                      <m:d>
                        <m:dPr>
                          <m:ctrlPr>
                            <a:rPr lang="fr-FR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fr-FR" b="0" i="1" smtClean="0">
                              <a:latin typeface="Cambria Math"/>
                            </a:rPr>
                            <m:t>h</m:t>
                          </m:r>
                        </m:e>
                      </m:d>
                      <m:r>
                        <a:rPr lang="fr-FR" b="0" i="1" smtClean="0">
                          <a:latin typeface="Cambria Math"/>
                        </a:rPr>
                        <m:t>=</m:t>
                      </m:r>
                      <m:sSub>
                        <m:sSubPr>
                          <m:ctrlPr>
                            <a:rPr lang="fr-FR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b="0" i="1" smtClean="0">
                              <a:latin typeface="Cambria Math"/>
                            </a:rPr>
                            <m:t>𝑆</m:t>
                          </m:r>
                        </m:e>
                        <m:sub>
                          <m:r>
                            <a:rPr lang="fr-FR" b="0" i="1" smtClean="0">
                              <a:latin typeface="Cambria Math"/>
                            </a:rPr>
                            <m:t>𝑡</m:t>
                          </m:r>
                        </m:sub>
                      </m:sSub>
                      <m:r>
                        <a:rPr lang="fr-FR" b="0" i="1" smtClean="0">
                          <a:latin typeface="Cambria Math"/>
                        </a:rPr>
                        <m:t>+</m:t>
                      </m:r>
                      <m:nary>
                        <m:naryPr>
                          <m:chr m:val="∑"/>
                          <m:ctrlPr>
                            <a:rPr lang="fr-FR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fr-FR" b="0" i="1" smtClean="0">
                              <a:latin typeface="Cambria Math"/>
                            </a:rPr>
                            <m:t>𝑖</m:t>
                          </m:r>
                          <m:r>
                            <a:rPr lang="fr-FR" b="0" i="1" smtClean="0">
                              <a:latin typeface="Cambria Math"/>
                            </a:rPr>
                            <m:t>=1</m:t>
                          </m:r>
                        </m:sub>
                        <m:sup>
                          <m:r>
                            <a:rPr lang="fr-FR" b="0" i="1" smtClean="0">
                              <a:latin typeface="Cambria Math"/>
                            </a:rPr>
                            <m:t>h</m:t>
                          </m:r>
                        </m:sup>
                        <m:e>
                          <m:sSup>
                            <m:sSupPr>
                              <m:ctrlPr>
                                <a:rPr lang="fr-FR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fr-FR" b="0" i="1" smtClean="0">
                                  <a:latin typeface="Cambria Math"/>
                                  <a:ea typeface="Cambria Math"/>
                                </a:rPr>
                                <m:t>𝜑</m:t>
                              </m:r>
                            </m:e>
                            <m:sup>
                              <m:r>
                                <a:rPr lang="fr-FR" b="0" i="1" smtClean="0">
                                  <a:latin typeface="Cambria Math"/>
                                </a:rPr>
                                <m:t>𝑖</m:t>
                              </m:r>
                            </m:sup>
                          </m:sSup>
                          <m:sSub>
                            <m:sSubPr>
                              <m:ctrlPr>
                                <a:rPr lang="fr-FR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b="0" i="1" smtClean="0">
                                  <a:latin typeface="Cambria Math"/>
                                </a:rPr>
                                <m:t>𝑇</m:t>
                              </m:r>
                            </m:e>
                            <m:sub>
                              <m:r>
                                <a:rPr lang="fr-FR" b="0" i="1" smtClean="0">
                                  <a:latin typeface="Cambria Math"/>
                                </a:rPr>
                                <m:t>𝑡</m:t>
                              </m:r>
                            </m:sub>
                          </m:sSub>
                        </m:e>
                      </m:nary>
                    </m:oMath>
                  </m:oMathPara>
                </a14:m>
                <a:endParaRPr lang="fr-FR" dirty="0"/>
              </a:p>
            </p:txBody>
          </p:sp>
        </mc:Choice>
        <mc:Fallback xmlns="">
          <p:sp>
            <p:nvSpPr>
              <p:cNvPr id="3" name="ZoneTexte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9552" y="836713"/>
                <a:ext cx="4536504" cy="2349041"/>
              </a:xfrm>
              <a:prstGeom prst="rect">
                <a:avLst/>
              </a:prstGeom>
              <a:blipFill>
                <a:blip r:embed="rId3"/>
                <a:stretch>
                  <a:fillRect l="-1478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ZoneTexte 3"/>
          <p:cNvSpPr txBox="1"/>
          <p:nvPr/>
        </p:nvSpPr>
        <p:spPr>
          <a:xfrm>
            <a:off x="395536" y="3532946"/>
            <a:ext cx="828092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 smtClean="0"/>
              <a:t>Le modèle </a:t>
            </a:r>
            <a:r>
              <a:rPr lang="fr-FR" dirty="0" smtClean="0">
                <a:latin typeface="Arial" panose="020B0604020202020204" pitchFamily="34" charset="0"/>
                <a:cs typeface="Arial" panose="020B0604020202020204" pitchFamily="34" charset="0"/>
              </a:rPr>
              <a:t>N-M : none trend multiplicative</a:t>
            </a:r>
            <a:r>
              <a:rPr lang="fr-FR" dirty="0" smtClean="0"/>
              <a:t> </a:t>
            </a:r>
            <a:endParaRPr lang="fr-FR" dirty="0"/>
          </a:p>
        </p:txBody>
      </p:sp>
      <p:graphicFrame>
        <p:nvGraphicFramePr>
          <p:cNvPr id="5" name="Obje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87162605"/>
              </p:ext>
            </p:extLst>
          </p:nvPr>
        </p:nvGraphicFramePr>
        <p:xfrm>
          <a:off x="971600" y="4035723"/>
          <a:ext cx="2644775" cy="8334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7520" name="Équation" r:id="rId4" imgW="1371600" imgH="431640" progId="Equation.3">
                  <p:embed/>
                </p:oleObj>
              </mc:Choice>
              <mc:Fallback>
                <p:oleObj name="Équation" r:id="rId4" imgW="1371600" imgH="431640" progId="Equation.3">
                  <p:embed/>
                  <p:pic>
                    <p:nvPicPr>
                      <p:cNvPr id="0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71600" y="4035723"/>
                        <a:ext cx="2644775" cy="8334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22240822"/>
              </p:ext>
            </p:extLst>
          </p:nvPr>
        </p:nvGraphicFramePr>
        <p:xfrm>
          <a:off x="923925" y="4971827"/>
          <a:ext cx="2449513" cy="8334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7521" name="Équation" r:id="rId6" imgW="1269720" imgH="431640" progId="Equation.3">
                  <p:embed/>
                </p:oleObj>
              </mc:Choice>
              <mc:Fallback>
                <p:oleObj name="Équation" r:id="rId6" imgW="1269720" imgH="431640" progId="Equation.3">
                  <p:embed/>
                  <p:pic>
                    <p:nvPicPr>
                      <p:cNvPr id="0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23925" y="4971827"/>
                        <a:ext cx="2449513" cy="8334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16417496"/>
              </p:ext>
            </p:extLst>
          </p:nvPr>
        </p:nvGraphicFramePr>
        <p:xfrm>
          <a:off x="899592" y="5923682"/>
          <a:ext cx="2192337" cy="6016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7522" name="Équation" r:id="rId8" imgW="927000" imgH="253800" progId="Equation.3">
                  <p:embed/>
                </p:oleObj>
              </mc:Choice>
              <mc:Fallback>
                <p:oleObj name="Équation" r:id="rId8" imgW="927000" imgH="253800" progId="Equation.3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99592" y="5923682"/>
                        <a:ext cx="2192337" cy="6016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9" name="ZoneTexte 8"/>
              <p:cNvSpPr txBox="1"/>
              <p:nvPr/>
            </p:nvSpPr>
            <p:spPr>
              <a:xfrm>
                <a:off x="4283968" y="4221088"/>
                <a:ext cx="4248472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fr-FR" dirty="0" smtClean="0"/>
                  <a:t>La série ajustée 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fr-FR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b="0" i="1" smtClean="0">
                            <a:latin typeface="Cambria Math"/>
                          </a:rPr>
                          <m:t>𝐹</m:t>
                        </m:r>
                      </m:e>
                      <m:sub>
                        <m:r>
                          <a:rPr lang="fr-FR" b="0" i="1" smtClean="0">
                            <a:latin typeface="Cambria Math"/>
                          </a:rPr>
                          <m:t>𝑡</m:t>
                        </m:r>
                        <m:r>
                          <a:rPr lang="fr-FR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sub>
                    </m:sSub>
                    <m:r>
                      <a:rPr lang="fr-FR" b="0" i="1" smtClean="0">
                        <a:latin typeface="Cambria Math"/>
                      </a:rPr>
                      <m:t>=</m:t>
                    </m:r>
                    <m:sSub>
                      <m:sSubPr>
                        <m:ctrlPr>
                          <a:rPr lang="fr-FR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b="0" i="1" smtClean="0">
                            <a:latin typeface="Cambria Math"/>
                          </a:rPr>
                          <m:t>𝑆</m:t>
                        </m:r>
                      </m:e>
                      <m:sub>
                        <m:r>
                          <a:rPr lang="fr-FR" b="0" i="1" smtClean="0">
                            <a:latin typeface="Cambria Math"/>
                          </a:rPr>
                          <m:t>𝑡</m:t>
                        </m:r>
                        <m:r>
                          <a:rPr lang="fr-FR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sub>
                    </m:sSub>
                    <m:sSub>
                      <m:sSubPr>
                        <m:ctrlPr>
                          <a:rPr lang="fr-FR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b="0" i="1" smtClean="0">
                            <a:latin typeface="Cambria Math"/>
                          </a:rPr>
                          <m:t>𝐼</m:t>
                        </m:r>
                      </m:e>
                      <m:sub>
                        <m:r>
                          <a:rPr lang="fr-FR" b="0" i="1" smtClean="0">
                            <a:latin typeface="Cambria Math"/>
                          </a:rPr>
                          <m:t>𝑡</m:t>
                        </m:r>
                        <m:r>
                          <a:rPr lang="fr-FR" b="0" i="1" smtClean="0">
                            <a:latin typeface="Cambria Math"/>
                          </a:rPr>
                          <m:t>−</m:t>
                        </m:r>
                        <m:r>
                          <a:rPr lang="fr-FR" b="0" i="1" smtClean="0">
                            <a:latin typeface="Cambria Math"/>
                          </a:rPr>
                          <m:t>𝑠</m:t>
                        </m:r>
                      </m:sub>
                    </m:sSub>
                  </m:oMath>
                </a14:m>
                <a:endParaRPr lang="fr-FR" dirty="0"/>
              </a:p>
            </p:txBody>
          </p:sp>
        </mc:Choice>
        <mc:Fallback xmlns="">
          <p:sp>
            <p:nvSpPr>
              <p:cNvPr id="9" name="ZoneTexte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83968" y="4221088"/>
                <a:ext cx="4248472" cy="400110"/>
              </a:xfrm>
              <a:prstGeom prst="rect">
                <a:avLst/>
              </a:prstGeom>
              <a:blipFill>
                <a:blip r:embed="rId10"/>
                <a:stretch>
                  <a:fillRect l="-1578" t="-6061" b="-27273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2043723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1"/>
          <p:cNvSpPr txBox="1"/>
          <p:nvPr/>
        </p:nvSpPr>
        <p:spPr>
          <a:xfrm>
            <a:off x="251520" y="476672"/>
            <a:ext cx="748883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 smtClean="0"/>
              <a:t>Le modèle </a:t>
            </a:r>
            <a:r>
              <a:rPr lang="fr-FR" dirty="0" smtClean="0">
                <a:latin typeface="Arial" panose="020B0604020202020204" pitchFamily="34" charset="0"/>
                <a:cs typeface="Arial" panose="020B0604020202020204" pitchFamily="34" charset="0"/>
              </a:rPr>
              <a:t>DA-M : </a:t>
            </a:r>
            <a:r>
              <a:rPr lang="fr-FR" dirty="0" err="1" smtClean="0">
                <a:latin typeface="Arial" panose="020B0604020202020204" pitchFamily="34" charset="0"/>
                <a:cs typeface="Arial" panose="020B0604020202020204" pitchFamily="34" charset="0"/>
              </a:rPr>
              <a:t>damped</a:t>
            </a:r>
            <a:r>
              <a:rPr lang="fr-FR" dirty="0" smtClean="0">
                <a:latin typeface="Arial" panose="020B0604020202020204" pitchFamily="34" charset="0"/>
                <a:cs typeface="Arial" panose="020B0604020202020204" pitchFamily="34" charset="0"/>
              </a:rPr>
              <a:t> additive multiplicative</a:t>
            </a:r>
            <a:endParaRPr lang="fr-FR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fr-FR" dirty="0" smtClean="0"/>
              <a:t> </a:t>
            </a:r>
            <a:endParaRPr lang="fr-FR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ZoneTexte 2"/>
              <p:cNvSpPr txBox="1"/>
              <p:nvPr/>
            </p:nvSpPr>
            <p:spPr>
              <a:xfrm>
                <a:off x="323528" y="1343088"/>
                <a:ext cx="4638193" cy="292984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b="0" i="1" smtClean="0">
                              <a:latin typeface="Cambria Math"/>
                            </a:rPr>
                            <m:t>𝑆</m:t>
                          </m:r>
                        </m:e>
                        <m:sub>
                          <m:r>
                            <a:rPr lang="fr-FR" b="0" i="1" smtClean="0">
                              <a:latin typeface="Cambria Math"/>
                            </a:rPr>
                            <m:t>𝑡</m:t>
                          </m:r>
                        </m:sub>
                      </m:sSub>
                      <m:r>
                        <a:rPr lang="fr-FR" b="0" i="1" smtClean="0">
                          <a:latin typeface="Cambria Math"/>
                        </a:rPr>
                        <m:t>=</m:t>
                      </m:r>
                      <m:r>
                        <a:rPr lang="fr-FR" b="0" i="1" smtClean="0">
                          <a:latin typeface="Cambria Math"/>
                          <a:ea typeface="Cambria Math"/>
                        </a:rPr>
                        <m:t>𝛼</m:t>
                      </m:r>
                      <m:sSub>
                        <m:sSubPr>
                          <m:ctrlPr>
                            <a:rPr lang="fr-FR" b="0" i="1" smtClean="0"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sSubPr>
                        <m:e>
                          <m:r>
                            <a:rPr lang="fr-FR" b="0" i="1" smtClean="0">
                              <a:latin typeface="Cambria Math"/>
                              <a:ea typeface="Cambria Math"/>
                            </a:rPr>
                            <m:t>𝑋</m:t>
                          </m:r>
                        </m:e>
                        <m:sub>
                          <m:r>
                            <a:rPr lang="fr-FR" b="0" i="1" smtClean="0">
                              <a:latin typeface="Cambria Math"/>
                              <a:ea typeface="Cambria Math"/>
                            </a:rPr>
                            <m:t>𝑡</m:t>
                          </m:r>
                        </m:sub>
                      </m:sSub>
                      <m:r>
                        <a:rPr lang="fr-FR" b="0" i="1" smtClean="0">
                          <a:latin typeface="Cambria Math"/>
                          <a:ea typeface="Cambria Math"/>
                        </a:rPr>
                        <m:t>/</m:t>
                      </m:r>
                      <m:sSub>
                        <m:sSubPr>
                          <m:ctrlPr>
                            <a:rPr lang="fr-FR" b="0" i="1" smtClean="0"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sSubPr>
                        <m:e>
                          <m:r>
                            <a:rPr lang="fr-FR" b="0" i="1" smtClean="0">
                              <a:latin typeface="Cambria Math"/>
                              <a:ea typeface="Cambria Math"/>
                            </a:rPr>
                            <m:t>𝐼</m:t>
                          </m:r>
                        </m:e>
                        <m:sub>
                          <m:r>
                            <a:rPr lang="fr-FR" b="0" i="1" smtClean="0">
                              <a:latin typeface="Cambria Math"/>
                              <a:ea typeface="Cambria Math"/>
                            </a:rPr>
                            <m:t>𝑡</m:t>
                          </m:r>
                          <m:r>
                            <a:rPr lang="fr-FR" b="0" i="1" smtClean="0">
                              <a:latin typeface="Cambria Math"/>
                              <a:ea typeface="Cambria Math"/>
                            </a:rPr>
                            <m:t>−</m:t>
                          </m:r>
                          <m:r>
                            <a:rPr lang="fr-FR" b="0" i="1" smtClean="0">
                              <a:latin typeface="Cambria Math"/>
                              <a:ea typeface="Cambria Math"/>
                            </a:rPr>
                            <m:t>𝑠</m:t>
                          </m:r>
                        </m:sub>
                      </m:sSub>
                      <m:r>
                        <a:rPr lang="fr-FR" b="0" i="1" smtClean="0">
                          <a:latin typeface="Cambria Math"/>
                          <a:ea typeface="Cambria Math"/>
                        </a:rPr>
                        <m:t>+</m:t>
                      </m:r>
                      <m:d>
                        <m:dPr>
                          <m:ctrlPr>
                            <a:rPr lang="fr-FR" b="0" i="1" smtClean="0"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dPr>
                        <m:e>
                          <m:r>
                            <a:rPr lang="fr-FR" b="0" i="1" smtClean="0">
                              <a:latin typeface="Cambria Math"/>
                              <a:ea typeface="Cambria Math"/>
                            </a:rPr>
                            <m:t>1−</m:t>
                          </m:r>
                          <m:r>
                            <a:rPr lang="fr-FR" b="0" i="1" smtClean="0">
                              <a:latin typeface="Cambria Math"/>
                              <a:ea typeface="Cambria Math"/>
                            </a:rPr>
                            <m:t>𝛼</m:t>
                          </m:r>
                        </m:e>
                      </m:d>
                      <m:d>
                        <m:dPr>
                          <m:ctrlPr>
                            <a:rPr lang="fr-FR" b="0" i="1" smtClean="0"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fr-FR" b="0" i="1" smtClean="0">
                                  <a:latin typeface="Cambria Math" panose="02040503050406030204" pitchFamily="18" charset="0"/>
                                  <a:ea typeface="Cambria Math"/>
                                </a:rPr>
                              </m:ctrlPr>
                            </m:sSubPr>
                            <m:e>
                              <m:r>
                                <a:rPr lang="fr-FR" b="0" i="1" smtClean="0">
                                  <a:latin typeface="Cambria Math"/>
                                  <a:ea typeface="Cambria Math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fr-FR" b="0" i="1" smtClean="0">
                                  <a:latin typeface="Cambria Math"/>
                                  <a:ea typeface="Cambria Math"/>
                                </a:rPr>
                                <m:t>𝑡</m:t>
                              </m:r>
                              <m:r>
                                <a:rPr lang="fr-FR" b="0" i="1" smtClean="0">
                                  <a:latin typeface="Cambria Math"/>
                                  <a:ea typeface="Cambria Math"/>
                                </a:rPr>
                                <m:t>−1</m:t>
                              </m:r>
                            </m:sub>
                          </m:sSub>
                          <m:r>
                            <a:rPr lang="fr-FR" b="0" i="1" smtClean="0">
                              <a:latin typeface="Cambria Math"/>
                              <a:ea typeface="Cambria Math"/>
                            </a:rPr>
                            <m:t>+</m:t>
                          </m:r>
                          <m:r>
                            <a:rPr lang="fr-FR" b="0" i="1" smtClean="0">
                              <a:latin typeface="Cambria Math"/>
                              <a:ea typeface="Cambria Math"/>
                            </a:rPr>
                            <m:t>𝜑</m:t>
                          </m:r>
                          <m:sSub>
                            <m:sSubPr>
                              <m:ctrlPr>
                                <a:rPr lang="fr-FR" b="0" i="1" smtClean="0">
                                  <a:latin typeface="Cambria Math" panose="02040503050406030204" pitchFamily="18" charset="0"/>
                                  <a:ea typeface="Cambria Math"/>
                                </a:rPr>
                              </m:ctrlPr>
                            </m:sSubPr>
                            <m:e>
                              <m:r>
                                <a:rPr lang="fr-FR" b="0" i="1" smtClean="0">
                                  <a:latin typeface="Cambria Math"/>
                                  <a:ea typeface="Cambria Math"/>
                                </a:rPr>
                                <m:t>𝑇</m:t>
                              </m:r>
                            </m:e>
                            <m:sub>
                              <m:r>
                                <a:rPr lang="fr-FR" b="0" i="1" smtClean="0">
                                  <a:latin typeface="Cambria Math"/>
                                  <a:ea typeface="Cambria Math"/>
                                </a:rPr>
                                <m:t>𝑡</m:t>
                              </m:r>
                              <m:r>
                                <a:rPr lang="fr-FR" b="0" i="1" smtClean="0">
                                  <a:latin typeface="Cambria Math"/>
                                  <a:ea typeface="Cambria Math"/>
                                </a:rPr>
                                <m:t>−1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fr-FR" b="0" dirty="0" smtClean="0">
                  <a:ea typeface="Cambria Math"/>
                </a:endParaRPr>
              </a:p>
              <a:p>
                <a:endParaRPr lang="fr-FR" b="0" dirty="0" smtClean="0">
                  <a:ea typeface="Cambria Math"/>
                </a:endParaRPr>
              </a:p>
              <a:p>
                <a:r>
                  <a:rPr lang="fr-FR" dirty="0" smtClean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fr-FR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b="0" i="1" smtClean="0">
                            <a:latin typeface="Cambria Math"/>
                          </a:rPr>
                          <m:t>𝑇</m:t>
                        </m:r>
                      </m:e>
                      <m:sub>
                        <m:r>
                          <a:rPr lang="fr-FR" b="0" i="1" smtClean="0">
                            <a:latin typeface="Cambria Math"/>
                          </a:rPr>
                          <m:t>𝑡</m:t>
                        </m:r>
                      </m:sub>
                    </m:sSub>
                    <m:r>
                      <a:rPr lang="fr-FR" b="0" i="1" smtClean="0">
                        <a:latin typeface="Cambria Math"/>
                      </a:rPr>
                      <m:t>=</m:t>
                    </m:r>
                    <m:r>
                      <a:rPr lang="fr-FR" b="0" i="1" smtClean="0">
                        <a:latin typeface="Cambria Math"/>
                        <a:ea typeface="Cambria Math"/>
                      </a:rPr>
                      <m:t>𝛾</m:t>
                    </m:r>
                    <m:d>
                      <m:dPr>
                        <m:ctrlPr>
                          <a:rPr lang="fr-FR" b="0" i="1" smtClean="0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fr-FR" b="0" i="1" smtClean="0">
                                <a:latin typeface="Cambria Math" panose="02040503050406030204" pitchFamily="18" charset="0"/>
                                <a:ea typeface="Cambria Math"/>
                              </a:rPr>
                            </m:ctrlPr>
                          </m:sSubPr>
                          <m:e>
                            <m:r>
                              <a:rPr lang="fr-FR" b="0" i="1" smtClean="0">
                                <a:latin typeface="Cambria Math"/>
                                <a:ea typeface="Cambria Math"/>
                              </a:rPr>
                              <m:t>𝑆</m:t>
                            </m:r>
                          </m:e>
                          <m:sub>
                            <m:r>
                              <a:rPr lang="fr-FR" b="0" i="1" smtClean="0">
                                <a:latin typeface="Cambria Math"/>
                                <a:ea typeface="Cambria Math"/>
                              </a:rPr>
                              <m:t>𝑡</m:t>
                            </m:r>
                          </m:sub>
                        </m:sSub>
                        <m:r>
                          <a:rPr lang="fr-FR" b="0" i="1" smtClean="0">
                            <a:latin typeface="Cambria Math"/>
                            <a:ea typeface="Cambria Math"/>
                          </a:rPr>
                          <m:t>−</m:t>
                        </m:r>
                        <m:sSub>
                          <m:sSubPr>
                            <m:ctrlPr>
                              <a:rPr lang="fr-FR" b="0" i="1" smtClean="0">
                                <a:latin typeface="Cambria Math" panose="02040503050406030204" pitchFamily="18" charset="0"/>
                                <a:ea typeface="Cambria Math"/>
                              </a:rPr>
                            </m:ctrlPr>
                          </m:sSubPr>
                          <m:e>
                            <m:r>
                              <a:rPr lang="fr-FR" b="0" i="1" smtClean="0">
                                <a:latin typeface="Cambria Math"/>
                                <a:ea typeface="Cambria Math"/>
                              </a:rPr>
                              <m:t>𝑆</m:t>
                            </m:r>
                          </m:e>
                          <m:sub>
                            <m:r>
                              <a:rPr lang="fr-FR" b="0" i="1" smtClean="0">
                                <a:latin typeface="Cambria Math"/>
                                <a:ea typeface="Cambria Math"/>
                              </a:rPr>
                              <m:t>𝑡</m:t>
                            </m:r>
                            <m:r>
                              <a:rPr lang="fr-FR" b="0" i="1" smtClean="0">
                                <a:latin typeface="Cambria Math"/>
                                <a:ea typeface="Cambria Math"/>
                              </a:rPr>
                              <m:t>−1</m:t>
                            </m:r>
                          </m:sub>
                        </m:sSub>
                      </m:e>
                    </m:d>
                    <m:r>
                      <a:rPr lang="fr-FR" b="0" i="1" smtClean="0">
                        <a:latin typeface="Cambria Math"/>
                        <a:ea typeface="Cambria Math"/>
                      </a:rPr>
                      <m:t>+</m:t>
                    </m:r>
                    <m:d>
                      <m:dPr>
                        <m:ctrlPr>
                          <a:rPr lang="fr-FR" b="0" i="1" smtClean="0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dPr>
                      <m:e>
                        <m:r>
                          <a:rPr lang="fr-FR" b="0" i="1" smtClean="0">
                            <a:latin typeface="Cambria Math"/>
                            <a:ea typeface="Cambria Math"/>
                          </a:rPr>
                          <m:t>1−</m:t>
                        </m:r>
                        <m:r>
                          <a:rPr lang="fr-FR" b="0" i="1" smtClean="0">
                            <a:latin typeface="Cambria Math"/>
                            <a:ea typeface="Cambria Math"/>
                          </a:rPr>
                          <m:t>𝛾</m:t>
                        </m:r>
                      </m:e>
                    </m:d>
                    <m:r>
                      <a:rPr lang="fr-FR" b="0" i="1" smtClean="0">
                        <a:latin typeface="Cambria Math"/>
                        <a:ea typeface="Cambria Math"/>
                      </a:rPr>
                      <m:t>𝜑</m:t>
                    </m:r>
                    <m:sSub>
                      <m:sSubPr>
                        <m:ctrlPr>
                          <a:rPr lang="fr-FR" b="0" i="1" smtClean="0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sSubPr>
                      <m:e>
                        <m:r>
                          <a:rPr lang="fr-FR" b="0" i="1" smtClean="0">
                            <a:latin typeface="Cambria Math"/>
                            <a:ea typeface="Cambria Math"/>
                          </a:rPr>
                          <m:t>𝑇</m:t>
                        </m:r>
                      </m:e>
                      <m:sub>
                        <m:r>
                          <a:rPr lang="fr-FR" b="0" i="1" smtClean="0">
                            <a:latin typeface="Cambria Math"/>
                            <a:ea typeface="Cambria Math"/>
                          </a:rPr>
                          <m:t>𝑡</m:t>
                        </m:r>
                        <m:r>
                          <a:rPr lang="fr-FR" b="0" i="1" smtClean="0">
                            <a:latin typeface="Cambria Math"/>
                            <a:ea typeface="Cambria Math"/>
                          </a:rPr>
                          <m:t>−1</m:t>
                        </m:r>
                      </m:sub>
                    </m:sSub>
                  </m:oMath>
                </a14:m>
                <a:endParaRPr lang="fr-FR" b="0" dirty="0" smtClean="0">
                  <a:ea typeface="Cambria Math"/>
                </a:endParaRPr>
              </a:p>
              <a:p>
                <a:endParaRPr lang="fr-FR" b="0" dirty="0" smtClean="0">
                  <a:ea typeface="Cambria Math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b="0" i="1" smtClean="0"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sSubPr>
                        <m:e>
                          <m:r>
                            <a:rPr lang="fr-FR" b="0" i="1" smtClean="0">
                              <a:latin typeface="Cambria Math"/>
                              <a:ea typeface="Cambria Math"/>
                            </a:rPr>
                            <m:t>𝐼</m:t>
                          </m:r>
                        </m:e>
                        <m:sub>
                          <m:r>
                            <a:rPr lang="fr-FR" b="0" i="1" smtClean="0">
                              <a:latin typeface="Cambria Math"/>
                              <a:ea typeface="Cambria Math"/>
                            </a:rPr>
                            <m:t>𝑡</m:t>
                          </m:r>
                        </m:sub>
                      </m:sSub>
                      <m:r>
                        <a:rPr lang="fr-FR" b="0" i="1" smtClean="0">
                          <a:latin typeface="Cambria Math"/>
                          <a:ea typeface="Cambria Math"/>
                        </a:rPr>
                        <m:t>=</m:t>
                      </m:r>
                      <m:r>
                        <a:rPr lang="fr-FR" b="0" i="1" smtClean="0">
                          <a:latin typeface="Cambria Math"/>
                          <a:ea typeface="Cambria Math"/>
                        </a:rPr>
                        <m:t>𝛿</m:t>
                      </m:r>
                      <m:d>
                        <m:dPr>
                          <m:ctrlPr>
                            <a:rPr lang="fr-FR" b="0" i="1" smtClean="0"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fr-FR" b="0" i="1" smtClean="0">
                                  <a:latin typeface="Cambria Math" panose="02040503050406030204" pitchFamily="18" charset="0"/>
                                  <a:ea typeface="Cambria Math"/>
                                </a:rPr>
                              </m:ctrlPr>
                            </m:sSubPr>
                            <m:e>
                              <m:r>
                                <a:rPr lang="fr-FR" b="0" i="1" smtClean="0">
                                  <a:latin typeface="Cambria Math"/>
                                  <a:ea typeface="Cambria Math"/>
                                </a:rPr>
                                <m:t>𝑋</m:t>
                              </m:r>
                            </m:e>
                            <m:sub>
                              <m:r>
                                <a:rPr lang="fr-FR" b="0" i="1" smtClean="0">
                                  <a:latin typeface="Cambria Math"/>
                                  <a:ea typeface="Cambria Math"/>
                                </a:rPr>
                                <m:t>𝑡</m:t>
                              </m:r>
                            </m:sub>
                          </m:sSub>
                          <m:r>
                            <a:rPr lang="fr-FR" b="0" i="1" smtClean="0">
                              <a:latin typeface="Cambria Math"/>
                              <a:ea typeface="Cambria Math"/>
                            </a:rPr>
                            <m:t>/</m:t>
                          </m:r>
                          <m:sSub>
                            <m:sSubPr>
                              <m:ctrlPr>
                                <a:rPr lang="fr-FR" b="0" i="1" smtClean="0">
                                  <a:latin typeface="Cambria Math" panose="02040503050406030204" pitchFamily="18" charset="0"/>
                                  <a:ea typeface="Cambria Math"/>
                                </a:rPr>
                              </m:ctrlPr>
                            </m:sSubPr>
                            <m:e>
                              <m:r>
                                <a:rPr lang="fr-FR" b="0" i="1" smtClean="0">
                                  <a:latin typeface="Cambria Math"/>
                                  <a:ea typeface="Cambria Math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fr-FR" b="0" i="1" smtClean="0">
                                  <a:latin typeface="Cambria Math"/>
                                  <a:ea typeface="Cambria Math"/>
                                </a:rPr>
                                <m:t>𝑡</m:t>
                              </m:r>
                            </m:sub>
                          </m:sSub>
                        </m:e>
                      </m:d>
                      <m:r>
                        <a:rPr lang="fr-FR" b="0" i="1" smtClean="0">
                          <a:latin typeface="Cambria Math"/>
                          <a:ea typeface="Cambria Math"/>
                        </a:rPr>
                        <m:t>+(1−</m:t>
                      </m:r>
                      <m:r>
                        <a:rPr lang="fr-FR" b="0" i="1" smtClean="0">
                          <a:latin typeface="Cambria Math"/>
                          <a:ea typeface="Cambria Math"/>
                        </a:rPr>
                        <m:t>𝛿</m:t>
                      </m:r>
                      <m:r>
                        <a:rPr lang="fr-FR" b="0" i="1" smtClean="0">
                          <a:latin typeface="Cambria Math"/>
                          <a:ea typeface="Cambria Math"/>
                        </a:rPr>
                        <m:t>)</m:t>
                      </m:r>
                      <m:sSub>
                        <m:sSubPr>
                          <m:ctrlPr>
                            <a:rPr lang="fr-FR" b="0" i="1" smtClean="0"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sSubPr>
                        <m:e>
                          <m:r>
                            <a:rPr lang="fr-FR" b="0" i="1" smtClean="0">
                              <a:latin typeface="Cambria Math"/>
                              <a:ea typeface="Cambria Math"/>
                            </a:rPr>
                            <m:t>𝐼</m:t>
                          </m:r>
                        </m:e>
                        <m:sub>
                          <m:r>
                            <a:rPr lang="fr-FR" b="0" i="1" smtClean="0">
                              <a:latin typeface="Cambria Math"/>
                              <a:ea typeface="Cambria Math"/>
                            </a:rPr>
                            <m:t>𝑡</m:t>
                          </m:r>
                          <m:r>
                            <a:rPr lang="fr-FR" b="0" i="1" smtClean="0">
                              <a:latin typeface="Cambria Math"/>
                              <a:ea typeface="Cambria Math"/>
                            </a:rPr>
                            <m:t>−</m:t>
                          </m:r>
                          <m:r>
                            <a:rPr lang="fr-FR" b="0" i="1" smtClean="0">
                              <a:latin typeface="Cambria Math"/>
                              <a:ea typeface="Cambria Math"/>
                            </a:rPr>
                            <m:t>𝑠</m:t>
                          </m:r>
                        </m:sub>
                      </m:sSub>
                    </m:oMath>
                  </m:oMathPara>
                </a14:m>
                <a:endParaRPr lang="fr-FR" b="0" dirty="0" smtClean="0">
                  <a:ea typeface="Cambria Math"/>
                </a:endParaRPr>
              </a:p>
              <a:p>
                <a:endParaRPr lang="fr-FR" b="0" dirty="0" smtClean="0">
                  <a:ea typeface="Cambria Math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fr-FR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fr-FR" b="0" i="1" smtClean="0">
                                  <a:latin typeface="Cambria Math"/>
                                </a:rPr>
                                <m:t>𝑋</m:t>
                              </m:r>
                            </m:e>
                          </m:acc>
                        </m:e>
                        <m:sub>
                          <m:r>
                            <a:rPr lang="fr-FR" b="0" i="1" smtClean="0">
                              <a:latin typeface="Cambria Math"/>
                            </a:rPr>
                            <m:t>𝑡</m:t>
                          </m:r>
                        </m:sub>
                      </m:sSub>
                      <m:d>
                        <m:dPr>
                          <m:ctrlPr>
                            <a:rPr lang="fr-FR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fr-FR" b="0" i="1" smtClean="0">
                              <a:latin typeface="Cambria Math"/>
                            </a:rPr>
                            <m:t>h</m:t>
                          </m:r>
                        </m:e>
                      </m:d>
                      <m:r>
                        <a:rPr lang="fr-FR" b="0" i="1" smtClean="0">
                          <a:latin typeface="Cambria Math"/>
                        </a:rPr>
                        <m:t>=</m:t>
                      </m:r>
                      <m:d>
                        <m:dPr>
                          <m:ctrlPr>
                            <a:rPr lang="fr-FR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fr-FR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i="1">
                                  <a:latin typeface="Cambria Math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fr-FR" i="1">
                                  <a:latin typeface="Cambria Math"/>
                                </a:rPr>
                                <m:t>𝑡</m:t>
                              </m:r>
                            </m:sub>
                          </m:sSub>
                          <m:r>
                            <a:rPr lang="fr-FR" i="1">
                              <a:latin typeface="Cambria Math"/>
                            </a:rPr>
                            <m:t>+</m:t>
                          </m:r>
                          <m:nary>
                            <m:naryPr>
                              <m:chr m:val="∑"/>
                              <m:ctrlPr>
                                <a:rPr lang="fr-FR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fr-FR" i="1">
                                  <a:latin typeface="Cambria Math"/>
                                </a:rPr>
                                <m:t>𝑖</m:t>
                              </m:r>
                              <m:r>
                                <a:rPr lang="fr-FR" i="1">
                                  <a:latin typeface="Cambria Math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fr-FR" i="1">
                                  <a:latin typeface="Cambria Math"/>
                                </a:rPr>
                                <m:t>h</m:t>
                              </m:r>
                            </m:sup>
                            <m:e>
                              <m:sSup>
                                <m:sSupPr>
                                  <m:ctrlPr>
                                    <a:rPr lang="fr-FR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fr-FR" i="1">
                                      <a:latin typeface="Cambria Math"/>
                                      <a:ea typeface="Cambria Math"/>
                                    </a:rPr>
                                    <m:t>𝜑</m:t>
                                  </m:r>
                                </m:e>
                                <m:sup>
                                  <m:r>
                                    <a:rPr lang="fr-FR" i="1">
                                      <a:latin typeface="Cambria Math"/>
                                    </a:rPr>
                                    <m:t>𝑖</m:t>
                                  </m:r>
                                </m:sup>
                              </m:sSup>
                              <m:sSub>
                                <m:sSubPr>
                                  <m:ctrlPr>
                                    <a:rPr lang="fr-FR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fr-FR" i="1">
                                      <a:latin typeface="Cambria Math"/>
                                    </a:rPr>
                                    <m:t>𝑇</m:t>
                                  </m:r>
                                </m:e>
                                <m:sub>
                                  <m:r>
                                    <a:rPr lang="fr-FR" i="1">
                                      <a:latin typeface="Cambria Math"/>
                                    </a:rPr>
                                    <m:t>𝑡</m:t>
                                  </m:r>
                                </m:sub>
                              </m:sSub>
                            </m:e>
                          </m:nary>
                        </m:e>
                      </m:d>
                      <m:sSub>
                        <m:sSubPr>
                          <m:ctrlPr>
                            <a:rPr lang="fr-FR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b="0" i="1" smtClean="0">
                              <a:latin typeface="Cambria Math"/>
                            </a:rPr>
                            <m:t>𝐼</m:t>
                          </m:r>
                        </m:e>
                        <m:sub>
                          <m:r>
                            <a:rPr lang="fr-FR" b="0" i="1" smtClean="0">
                              <a:latin typeface="Cambria Math"/>
                            </a:rPr>
                            <m:t>𝑡</m:t>
                          </m:r>
                          <m:r>
                            <a:rPr lang="fr-FR" b="0" i="1" smtClean="0">
                              <a:latin typeface="Cambria Math"/>
                            </a:rPr>
                            <m:t>+</m:t>
                          </m:r>
                          <m:r>
                            <a:rPr lang="fr-FR" b="0" i="1" smtClean="0">
                              <a:latin typeface="Cambria Math"/>
                            </a:rPr>
                            <m:t>h</m:t>
                          </m:r>
                          <m:r>
                            <a:rPr lang="fr-FR" b="0" i="1" smtClean="0">
                              <a:latin typeface="Cambria Math"/>
                            </a:rPr>
                            <m:t>−</m:t>
                          </m:r>
                          <m:r>
                            <a:rPr lang="fr-FR" b="0" i="1" smtClean="0">
                              <a:latin typeface="Cambria Math"/>
                            </a:rPr>
                            <m:t>𝑠</m:t>
                          </m:r>
                        </m:sub>
                      </m:sSub>
                    </m:oMath>
                  </m:oMathPara>
                </a14:m>
                <a:endParaRPr lang="fr-FR" dirty="0"/>
              </a:p>
            </p:txBody>
          </p:sp>
        </mc:Choice>
        <mc:Fallback xmlns="">
          <p:sp>
            <p:nvSpPr>
              <p:cNvPr id="3" name="ZoneTexte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3528" y="1343088"/>
                <a:ext cx="4638193" cy="2929841"/>
              </a:xfrm>
              <a:prstGeom prst="rect">
                <a:avLst/>
              </a:prstGeom>
              <a:blipFill rotWithShape="1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ZoneTexte 3"/>
              <p:cNvSpPr txBox="1"/>
              <p:nvPr/>
            </p:nvSpPr>
            <p:spPr>
              <a:xfrm>
                <a:off x="323528" y="5492556"/>
                <a:ext cx="8136904" cy="74475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fr-FR" dirty="0" smtClean="0"/>
                  <a:t>Pour tous ces modèles, l’erreur d’ajustement est définie par :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fr-FR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b="0" i="1" smtClean="0">
                            <a:latin typeface="Cambria Math"/>
                          </a:rPr>
                          <m:t>𝑒</m:t>
                        </m:r>
                      </m:e>
                      <m:sub>
                        <m:r>
                          <a:rPr lang="fr-FR" b="0" i="1" smtClean="0">
                            <a:latin typeface="Cambria Math"/>
                          </a:rPr>
                          <m:t>𝑡</m:t>
                        </m:r>
                      </m:sub>
                    </m:sSub>
                    <m:r>
                      <a:rPr lang="fr-FR" b="0" i="1" smtClean="0">
                        <a:latin typeface="Cambria Math"/>
                      </a:rPr>
                      <m:t>=</m:t>
                    </m:r>
                    <m:sSub>
                      <m:sSubPr>
                        <m:ctrlPr>
                          <a:rPr lang="fr-FR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b="0" i="1" smtClean="0">
                            <a:latin typeface="Cambria Math"/>
                          </a:rPr>
                          <m:t>𝑋</m:t>
                        </m:r>
                      </m:e>
                      <m:sub>
                        <m:r>
                          <a:rPr lang="fr-FR" b="0" i="1" smtClean="0">
                            <a:latin typeface="Cambria Math"/>
                          </a:rPr>
                          <m:t>𝑡</m:t>
                        </m:r>
                      </m:sub>
                    </m:sSub>
                    <m:r>
                      <a:rPr lang="fr-FR" b="0" i="1" smtClean="0">
                        <a:latin typeface="Cambria Math"/>
                      </a:rPr>
                      <m:t>−</m:t>
                    </m:r>
                    <m:sSub>
                      <m:sSubPr>
                        <m:ctrlPr>
                          <a:rPr lang="fr-FR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fr-FR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fr-FR" b="0" i="1" smtClean="0">
                                <a:latin typeface="Cambria Math"/>
                              </a:rPr>
                              <m:t>𝑋</m:t>
                            </m:r>
                          </m:e>
                        </m:acc>
                      </m:e>
                      <m:sub>
                        <m:r>
                          <a:rPr lang="fr-FR" b="0" i="1" smtClean="0">
                            <a:latin typeface="Cambria Math"/>
                          </a:rPr>
                          <m:t>𝑡</m:t>
                        </m:r>
                        <m:r>
                          <a:rPr lang="fr-FR" b="0" i="1" smtClean="0">
                            <a:latin typeface="Cambria Math"/>
                          </a:rPr>
                          <m:t>−1</m:t>
                        </m:r>
                      </m:sub>
                    </m:sSub>
                    <m:d>
                      <m:dPr>
                        <m:ctrlPr>
                          <a:rPr lang="fr-FR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fr-FR" b="0" i="1" smtClean="0">
                            <a:latin typeface="Cambria Math"/>
                          </a:rPr>
                          <m:t>1</m:t>
                        </m:r>
                      </m:e>
                    </m:d>
                  </m:oMath>
                </a14:m>
                <a:r>
                  <a:rPr lang="fr-FR" dirty="0" smtClean="0"/>
                  <a:t> =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fr-F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i="1">
                            <a:latin typeface="Cambria Math"/>
                          </a:rPr>
                          <m:t>𝑋</m:t>
                        </m:r>
                      </m:e>
                      <m:sub>
                        <m:r>
                          <a:rPr lang="fr-FR" i="1">
                            <a:latin typeface="Cambria Math"/>
                          </a:rPr>
                          <m:t>𝑡</m:t>
                        </m:r>
                      </m:sub>
                    </m:sSub>
                    <m:r>
                      <a:rPr lang="fr-FR" b="0" i="1" smtClean="0">
                        <a:latin typeface="Cambria Math"/>
                      </a:rPr>
                      <m:t>−</m:t>
                    </m:r>
                    <m:sSub>
                      <m:sSubPr>
                        <m:ctrlPr>
                          <a:rPr lang="fr-F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b="0" i="1" smtClean="0">
                            <a:latin typeface="Cambria Math"/>
                          </a:rPr>
                          <m:t>𝐹</m:t>
                        </m:r>
                      </m:e>
                      <m:sub>
                        <m:r>
                          <a:rPr lang="fr-FR" i="1">
                            <a:latin typeface="Cambria Math"/>
                          </a:rPr>
                          <m:t>𝑡</m:t>
                        </m:r>
                        <m:r>
                          <a:rPr lang="fr-FR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sub>
                    </m:sSub>
                  </m:oMath>
                </a14:m>
                <a:endParaRPr lang="fr-FR" dirty="0"/>
              </a:p>
            </p:txBody>
          </p:sp>
        </mc:Choice>
        <mc:Fallback xmlns="">
          <p:sp>
            <p:nvSpPr>
              <p:cNvPr id="4" name="ZoneTexte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3528" y="5492556"/>
                <a:ext cx="8136904" cy="744756"/>
              </a:xfrm>
              <a:prstGeom prst="rect">
                <a:avLst/>
              </a:prstGeom>
              <a:blipFill>
                <a:blip r:embed="rId3"/>
                <a:stretch>
                  <a:fillRect l="-749" t="-3279" b="-10656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ZoneTexte 4"/>
              <p:cNvSpPr txBox="1"/>
              <p:nvPr/>
            </p:nvSpPr>
            <p:spPr>
              <a:xfrm>
                <a:off x="323528" y="4581128"/>
                <a:ext cx="5760640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fr-FR" dirty="0" smtClean="0"/>
                  <a:t>La série ajustée 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fr-FR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b="0" i="1" smtClean="0">
                            <a:latin typeface="Cambria Math"/>
                          </a:rPr>
                          <m:t>𝐹</m:t>
                        </m:r>
                      </m:e>
                      <m:sub>
                        <m:r>
                          <a:rPr lang="fr-FR" b="0" i="1" smtClean="0">
                            <a:latin typeface="Cambria Math"/>
                          </a:rPr>
                          <m:t>𝑡</m:t>
                        </m:r>
                        <m:r>
                          <a:rPr lang="fr-FR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sub>
                    </m:sSub>
                    <m:r>
                      <a:rPr lang="fr-FR" b="0" i="1" smtClean="0">
                        <a:latin typeface="Cambria Math"/>
                      </a:rPr>
                      <m:t>=</m:t>
                    </m:r>
                    <m:d>
                      <m:dPr>
                        <m:ctrlPr>
                          <a:rPr lang="fr-FR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fr-FR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fr-FR" i="1">
                                <a:latin typeface="Cambria Math"/>
                              </a:rPr>
                              <m:t>𝑆</m:t>
                            </m:r>
                          </m:e>
                          <m:sub>
                            <m:r>
                              <a:rPr lang="fr-FR" i="1">
                                <a:latin typeface="Cambria Math"/>
                              </a:rPr>
                              <m:t>𝑡</m:t>
                            </m:r>
                            <m:r>
                              <a:rPr lang="fr-FR" i="1">
                                <a:latin typeface="Cambria Math"/>
                              </a:rPr>
                              <m:t>−1</m:t>
                            </m:r>
                          </m:sub>
                        </m:sSub>
                        <m:sSub>
                          <m:sSubPr>
                            <m:ctrlPr>
                              <a:rPr lang="fr-FR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fr-FR" i="1">
                                <a:latin typeface="Cambria Math"/>
                              </a:rPr>
                              <m:t>+</m:t>
                            </m:r>
                            <m:r>
                              <a:rPr lang="fr-FR" i="1">
                                <a:latin typeface="Cambria Math"/>
                                <a:ea typeface="Cambria Math"/>
                              </a:rPr>
                              <m:t>𝜑</m:t>
                            </m:r>
                            <m:r>
                              <a:rPr lang="fr-FR" i="1">
                                <a:latin typeface="Cambria Math"/>
                              </a:rPr>
                              <m:t>𝑇</m:t>
                            </m:r>
                          </m:e>
                          <m:sub>
                            <m:r>
                              <a:rPr lang="fr-FR" i="1">
                                <a:latin typeface="Cambria Math"/>
                              </a:rPr>
                              <m:t>𝑡</m:t>
                            </m:r>
                            <m:r>
                              <a:rPr lang="fr-FR" b="0" i="1" smtClean="0">
                                <a:latin typeface="Cambria Math" panose="02040503050406030204" pitchFamily="18" charset="0"/>
                              </a:rPr>
                              <m:t>−1</m:t>
                            </m:r>
                          </m:sub>
                        </m:sSub>
                      </m:e>
                    </m:d>
                    <m:sSub>
                      <m:sSubPr>
                        <m:ctrlPr>
                          <a:rPr lang="fr-FR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b="0" i="1" smtClean="0">
                            <a:latin typeface="Cambria Math"/>
                          </a:rPr>
                          <m:t>𝐼</m:t>
                        </m:r>
                      </m:e>
                      <m:sub>
                        <m:r>
                          <a:rPr lang="fr-FR" b="0" i="1" smtClean="0">
                            <a:latin typeface="Cambria Math"/>
                          </a:rPr>
                          <m:t>𝑡</m:t>
                        </m:r>
                        <m:r>
                          <a:rPr lang="fr-FR" b="0" i="1" smtClean="0">
                            <a:latin typeface="Cambria Math"/>
                          </a:rPr>
                          <m:t>−</m:t>
                        </m:r>
                        <m:r>
                          <a:rPr lang="fr-FR" b="0" i="1" smtClean="0">
                            <a:latin typeface="Cambria Math"/>
                          </a:rPr>
                          <m:t>𝑠</m:t>
                        </m:r>
                      </m:sub>
                    </m:sSub>
                  </m:oMath>
                </a14:m>
                <a:endParaRPr lang="fr-FR" dirty="0"/>
              </a:p>
            </p:txBody>
          </p:sp>
        </mc:Choice>
        <mc:Fallback xmlns="">
          <p:sp>
            <p:nvSpPr>
              <p:cNvPr id="5" name="ZoneTexte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3528" y="4581128"/>
                <a:ext cx="5760640" cy="400110"/>
              </a:xfrm>
              <a:prstGeom prst="rect">
                <a:avLst/>
              </a:prstGeom>
              <a:blipFill>
                <a:blip r:embed="rId4"/>
                <a:stretch>
                  <a:fillRect l="-1058" t="-6061" b="-27273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400133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1"/>
          <p:cNvSpPr txBox="1"/>
          <p:nvPr/>
        </p:nvSpPr>
        <p:spPr>
          <a:xfrm>
            <a:off x="323305" y="548680"/>
            <a:ext cx="8820695" cy="707886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fr-FR" b="1" dirty="0"/>
              <a:t>Formules de prévisions à l’instant h, d’une série ajustée jusqu’à l’horizon th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3" name="Tableau 2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544645083"/>
                  </p:ext>
                </p:extLst>
              </p:nvPr>
            </p:nvGraphicFramePr>
            <p:xfrm>
              <a:off x="740671" y="1891773"/>
              <a:ext cx="7863777" cy="3486757"/>
            </p:xfrm>
            <a:graphic>
              <a:graphicData uri="http://schemas.openxmlformats.org/drawingml/2006/table">
                <a:tbl>
                  <a:tblPr rtl="1" firstRow="1" bandRow="1">
                    <a:tableStyleId>{5C22544A-7EE6-4342-B048-85BDC9FD1C3A}</a:tableStyleId>
                  </a:tblPr>
                  <a:tblGrid>
                    <a:gridCol w="5699804">
                      <a:extLst>
                        <a:ext uri="{9D8B030D-6E8A-4147-A177-3AD203B41FA5}">
                          <a16:colId xmlns:a16="http://schemas.microsoft.com/office/drawing/2014/main" val="511291530"/>
                        </a:ext>
                      </a:extLst>
                    </a:gridCol>
                    <a:gridCol w="2163973">
                      <a:extLst>
                        <a:ext uri="{9D8B030D-6E8A-4147-A177-3AD203B41FA5}">
                          <a16:colId xmlns:a16="http://schemas.microsoft.com/office/drawing/2014/main" val="3251634269"/>
                        </a:ext>
                      </a:extLst>
                    </a:gridCol>
                  </a:tblGrid>
                  <a:tr h="501785">
                    <a:tc>
                      <a:txBody>
                        <a:bodyPr/>
                        <a:lstStyle/>
                        <a:p>
                          <a:r>
                            <a:rPr lang="fr-FR" sz="2000" b="0" cap="none" spc="0" dirty="0" smtClean="0">
                              <a:ln w="0"/>
                              <a:solidFill>
                                <a:schemeClr val="tx1"/>
                              </a:solidFill>
                              <a:effectLst>
                                <a:outerShdw blurRad="38100" dist="19050" dir="2700000" algn="tl" rotWithShape="0">
                                  <a:schemeClr val="dk1">
                                    <a:alpha val="40000"/>
                                  </a:schemeClr>
                                </a:outerShdw>
                              </a:effectLst>
                            </a:rPr>
                            <a:t>Formule de prévision</a:t>
                          </a:r>
                          <a:endParaRPr lang="fr-FR" sz="2000" b="0" cap="none" spc="0" dirty="0">
                            <a:ln w="0"/>
                            <a:solidFill>
                              <a:schemeClr val="tx1"/>
                            </a:solidFill>
                            <a:effectLst>
                              <a:outerShdw blurRad="38100" dist="19050" dir="2700000" algn="tl" rotWithShape="0">
                                <a:schemeClr val="dk1">
                                  <a:alpha val="40000"/>
                                </a:schemeClr>
                              </a:outerShdw>
                            </a:effectLst>
                          </a:endParaRPr>
                        </a:p>
                      </a:txBody>
                      <a:tcPr marL="68580" marR="68580" marT="34290" marB="3429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alpha val="99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fr-FR" sz="2000" b="0" cap="none" spc="0" dirty="0" smtClean="0">
                              <a:ln w="0"/>
                              <a:solidFill>
                                <a:schemeClr val="tx1"/>
                              </a:solidFill>
                              <a:effectLst>
                                <a:outerShdw blurRad="38100" dist="19050" dir="2700000" algn="tl" rotWithShape="0">
                                  <a:schemeClr val="dk1">
                                    <a:alpha val="40000"/>
                                  </a:schemeClr>
                                </a:outerShdw>
                              </a:effectLst>
                            </a:rPr>
                            <a:t>Modèle</a:t>
                          </a:r>
                          <a:endParaRPr lang="fr-FR" sz="2000" b="0" cap="none" spc="0" dirty="0">
                            <a:ln w="0"/>
                            <a:solidFill>
                              <a:schemeClr val="tx1"/>
                            </a:solidFill>
                            <a:effectLst>
                              <a:outerShdw blurRad="38100" dist="19050" dir="2700000" algn="tl" rotWithShape="0">
                                <a:schemeClr val="dk1">
                                  <a:alpha val="40000"/>
                                </a:schemeClr>
                              </a:outerShdw>
                            </a:effectLst>
                          </a:endParaRPr>
                        </a:p>
                      </a:txBody>
                      <a:tcPr marL="68580" marR="68580" marT="34290" marB="3429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alpha val="99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197643853"/>
                      </a:ext>
                    </a:extLst>
                  </a:tr>
                  <a:tr h="926549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fr-FR" sz="20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acc>
                                      <m:accPr>
                                        <m:chr m:val="̂"/>
                                        <m:ctrlPr>
                                          <a:rPr lang="fr-FR" sz="20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fr-FR" sz="2000" b="0" i="1" smtClean="0">
                                            <a:latin typeface="Cambria Math" panose="02040503050406030204" pitchFamily="18" charset="0"/>
                                          </a:rPr>
                                          <m:t>𝑋</m:t>
                                        </m:r>
                                      </m:e>
                                    </m:acc>
                                  </m:e>
                                  <m:sub>
                                    <m:r>
                                      <a:rPr lang="fr-FR" sz="2000" b="0" i="1" smtClean="0">
                                        <a:latin typeface="Cambria Math" panose="02040503050406030204" pitchFamily="18" charset="0"/>
                                      </a:rPr>
                                      <m:t>𝑡h</m:t>
                                    </m:r>
                                    <m:r>
                                      <a:rPr lang="fr-FR" sz="2000" b="0" i="1" smtClean="0"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r>
                                      <a:rPr lang="fr-FR" sz="2000" b="0" i="1" smtClean="0">
                                        <a:latin typeface="Cambria Math" panose="02040503050406030204" pitchFamily="18" charset="0"/>
                                      </a:rPr>
                                      <m:t>h</m:t>
                                    </m:r>
                                  </m:sub>
                                </m:sSub>
                                <m:r>
                                  <a:rPr lang="fr-FR" sz="2000" b="0" i="1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sSub>
                                  <m:sSubPr>
                                    <m:ctrlPr>
                                      <a:rPr lang="fr-FR" sz="20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acc>
                                      <m:accPr>
                                        <m:chr m:val="̂"/>
                                        <m:ctrlPr>
                                          <a:rPr lang="fr-FR" sz="200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fr-FR" sz="2000" b="0" i="1" smtClean="0">
                                            <a:latin typeface="Cambria Math"/>
                                          </a:rPr>
                                          <m:t>𝑋</m:t>
                                        </m:r>
                                      </m:e>
                                    </m:acc>
                                  </m:e>
                                  <m:sub>
                                    <m:r>
                                      <a:rPr lang="fr-FR" sz="2000" b="0" i="1" smtClean="0">
                                        <a:latin typeface="Cambria Math"/>
                                      </a:rPr>
                                      <m:t>𝑡</m:t>
                                    </m:r>
                                    <m:r>
                                      <a:rPr lang="fr-FR" sz="2000" b="0" i="1" smtClean="0">
                                        <a:latin typeface="Cambria Math" panose="02040503050406030204" pitchFamily="18" charset="0"/>
                                      </a:rPr>
                                      <m:t>h</m:t>
                                    </m:r>
                                  </m:sub>
                                </m:sSub>
                                <m:d>
                                  <m:dPr>
                                    <m:ctrlPr>
                                      <a:rPr lang="fr-FR" sz="20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fr-FR" sz="2000" b="0" i="1" smtClean="0">
                                        <a:latin typeface="Cambria Math"/>
                                      </a:rPr>
                                      <m:t>h</m:t>
                                    </m:r>
                                  </m:e>
                                </m:d>
                                <m:r>
                                  <a:rPr lang="fr-FR" sz="2000" b="0" i="1" smtClean="0">
                                    <a:latin typeface="Cambria Math"/>
                                  </a:rPr>
                                  <m:t>=</m:t>
                                </m:r>
                                <m:sSub>
                                  <m:sSubPr>
                                    <m:ctrlPr>
                                      <a:rPr lang="fr-FR" sz="20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fr-FR" sz="2000" b="0" i="1" smtClean="0">
                                        <a:latin typeface="Cambria Math"/>
                                      </a:rPr>
                                      <m:t>𝑆</m:t>
                                    </m:r>
                                  </m:e>
                                  <m:sub>
                                    <m:r>
                                      <a:rPr lang="fr-FR" sz="2000" b="0" i="1" smtClean="0">
                                        <a:latin typeface="Cambria Math"/>
                                      </a:rPr>
                                      <m:t>𝑡</m:t>
                                    </m:r>
                                    <m:r>
                                      <a:rPr lang="fr-FR" sz="2000" b="0" i="1" smtClean="0">
                                        <a:latin typeface="Cambria Math" panose="02040503050406030204" pitchFamily="18" charset="0"/>
                                      </a:rPr>
                                      <m:t>h</m:t>
                                    </m:r>
                                  </m:sub>
                                </m:sSub>
                                <m:r>
                                  <a:rPr lang="fr-FR" sz="2000" b="0" i="1" smtClean="0">
                                    <a:latin typeface="Cambria Math"/>
                                  </a:rPr>
                                  <m:t>+</m:t>
                                </m:r>
                                <m:nary>
                                  <m:naryPr>
                                    <m:chr m:val="∑"/>
                                    <m:ctrlPr>
                                      <a:rPr lang="fr-FR" sz="20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naryPr>
                                  <m:sub>
                                    <m:r>
                                      <m:rPr>
                                        <m:brk m:alnAt="23"/>
                                      </m:rPr>
                                      <a:rPr lang="fr-FR" sz="2000" b="0" i="1" smtClean="0">
                                        <a:latin typeface="Cambria Math"/>
                                      </a:rPr>
                                      <m:t>𝑖</m:t>
                                    </m:r>
                                    <m:r>
                                      <a:rPr lang="fr-FR" sz="2000" b="0" i="1" smtClean="0">
                                        <a:latin typeface="Cambria Math"/>
                                      </a:rPr>
                                      <m:t>=1</m:t>
                                    </m:r>
                                  </m:sub>
                                  <m:sup>
                                    <m:r>
                                      <a:rPr lang="fr-FR" sz="2000" b="0" i="1" smtClean="0">
                                        <a:latin typeface="Cambria Math"/>
                                      </a:rPr>
                                      <m:t>h</m:t>
                                    </m:r>
                                  </m:sup>
                                  <m:e>
                                    <m:sSup>
                                      <m:sSupPr>
                                        <m:ctrlPr>
                                          <a:rPr lang="fr-FR" sz="20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fr-FR" sz="2000" b="0" i="1" smtClean="0">
                                            <a:latin typeface="Cambria Math"/>
                                            <a:ea typeface="Cambria Math"/>
                                          </a:rPr>
                                          <m:t>𝜑</m:t>
                                        </m:r>
                                      </m:e>
                                      <m:sup>
                                        <m:r>
                                          <a:rPr lang="fr-FR" sz="2000" b="0" i="1" smtClean="0">
                                            <a:latin typeface="Cambria Math"/>
                                          </a:rPr>
                                          <m:t>𝑖</m:t>
                                        </m:r>
                                      </m:sup>
                                    </m:sSup>
                                    <m:sSub>
                                      <m:sSubPr>
                                        <m:ctrlPr>
                                          <a:rPr lang="fr-FR" sz="20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fr-FR" sz="2000" b="0" i="1" smtClean="0">
                                            <a:latin typeface="Cambria Math"/>
                                          </a:rPr>
                                          <m:t>𝑇</m:t>
                                        </m:r>
                                      </m:e>
                                      <m:sub>
                                        <m:r>
                                          <a:rPr lang="fr-FR" sz="2000" b="0" i="1" smtClean="0">
                                            <a:latin typeface="Cambria Math"/>
                                          </a:rPr>
                                          <m:t>𝑡</m:t>
                                        </m:r>
                                        <m:r>
                                          <a:rPr lang="fr-FR" sz="2000" b="0" i="1" smtClean="0">
                                            <a:latin typeface="Cambria Math" panose="02040503050406030204" pitchFamily="18" charset="0"/>
                                          </a:rPr>
                                          <m:t>h</m:t>
                                        </m:r>
                                      </m:sub>
                                    </m:sSub>
                                  </m:e>
                                </m:nary>
                              </m:oMath>
                            </m:oMathPara>
                          </a14:m>
                          <a:endParaRPr lang="fr-FR" sz="2000" b="0" cap="none" spc="0" dirty="0">
                            <a:ln w="0"/>
                            <a:solidFill>
                              <a:schemeClr val="tx1"/>
                            </a:solidFill>
                            <a:effectLst>
                              <a:outerShdw blurRad="38100" dist="19050" dir="2700000" algn="tl" rotWithShape="0">
                                <a:schemeClr val="dk1">
                                  <a:alpha val="40000"/>
                                </a:schemeClr>
                              </a:outerShdw>
                            </a:effectLst>
                          </a:endParaRPr>
                        </a:p>
                      </a:txBody>
                      <a:tcPr marL="68580" marR="68580" marT="34290" marB="3429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alpha val="99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fr-FR" sz="2000" b="0" cap="none" spc="0" dirty="0" smtClean="0">
                              <a:ln w="0"/>
                              <a:solidFill>
                                <a:schemeClr val="tx1"/>
                              </a:solidFill>
                              <a:effectLst>
                                <a:outerShdw blurRad="38100" dist="19050" dir="2700000" algn="tl" rotWithShape="0">
                                  <a:schemeClr val="dk1">
                                    <a:alpha val="40000"/>
                                  </a:schemeClr>
                                </a:outerShdw>
                              </a:effectLst>
                            </a:rPr>
                            <a:t>DA-N</a:t>
                          </a:r>
                          <a:endParaRPr lang="fr-FR" sz="2000" b="0" cap="none" spc="0" dirty="0">
                            <a:ln w="0"/>
                            <a:solidFill>
                              <a:schemeClr val="tx1"/>
                            </a:solidFill>
                            <a:effectLst>
                              <a:outerShdw blurRad="38100" dist="19050" dir="2700000" algn="tl" rotWithShape="0">
                                <a:schemeClr val="dk1">
                                  <a:alpha val="40000"/>
                                </a:schemeClr>
                              </a:outerShdw>
                            </a:effectLst>
                          </a:endParaRPr>
                        </a:p>
                      </a:txBody>
                      <a:tcPr marL="68580" marR="68580" marT="34290" marB="3429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alpha val="99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235120303"/>
                      </a:ext>
                    </a:extLst>
                  </a:tr>
                  <a:tr h="709683">
                    <a:tc>
                      <a:txBody>
                        <a:bodyPr/>
                        <a:lstStyle/>
                        <a:p>
                          <a:endParaRPr lang="fr-FR" sz="2000" b="0" cap="none" spc="0" dirty="0">
                            <a:ln w="0"/>
                            <a:solidFill>
                              <a:schemeClr val="tx1"/>
                            </a:solidFill>
                            <a:effectLst>
                              <a:outerShdw blurRad="38100" dist="19050" dir="2700000" algn="tl" rotWithShape="0">
                                <a:schemeClr val="dk1">
                                  <a:alpha val="40000"/>
                                </a:schemeClr>
                              </a:outerShdw>
                            </a:effectLst>
                          </a:endParaRPr>
                        </a:p>
                      </a:txBody>
                      <a:tcPr marL="68580" marR="68580" marT="34290" marB="3429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alpha val="99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fr-FR" sz="2000" b="0" cap="none" spc="0" dirty="0" smtClean="0">
                              <a:ln w="0"/>
                              <a:solidFill>
                                <a:schemeClr val="tx1"/>
                              </a:solidFill>
                              <a:effectLst>
                                <a:outerShdw blurRad="38100" dist="19050" dir="2700000" algn="tl" rotWithShape="0">
                                  <a:schemeClr val="dk1">
                                    <a:alpha val="40000"/>
                                  </a:schemeClr>
                                </a:outerShdw>
                              </a:effectLst>
                            </a:rPr>
                            <a:t>N-M</a:t>
                          </a:r>
                          <a:endParaRPr lang="fr-FR" sz="2000" b="0" cap="none" spc="0" dirty="0">
                            <a:ln w="0"/>
                            <a:solidFill>
                              <a:schemeClr val="tx1"/>
                            </a:solidFill>
                            <a:effectLst>
                              <a:outerShdw blurRad="38100" dist="19050" dir="2700000" algn="tl" rotWithShape="0">
                                <a:schemeClr val="dk1">
                                  <a:alpha val="40000"/>
                                </a:schemeClr>
                              </a:outerShdw>
                            </a:effectLst>
                          </a:endParaRPr>
                        </a:p>
                      </a:txBody>
                      <a:tcPr marL="68580" marR="68580" marT="34290" marB="3429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alpha val="99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784131313"/>
                      </a:ext>
                    </a:extLst>
                  </a:tr>
                  <a:tr h="1343426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fr-FR" sz="20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acc>
                                      <m:accPr>
                                        <m:chr m:val="̂"/>
                                        <m:ctrlPr>
                                          <a:rPr lang="fr-FR" sz="20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fr-FR" sz="2000" b="0" i="1" smtClean="0">
                                            <a:latin typeface="Cambria Math" panose="02040503050406030204" pitchFamily="18" charset="0"/>
                                          </a:rPr>
                                          <m:t>𝑋</m:t>
                                        </m:r>
                                      </m:e>
                                    </m:acc>
                                  </m:e>
                                  <m:sub>
                                    <m:r>
                                      <a:rPr lang="fr-FR" sz="2000" b="0" i="1" smtClean="0">
                                        <a:latin typeface="Cambria Math" panose="02040503050406030204" pitchFamily="18" charset="0"/>
                                      </a:rPr>
                                      <m:t>𝑡h</m:t>
                                    </m:r>
                                    <m:r>
                                      <a:rPr lang="fr-FR" sz="2000" b="0" i="1" smtClean="0"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r>
                                      <a:rPr lang="fr-FR" sz="2000" b="0" i="1" smtClean="0">
                                        <a:latin typeface="Cambria Math" panose="02040503050406030204" pitchFamily="18" charset="0"/>
                                      </a:rPr>
                                      <m:t>h</m:t>
                                    </m:r>
                                  </m:sub>
                                </m:sSub>
                                <m:r>
                                  <a:rPr lang="fr-FR" sz="2000" b="0" i="1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sSub>
                                  <m:sSubPr>
                                    <m:ctrlPr>
                                      <a:rPr lang="fr-FR" sz="20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acc>
                                      <m:accPr>
                                        <m:chr m:val="̂"/>
                                        <m:ctrlPr>
                                          <a:rPr lang="fr-FR" sz="200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fr-FR" sz="2000" b="0" i="1" smtClean="0">
                                            <a:latin typeface="Cambria Math"/>
                                          </a:rPr>
                                          <m:t>𝑋</m:t>
                                        </m:r>
                                      </m:e>
                                    </m:acc>
                                  </m:e>
                                  <m:sub>
                                    <m:r>
                                      <a:rPr lang="fr-FR" sz="2000" b="0" i="1" smtClean="0">
                                        <a:latin typeface="Cambria Math"/>
                                      </a:rPr>
                                      <m:t>𝑡</m:t>
                                    </m:r>
                                    <m:r>
                                      <a:rPr lang="fr-FR" sz="2000" b="0" i="1" smtClean="0">
                                        <a:latin typeface="Cambria Math" panose="02040503050406030204" pitchFamily="18" charset="0"/>
                                      </a:rPr>
                                      <m:t>h</m:t>
                                    </m:r>
                                  </m:sub>
                                </m:sSub>
                                <m:d>
                                  <m:dPr>
                                    <m:ctrlPr>
                                      <a:rPr lang="fr-FR" sz="20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fr-FR" sz="2000" b="0" i="1" smtClean="0">
                                        <a:latin typeface="Cambria Math"/>
                                      </a:rPr>
                                      <m:t>h</m:t>
                                    </m:r>
                                  </m:e>
                                </m:d>
                                <m:r>
                                  <a:rPr lang="fr-FR" sz="2000" b="0" i="1" smtClean="0">
                                    <a:latin typeface="Cambria Math"/>
                                  </a:rPr>
                                  <m:t>=</m:t>
                                </m:r>
                                <m:d>
                                  <m:dPr>
                                    <m:ctrlPr>
                                      <a:rPr lang="fr-FR" sz="20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fr-FR" sz="20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fr-FR" sz="2000" i="1">
                                            <a:latin typeface="Cambria Math"/>
                                          </a:rPr>
                                          <m:t>𝑆</m:t>
                                        </m:r>
                                      </m:e>
                                      <m:sub>
                                        <m:r>
                                          <a:rPr lang="fr-FR" sz="2000" i="1">
                                            <a:latin typeface="Cambria Math"/>
                                          </a:rPr>
                                          <m:t>𝑡</m:t>
                                        </m:r>
                                        <m:r>
                                          <a:rPr lang="fr-FR" sz="2000" b="0" i="1" smtClean="0">
                                            <a:latin typeface="Cambria Math" panose="02040503050406030204" pitchFamily="18" charset="0"/>
                                          </a:rPr>
                                          <m:t>h</m:t>
                                        </m:r>
                                      </m:sub>
                                    </m:sSub>
                                    <m:r>
                                      <a:rPr lang="fr-FR" sz="2000" i="1">
                                        <a:latin typeface="Cambria Math"/>
                                      </a:rPr>
                                      <m:t>+</m:t>
                                    </m:r>
                                    <m:nary>
                                      <m:naryPr>
                                        <m:chr m:val="∑"/>
                                        <m:ctrlPr>
                                          <a:rPr lang="fr-FR" sz="20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naryPr>
                                      <m:sub>
                                        <m:r>
                                          <m:rPr>
                                            <m:brk m:alnAt="23"/>
                                          </m:rPr>
                                          <a:rPr lang="fr-FR" sz="2000" i="1">
                                            <a:latin typeface="Cambria Math"/>
                                          </a:rPr>
                                          <m:t>𝑖</m:t>
                                        </m:r>
                                        <m:r>
                                          <a:rPr lang="fr-FR" sz="2000" i="1">
                                            <a:latin typeface="Cambria Math"/>
                                          </a:rPr>
                                          <m:t>=1</m:t>
                                        </m:r>
                                      </m:sub>
                                      <m:sup>
                                        <m:r>
                                          <a:rPr lang="fr-FR" sz="2000" i="1">
                                            <a:latin typeface="Cambria Math"/>
                                          </a:rPr>
                                          <m:t>h</m:t>
                                        </m:r>
                                      </m:sup>
                                      <m:e>
                                        <m:sSup>
                                          <m:sSupPr>
                                            <m:ctrlPr>
                                              <a:rPr lang="fr-FR" sz="2000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pPr>
                                          <m:e>
                                            <m:r>
                                              <a:rPr lang="fr-FR" sz="2000" i="1">
                                                <a:latin typeface="Cambria Math"/>
                                                <a:ea typeface="Cambria Math"/>
                                              </a:rPr>
                                              <m:t>𝜑</m:t>
                                            </m:r>
                                          </m:e>
                                          <m:sup>
                                            <m:r>
                                              <a:rPr lang="fr-FR" sz="2000" i="1">
                                                <a:latin typeface="Cambria Math"/>
                                              </a:rPr>
                                              <m:t>𝑖</m:t>
                                            </m:r>
                                          </m:sup>
                                        </m:sSup>
                                        <m:sSub>
                                          <m:sSubPr>
                                            <m:ctrlPr>
                                              <a:rPr lang="fr-FR" sz="2000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fr-FR" sz="2000" i="1">
                                                <a:latin typeface="Cambria Math"/>
                                              </a:rPr>
                                              <m:t>𝑇</m:t>
                                            </m:r>
                                          </m:e>
                                          <m:sub>
                                            <m:r>
                                              <a:rPr lang="fr-FR" sz="2000" i="1">
                                                <a:latin typeface="Cambria Math"/>
                                              </a:rPr>
                                              <m:t>𝑡</m:t>
                                            </m:r>
                                            <m:r>
                                              <a:rPr lang="fr-FR" sz="2000" b="0" i="1" smtClean="0">
                                                <a:latin typeface="Cambria Math" panose="02040503050406030204" pitchFamily="18" charset="0"/>
                                              </a:rPr>
                                              <m:t>h</m:t>
                                            </m:r>
                                          </m:sub>
                                        </m:sSub>
                                      </m:e>
                                    </m:nary>
                                  </m:e>
                                </m:d>
                                <m:sSub>
                                  <m:sSubPr>
                                    <m:ctrlPr>
                                      <a:rPr lang="fr-FR" sz="20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fr-FR" sz="2000" b="0" i="1" smtClean="0">
                                        <a:latin typeface="Cambria Math"/>
                                      </a:rPr>
                                      <m:t>𝐼</m:t>
                                    </m:r>
                                  </m:e>
                                  <m:sub>
                                    <m:r>
                                      <a:rPr lang="fr-FR" sz="2000" b="0" i="1" smtClean="0">
                                        <a:latin typeface="Cambria Math"/>
                                      </a:rPr>
                                      <m:t>𝑡</m:t>
                                    </m:r>
                                    <m:r>
                                      <a:rPr lang="fr-FR" sz="2000" b="0" i="1" smtClean="0">
                                        <a:latin typeface="Cambria Math" panose="02040503050406030204" pitchFamily="18" charset="0"/>
                                      </a:rPr>
                                      <m:t>h</m:t>
                                    </m:r>
                                    <m:r>
                                      <a:rPr lang="fr-FR" sz="2000" b="0" i="1" smtClean="0">
                                        <a:latin typeface="Cambria Math"/>
                                      </a:rPr>
                                      <m:t>+</m:t>
                                    </m:r>
                                    <m:r>
                                      <a:rPr lang="fr-FR" sz="2000" b="0" i="1" smtClean="0">
                                        <a:latin typeface="Cambria Math"/>
                                      </a:rPr>
                                      <m:t>h</m:t>
                                    </m:r>
                                    <m:r>
                                      <a:rPr lang="fr-FR" sz="2000" b="0" i="1" smtClean="0">
                                        <a:latin typeface="Cambria Math"/>
                                      </a:rPr>
                                      <m:t>−</m:t>
                                    </m:r>
                                    <m:r>
                                      <a:rPr lang="fr-FR" sz="2000" b="0" i="1" smtClean="0">
                                        <a:latin typeface="Cambria Math"/>
                                      </a:rPr>
                                      <m:t>𝑠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fr-FR" sz="2000" b="0" cap="none" spc="0" dirty="0">
                            <a:ln w="0"/>
                            <a:solidFill>
                              <a:schemeClr val="tx1"/>
                            </a:solidFill>
                            <a:effectLst>
                              <a:outerShdw blurRad="38100" dist="19050" dir="2700000" algn="tl" rotWithShape="0">
                                <a:schemeClr val="dk1">
                                  <a:alpha val="40000"/>
                                </a:schemeClr>
                              </a:outerShdw>
                            </a:effectLst>
                          </a:endParaRPr>
                        </a:p>
                      </a:txBody>
                      <a:tcPr marL="68580" marR="68580" marT="34290" marB="3429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alpha val="99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fr-FR" sz="2000" b="0" cap="none" spc="0" dirty="0" smtClean="0">
                              <a:ln w="0"/>
                              <a:solidFill>
                                <a:schemeClr val="tx1"/>
                              </a:solidFill>
                              <a:effectLst>
                                <a:outerShdw blurRad="38100" dist="19050" dir="2700000" algn="tl" rotWithShape="0">
                                  <a:schemeClr val="dk1">
                                    <a:alpha val="40000"/>
                                  </a:schemeClr>
                                </a:outerShdw>
                              </a:effectLst>
                            </a:rPr>
                            <a:t>DA-M</a:t>
                          </a:r>
                          <a:endParaRPr lang="fr-FR" sz="2000" b="0" cap="none" spc="0" dirty="0">
                            <a:ln w="0"/>
                            <a:solidFill>
                              <a:schemeClr val="tx1"/>
                            </a:solidFill>
                            <a:effectLst>
                              <a:outerShdw blurRad="38100" dist="19050" dir="2700000" algn="tl" rotWithShape="0">
                                <a:schemeClr val="dk1">
                                  <a:alpha val="40000"/>
                                </a:schemeClr>
                              </a:outerShdw>
                            </a:effectLst>
                          </a:endParaRPr>
                        </a:p>
                      </a:txBody>
                      <a:tcPr marL="68580" marR="68580" marT="34290" marB="3429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alpha val="99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19559307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3" name="Tableau 2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544645083"/>
                  </p:ext>
                </p:extLst>
              </p:nvPr>
            </p:nvGraphicFramePr>
            <p:xfrm>
              <a:off x="740671" y="1891773"/>
              <a:ext cx="7863777" cy="3486757"/>
            </p:xfrm>
            <a:graphic>
              <a:graphicData uri="http://schemas.openxmlformats.org/drawingml/2006/table">
                <a:tbl>
                  <a:tblPr rtl="1" firstRow="1" bandRow="1">
                    <a:tableStyleId>{5C22544A-7EE6-4342-B048-85BDC9FD1C3A}</a:tableStyleId>
                  </a:tblPr>
                  <a:tblGrid>
                    <a:gridCol w="5699804">
                      <a:extLst>
                        <a:ext uri="{9D8B030D-6E8A-4147-A177-3AD203B41FA5}">
                          <a16:colId xmlns:a16="http://schemas.microsoft.com/office/drawing/2014/main" val="511291530"/>
                        </a:ext>
                      </a:extLst>
                    </a:gridCol>
                    <a:gridCol w="2163973">
                      <a:extLst>
                        <a:ext uri="{9D8B030D-6E8A-4147-A177-3AD203B41FA5}">
                          <a16:colId xmlns:a16="http://schemas.microsoft.com/office/drawing/2014/main" val="3251634269"/>
                        </a:ext>
                      </a:extLst>
                    </a:gridCol>
                  </a:tblGrid>
                  <a:tr h="501785">
                    <a:tc>
                      <a:txBody>
                        <a:bodyPr/>
                        <a:lstStyle/>
                        <a:p>
                          <a:r>
                            <a:rPr lang="fr-FR" sz="2000" b="0" cap="none" spc="0" dirty="0" smtClean="0">
                              <a:ln w="0"/>
                              <a:solidFill>
                                <a:schemeClr val="tx1"/>
                              </a:solidFill>
                              <a:effectLst>
                                <a:outerShdw blurRad="38100" dist="19050" dir="2700000" algn="tl" rotWithShape="0">
                                  <a:schemeClr val="dk1">
                                    <a:alpha val="40000"/>
                                  </a:schemeClr>
                                </a:outerShdw>
                              </a:effectLst>
                            </a:rPr>
                            <a:t>Formule de prévision</a:t>
                          </a:r>
                          <a:endParaRPr lang="fr-FR" sz="2000" b="0" cap="none" spc="0" dirty="0">
                            <a:ln w="0"/>
                            <a:solidFill>
                              <a:schemeClr val="tx1"/>
                            </a:solidFill>
                            <a:effectLst>
                              <a:outerShdw blurRad="38100" dist="19050" dir="2700000" algn="tl" rotWithShape="0">
                                <a:schemeClr val="dk1">
                                  <a:alpha val="40000"/>
                                </a:schemeClr>
                              </a:outerShdw>
                            </a:effectLst>
                          </a:endParaRPr>
                        </a:p>
                      </a:txBody>
                      <a:tcPr marL="68580" marR="68580" marT="34290" marB="3429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alpha val="99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fr-FR" sz="2000" b="0" cap="none" spc="0" dirty="0" smtClean="0">
                              <a:ln w="0"/>
                              <a:solidFill>
                                <a:schemeClr val="tx1"/>
                              </a:solidFill>
                              <a:effectLst>
                                <a:outerShdw blurRad="38100" dist="19050" dir="2700000" algn="tl" rotWithShape="0">
                                  <a:schemeClr val="dk1">
                                    <a:alpha val="40000"/>
                                  </a:schemeClr>
                                </a:outerShdw>
                              </a:effectLst>
                            </a:rPr>
                            <a:t>Modèle</a:t>
                          </a:r>
                          <a:endParaRPr lang="fr-FR" sz="2000" b="0" cap="none" spc="0" dirty="0">
                            <a:ln w="0"/>
                            <a:solidFill>
                              <a:schemeClr val="tx1"/>
                            </a:solidFill>
                            <a:effectLst>
                              <a:outerShdw blurRad="38100" dist="19050" dir="2700000" algn="tl" rotWithShape="0">
                                <a:schemeClr val="dk1">
                                  <a:alpha val="40000"/>
                                </a:schemeClr>
                              </a:outerShdw>
                            </a:effectLst>
                          </a:endParaRPr>
                        </a:p>
                      </a:txBody>
                      <a:tcPr marL="68580" marR="68580" marT="34290" marB="3429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alpha val="99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197643853"/>
                      </a:ext>
                    </a:extLst>
                  </a:tr>
                  <a:tr h="931863">
                    <a:tc>
                      <a:txBody>
                        <a:bodyPr/>
                        <a:lstStyle/>
                        <a:p>
                          <a:endParaRPr lang="ar-MA"/>
                        </a:p>
                      </a:txBody>
                      <a:tcPr marL="68580" marR="68580" marT="34290" marB="3429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107" t="-58442" r="-38141" b="-22013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fr-FR" sz="2000" b="0" cap="none" spc="0" dirty="0" smtClean="0">
                              <a:ln w="0"/>
                              <a:solidFill>
                                <a:schemeClr val="tx1"/>
                              </a:solidFill>
                              <a:effectLst>
                                <a:outerShdw blurRad="38100" dist="19050" dir="2700000" algn="tl" rotWithShape="0">
                                  <a:schemeClr val="dk1">
                                    <a:alpha val="40000"/>
                                  </a:schemeClr>
                                </a:outerShdw>
                              </a:effectLst>
                            </a:rPr>
                            <a:t>DA-N</a:t>
                          </a:r>
                          <a:endParaRPr lang="fr-FR" sz="2000" b="0" cap="none" spc="0" dirty="0">
                            <a:ln w="0"/>
                            <a:solidFill>
                              <a:schemeClr val="tx1"/>
                            </a:solidFill>
                            <a:effectLst>
                              <a:outerShdw blurRad="38100" dist="19050" dir="2700000" algn="tl" rotWithShape="0">
                                <a:schemeClr val="dk1">
                                  <a:alpha val="40000"/>
                                </a:schemeClr>
                              </a:outerShdw>
                            </a:effectLst>
                          </a:endParaRPr>
                        </a:p>
                      </a:txBody>
                      <a:tcPr marL="68580" marR="68580" marT="34290" marB="3429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alpha val="99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235120303"/>
                      </a:ext>
                    </a:extLst>
                  </a:tr>
                  <a:tr h="709683">
                    <a:tc>
                      <a:txBody>
                        <a:bodyPr/>
                        <a:lstStyle/>
                        <a:p>
                          <a:endParaRPr lang="fr-FR" sz="2000" b="0" cap="none" spc="0" dirty="0">
                            <a:ln w="0"/>
                            <a:solidFill>
                              <a:schemeClr val="tx1"/>
                            </a:solidFill>
                            <a:effectLst>
                              <a:outerShdw blurRad="38100" dist="19050" dir="2700000" algn="tl" rotWithShape="0">
                                <a:schemeClr val="dk1">
                                  <a:alpha val="40000"/>
                                </a:schemeClr>
                              </a:outerShdw>
                            </a:effectLst>
                          </a:endParaRPr>
                        </a:p>
                      </a:txBody>
                      <a:tcPr marL="68580" marR="68580" marT="34290" marB="3429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alpha val="99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fr-FR" sz="2000" b="0" cap="none" spc="0" dirty="0" smtClean="0">
                              <a:ln w="0"/>
                              <a:solidFill>
                                <a:schemeClr val="tx1"/>
                              </a:solidFill>
                              <a:effectLst>
                                <a:outerShdw blurRad="38100" dist="19050" dir="2700000" algn="tl" rotWithShape="0">
                                  <a:schemeClr val="dk1">
                                    <a:alpha val="40000"/>
                                  </a:schemeClr>
                                </a:outerShdw>
                              </a:effectLst>
                            </a:rPr>
                            <a:t>N-M</a:t>
                          </a:r>
                          <a:endParaRPr lang="fr-FR" sz="2000" b="0" cap="none" spc="0" dirty="0">
                            <a:ln w="0"/>
                            <a:solidFill>
                              <a:schemeClr val="tx1"/>
                            </a:solidFill>
                            <a:effectLst>
                              <a:outerShdw blurRad="38100" dist="19050" dir="2700000" algn="tl" rotWithShape="0">
                                <a:schemeClr val="dk1">
                                  <a:alpha val="40000"/>
                                </a:schemeClr>
                              </a:outerShdw>
                            </a:effectLst>
                          </a:endParaRPr>
                        </a:p>
                      </a:txBody>
                      <a:tcPr marL="68580" marR="68580" marT="34290" marB="3429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alpha val="99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784131313"/>
                      </a:ext>
                    </a:extLst>
                  </a:tr>
                  <a:tr h="1343426">
                    <a:tc>
                      <a:txBody>
                        <a:bodyPr/>
                        <a:lstStyle/>
                        <a:p>
                          <a:endParaRPr lang="ar-MA"/>
                        </a:p>
                      </a:txBody>
                      <a:tcPr marL="68580" marR="68580" marT="34290" marB="3429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107" t="-162896" r="-38141" b="-90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fr-FR" sz="2000" b="0" cap="none" spc="0" dirty="0" smtClean="0">
                              <a:ln w="0"/>
                              <a:solidFill>
                                <a:schemeClr val="tx1"/>
                              </a:solidFill>
                              <a:effectLst>
                                <a:outerShdw blurRad="38100" dist="19050" dir="2700000" algn="tl" rotWithShape="0">
                                  <a:schemeClr val="dk1">
                                    <a:alpha val="40000"/>
                                  </a:schemeClr>
                                </a:outerShdw>
                              </a:effectLst>
                            </a:rPr>
                            <a:t>DA-M</a:t>
                          </a:r>
                          <a:endParaRPr lang="fr-FR" sz="2000" b="0" cap="none" spc="0" dirty="0">
                            <a:ln w="0"/>
                            <a:solidFill>
                              <a:schemeClr val="tx1"/>
                            </a:solidFill>
                            <a:effectLst>
                              <a:outerShdw blurRad="38100" dist="19050" dir="2700000" algn="tl" rotWithShape="0">
                                <a:schemeClr val="dk1">
                                  <a:alpha val="40000"/>
                                </a:schemeClr>
                              </a:outerShdw>
                            </a:effectLst>
                          </a:endParaRPr>
                        </a:p>
                      </a:txBody>
                      <a:tcPr marL="68580" marR="68580" marT="34290" marB="3429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alpha val="99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195593074"/>
                      </a:ext>
                    </a:extLst>
                  </a:tr>
                </a:tbl>
              </a:graphicData>
            </a:graphic>
          </p:graphicFrame>
        </mc:Fallback>
      </mc:AlternateContent>
      <p:graphicFrame>
        <p:nvGraphicFramePr>
          <p:cNvPr id="4" name="Obje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91263987"/>
              </p:ext>
            </p:extLst>
          </p:nvPr>
        </p:nvGraphicFramePr>
        <p:xfrm>
          <a:off x="4659798" y="3409801"/>
          <a:ext cx="2702719" cy="45124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5083" name="Équation" r:id="rId4" imgW="1523880" imgH="253800" progId="Equation.3">
                  <p:embed/>
                </p:oleObj>
              </mc:Choice>
              <mc:Fallback>
                <p:oleObj name="Équation" r:id="rId4" imgW="1523880" imgH="253800" progId="Equation.3">
                  <p:embed/>
                  <p:pic>
                    <p:nvPicPr>
                      <p:cNvPr id="4" name="Obje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59798" y="3409801"/>
                        <a:ext cx="2702719" cy="45124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40781038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1"/>
          <p:cNvSpPr txBox="1"/>
          <p:nvPr/>
        </p:nvSpPr>
        <p:spPr>
          <a:xfrm>
            <a:off x="251520" y="332656"/>
            <a:ext cx="856895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 smtClean="0"/>
              <a:t>Longueurs T des séries chronologiques pour minimiser l’effet des valeurs initiales :</a:t>
            </a:r>
            <a:endParaRPr lang="fr-FR" dirty="0"/>
          </a:p>
        </p:txBody>
      </p:sp>
      <p:sp>
        <p:nvSpPr>
          <p:cNvPr id="3" name="ZoneTexte 2"/>
          <p:cNvSpPr txBox="1"/>
          <p:nvPr/>
        </p:nvSpPr>
        <p:spPr>
          <a:xfrm>
            <a:off x="251520" y="1124744"/>
            <a:ext cx="806489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 smtClean="0"/>
              <a:t>Séries trimestrielles ≥ 12*4 = 48</a:t>
            </a:r>
            <a:endParaRPr lang="fr-FR" dirty="0"/>
          </a:p>
        </p:txBody>
      </p:sp>
      <p:sp>
        <p:nvSpPr>
          <p:cNvPr id="4" name="ZoneTexte 3"/>
          <p:cNvSpPr txBox="1"/>
          <p:nvPr/>
        </p:nvSpPr>
        <p:spPr>
          <a:xfrm>
            <a:off x="251520" y="1660738"/>
            <a:ext cx="806489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 smtClean="0"/>
              <a:t>Séries mensuelles ≥ 8*12 = 96</a:t>
            </a:r>
            <a:endParaRPr lang="fr-FR" dirty="0"/>
          </a:p>
        </p:txBody>
      </p:sp>
      <p:sp>
        <p:nvSpPr>
          <p:cNvPr id="5" name="ZoneTexte 4"/>
          <p:cNvSpPr txBox="1"/>
          <p:nvPr/>
        </p:nvSpPr>
        <p:spPr>
          <a:xfrm>
            <a:off x="251520" y="2348880"/>
            <a:ext cx="835292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 smtClean="0"/>
              <a:t>Période d’ajustement : T – 2*s</a:t>
            </a:r>
            <a:endParaRPr lang="fr-FR" dirty="0"/>
          </a:p>
        </p:txBody>
      </p:sp>
      <p:sp>
        <p:nvSpPr>
          <p:cNvPr id="6" name="ZoneTexte 5"/>
          <p:cNvSpPr txBox="1"/>
          <p:nvPr/>
        </p:nvSpPr>
        <p:spPr>
          <a:xfrm>
            <a:off x="251520" y="2862912"/>
            <a:ext cx="835292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 smtClean="0"/>
              <a:t>Période de prévision : 2*s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9345751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1"/>
          <p:cNvSpPr txBox="1"/>
          <p:nvPr/>
        </p:nvSpPr>
        <p:spPr>
          <a:xfrm>
            <a:off x="107504" y="332656"/>
            <a:ext cx="856895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 smtClean="0"/>
              <a:t>Le lissage exponentiel avec SPSS</a:t>
            </a:r>
            <a:endParaRPr lang="fr-FR" b="1" dirty="0"/>
          </a:p>
        </p:txBody>
      </p:sp>
      <p:sp>
        <p:nvSpPr>
          <p:cNvPr id="4" name="ZoneTexte 3"/>
          <p:cNvSpPr txBox="1"/>
          <p:nvPr/>
        </p:nvSpPr>
        <p:spPr>
          <a:xfrm>
            <a:off x="179512" y="836712"/>
            <a:ext cx="871296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 smtClean="0"/>
              <a:t>SPSS permet de calculer l’un des modèles suivant</a:t>
            </a:r>
            <a:endParaRPr lang="fr-FR" dirty="0"/>
          </a:p>
        </p:txBody>
      </p:sp>
      <p:sp>
        <p:nvSpPr>
          <p:cNvPr id="5" name="ZoneTexte 4"/>
          <p:cNvSpPr txBox="1"/>
          <p:nvPr/>
        </p:nvSpPr>
        <p:spPr>
          <a:xfrm>
            <a:off x="323528" y="6107600"/>
            <a:ext cx="856895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 smtClean="0"/>
              <a:t>Il permet aussi de choisir le meilleur modèle parmi ces modèles</a:t>
            </a:r>
            <a:endParaRPr lang="fr-FR" dirty="0"/>
          </a:p>
        </p:txBody>
      </p:sp>
      <p:pic>
        <p:nvPicPr>
          <p:cNvPr id="6" name="Imag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7584" y="1419548"/>
            <a:ext cx="6200775" cy="4505325"/>
          </a:xfrm>
          <a:prstGeom prst="rect">
            <a:avLst/>
          </a:prstGeom>
        </p:spPr>
      </p:pic>
      <p:sp>
        <p:nvSpPr>
          <p:cNvPr id="8" name="ZoneTexte 7"/>
          <p:cNvSpPr txBox="1"/>
          <p:nvPr/>
        </p:nvSpPr>
        <p:spPr>
          <a:xfrm>
            <a:off x="7452320" y="4429561"/>
            <a:ext cx="1224136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 smtClean="0"/>
              <a:t>Modèle </a:t>
            </a:r>
            <a:r>
              <a:rPr lang="fr-FR" dirty="0">
                <a:latin typeface="Arial" panose="020B0604020202020204" pitchFamily="34" charset="0"/>
                <a:cs typeface="Arial" panose="020B0604020202020204" pitchFamily="34" charset="0"/>
              </a:rPr>
              <a:t>DA-N</a:t>
            </a:r>
          </a:p>
          <a:p>
            <a:endParaRPr lang="fr-FR" dirty="0"/>
          </a:p>
        </p:txBody>
      </p:sp>
      <p:sp>
        <p:nvSpPr>
          <p:cNvPr id="11" name="ZoneTexte 10"/>
          <p:cNvSpPr txBox="1"/>
          <p:nvPr/>
        </p:nvSpPr>
        <p:spPr>
          <a:xfrm>
            <a:off x="7380312" y="2721114"/>
            <a:ext cx="165618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 smtClean="0"/>
              <a:t>Lissage double</a:t>
            </a:r>
            <a:endParaRPr lang="fr-FR" dirty="0"/>
          </a:p>
        </p:txBody>
      </p:sp>
      <p:sp>
        <p:nvSpPr>
          <p:cNvPr id="12" name="Rectangle à coins arrondis 11"/>
          <p:cNvSpPr/>
          <p:nvPr/>
        </p:nvSpPr>
        <p:spPr>
          <a:xfrm>
            <a:off x="7380312" y="2619278"/>
            <a:ext cx="1152128" cy="792088"/>
          </a:xfrm>
          <a:prstGeom prst="wedgeRoundRectCallout">
            <a:avLst>
              <a:gd name="adj1" fmla="val -384330"/>
              <a:gd name="adj2" fmla="val 14015"/>
              <a:gd name="adj3" fmla="val 16667"/>
            </a:avLst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3" name="Rectangle à coins arrondis 12"/>
          <p:cNvSpPr/>
          <p:nvPr/>
        </p:nvSpPr>
        <p:spPr>
          <a:xfrm>
            <a:off x="7380312" y="4221087"/>
            <a:ext cx="1141784" cy="1078455"/>
          </a:xfrm>
          <a:prstGeom prst="wedgeRoundRectCallout">
            <a:avLst>
              <a:gd name="adj1" fmla="val -439584"/>
              <a:gd name="adj2" fmla="val -125435"/>
              <a:gd name="adj3" fmla="val 16667"/>
            </a:avLst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25258674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1"/>
          <p:cNvSpPr txBox="1"/>
          <p:nvPr/>
        </p:nvSpPr>
        <p:spPr>
          <a:xfrm>
            <a:off x="251520" y="404664"/>
            <a:ext cx="777686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smtClean="0"/>
              <a:t>Les modèles </a:t>
            </a:r>
            <a:r>
              <a:rPr lang="fr-FR" b="1" dirty="0" smtClean="0"/>
              <a:t>de </a:t>
            </a:r>
            <a:r>
              <a:rPr lang="fr-FR" b="1" dirty="0" err="1" smtClean="0"/>
              <a:t>Hyndman</a:t>
            </a:r>
            <a:r>
              <a:rPr lang="fr-FR" b="1" dirty="0" smtClean="0"/>
              <a:t> : Approche ETS</a:t>
            </a:r>
            <a:endParaRPr lang="fr-FR" b="1" dirty="0"/>
          </a:p>
        </p:txBody>
      </p:sp>
      <p:sp>
        <p:nvSpPr>
          <p:cNvPr id="3" name="ZoneTexte 2"/>
          <p:cNvSpPr txBox="1"/>
          <p:nvPr/>
        </p:nvSpPr>
        <p:spPr>
          <a:xfrm>
            <a:off x="539552" y="1052736"/>
            <a:ext cx="799288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 smtClean="0"/>
              <a:t>E : erreur, T : trend, S : composante saisonnière</a:t>
            </a:r>
            <a:endParaRPr lang="fr-FR" dirty="0"/>
          </a:p>
        </p:txBody>
      </p:sp>
      <p:sp>
        <p:nvSpPr>
          <p:cNvPr id="4" name="ZoneTexte 3"/>
          <p:cNvSpPr txBox="1"/>
          <p:nvPr/>
        </p:nvSpPr>
        <p:spPr>
          <a:xfrm>
            <a:off x="359532" y="1716777"/>
            <a:ext cx="835292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 smtClean="0"/>
              <a:t>Le trend peut prendre les formes suivantes : </a:t>
            </a:r>
            <a:endParaRPr lang="fr-FR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ZoneTexte 4"/>
              <p:cNvSpPr txBox="1"/>
              <p:nvPr/>
            </p:nvSpPr>
            <p:spPr>
              <a:xfrm>
                <a:off x="539552" y="2132856"/>
                <a:ext cx="7920880" cy="285437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fr-FR" dirty="0" smtClean="0"/>
                  <a:t>None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fr-FR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b="0" i="1" smtClean="0">
                            <a:latin typeface="Cambria Math"/>
                          </a:rPr>
                          <m:t>𝑇</m:t>
                        </m:r>
                      </m:e>
                      <m:sub>
                        <m:r>
                          <a:rPr lang="fr-FR" b="0" i="1" smtClean="0">
                            <a:latin typeface="Cambria Math"/>
                          </a:rPr>
                          <m:t>h</m:t>
                        </m:r>
                      </m:sub>
                    </m:sSub>
                    <m:r>
                      <a:rPr lang="fr-FR" b="0" i="1" smtClean="0">
                        <a:latin typeface="Cambria Math"/>
                      </a:rPr>
                      <m:t>=</m:t>
                    </m:r>
                    <m:r>
                      <a:rPr lang="fr-FR" b="0" i="1" smtClean="0">
                        <a:latin typeface="Cambria Math"/>
                      </a:rPr>
                      <m:t>𝑙</m:t>
                    </m:r>
                  </m:oMath>
                </a14:m>
                <a:endParaRPr lang="fr-FR" b="0" dirty="0" smtClean="0"/>
              </a:p>
              <a:p>
                <a:pPr>
                  <a:lnSpc>
                    <a:spcPct val="150000"/>
                  </a:lnSpc>
                </a:pPr>
                <a:r>
                  <a:rPr lang="fr-FR" dirty="0" smtClean="0"/>
                  <a:t>Additive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fr-F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i="1">
                            <a:latin typeface="Cambria Math"/>
                          </a:rPr>
                          <m:t>𝑇</m:t>
                        </m:r>
                      </m:e>
                      <m:sub>
                        <m:r>
                          <a:rPr lang="fr-FR" i="1">
                            <a:latin typeface="Cambria Math"/>
                          </a:rPr>
                          <m:t>h</m:t>
                        </m:r>
                      </m:sub>
                    </m:sSub>
                    <m:r>
                      <a:rPr lang="fr-FR" i="1">
                        <a:latin typeface="Cambria Math"/>
                      </a:rPr>
                      <m:t>=</m:t>
                    </m:r>
                    <m:r>
                      <a:rPr lang="fr-FR" i="1">
                        <a:latin typeface="Cambria Math"/>
                      </a:rPr>
                      <m:t>𝑙</m:t>
                    </m:r>
                    <m:r>
                      <a:rPr lang="fr-FR" b="0" i="1" smtClean="0">
                        <a:latin typeface="Cambria Math"/>
                      </a:rPr>
                      <m:t>+</m:t>
                    </m:r>
                    <m:r>
                      <a:rPr lang="fr-FR" b="0" i="1" smtClean="0">
                        <a:latin typeface="Cambria Math"/>
                      </a:rPr>
                      <m:t>𝑏h</m:t>
                    </m:r>
                  </m:oMath>
                </a14:m>
                <a:endParaRPr lang="fr-FR" dirty="0" smtClean="0"/>
              </a:p>
              <a:p>
                <a:pPr>
                  <a:lnSpc>
                    <a:spcPct val="150000"/>
                  </a:lnSpc>
                </a:pPr>
                <a:r>
                  <a:rPr lang="fr-FR" dirty="0" smtClean="0"/>
                  <a:t>Additive </a:t>
                </a:r>
                <a:r>
                  <a:rPr lang="fr-FR" dirty="0" err="1" smtClean="0"/>
                  <a:t>damped</a:t>
                </a:r>
                <a:r>
                  <a:rPr lang="fr-FR" dirty="0" smtClean="0"/>
                  <a:t> (amortie)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fr-F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i="1">
                            <a:latin typeface="Cambria Math"/>
                          </a:rPr>
                          <m:t>𝑇</m:t>
                        </m:r>
                      </m:e>
                      <m:sub>
                        <m:r>
                          <a:rPr lang="fr-FR" i="1">
                            <a:latin typeface="Cambria Math"/>
                          </a:rPr>
                          <m:t>h</m:t>
                        </m:r>
                      </m:sub>
                    </m:sSub>
                    <m:r>
                      <a:rPr lang="fr-FR" i="1">
                        <a:latin typeface="Cambria Math"/>
                      </a:rPr>
                      <m:t>=</m:t>
                    </m:r>
                    <m:r>
                      <a:rPr lang="fr-FR" i="1">
                        <a:latin typeface="Cambria Math"/>
                      </a:rPr>
                      <m:t>𝑙</m:t>
                    </m:r>
                    <m:r>
                      <a:rPr lang="fr-FR" i="1">
                        <a:latin typeface="Cambria Math"/>
                      </a:rPr>
                      <m:t>+</m:t>
                    </m:r>
                    <m:d>
                      <m:dPr>
                        <m:ctrlPr>
                          <a:rPr lang="fr-FR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fr-FR" i="1" smtClean="0">
                            <a:latin typeface="Cambria Math"/>
                            <a:ea typeface="Cambria Math"/>
                          </a:rPr>
                          <m:t>𝜑</m:t>
                        </m:r>
                        <m:r>
                          <a:rPr lang="fr-FR" b="0" i="1" smtClean="0">
                            <a:latin typeface="Cambria Math"/>
                            <a:ea typeface="Cambria Math"/>
                          </a:rPr>
                          <m:t>+</m:t>
                        </m:r>
                        <m:sSup>
                          <m:sSupPr>
                            <m:ctrlPr>
                              <a:rPr lang="fr-FR" b="0" i="1" smtClean="0">
                                <a:latin typeface="Cambria Math" panose="02040503050406030204" pitchFamily="18" charset="0"/>
                                <a:ea typeface="Cambria Math"/>
                              </a:rPr>
                            </m:ctrlPr>
                          </m:sSupPr>
                          <m:e>
                            <m:r>
                              <a:rPr lang="fr-FR" b="0" i="1" smtClean="0">
                                <a:latin typeface="Cambria Math"/>
                                <a:ea typeface="Cambria Math"/>
                              </a:rPr>
                              <m:t>𝜑</m:t>
                            </m:r>
                          </m:e>
                          <m:sup>
                            <m:r>
                              <a:rPr lang="fr-FR" b="0" i="1" smtClean="0">
                                <a:latin typeface="Cambria Math"/>
                                <a:ea typeface="Cambria Math"/>
                              </a:rPr>
                              <m:t>2</m:t>
                            </m:r>
                          </m:sup>
                        </m:sSup>
                        <m:r>
                          <a:rPr lang="fr-FR" b="0" i="1" smtClean="0">
                            <a:latin typeface="Cambria Math"/>
                            <a:ea typeface="Cambria Math"/>
                          </a:rPr>
                          <m:t>+…+</m:t>
                        </m:r>
                        <m:sSup>
                          <m:sSupPr>
                            <m:ctrlPr>
                              <a:rPr lang="fr-FR" b="0" i="1" smtClean="0">
                                <a:latin typeface="Cambria Math" panose="02040503050406030204" pitchFamily="18" charset="0"/>
                                <a:ea typeface="Cambria Math"/>
                              </a:rPr>
                            </m:ctrlPr>
                          </m:sSupPr>
                          <m:e>
                            <m:r>
                              <a:rPr lang="fr-FR" b="0" i="1" smtClean="0">
                                <a:latin typeface="Cambria Math"/>
                                <a:ea typeface="Cambria Math"/>
                              </a:rPr>
                              <m:t>𝜑</m:t>
                            </m:r>
                          </m:e>
                          <m:sup>
                            <m:r>
                              <a:rPr lang="fr-FR" b="0" i="1" smtClean="0">
                                <a:latin typeface="Cambria Math"/>
                                <a:ea typeface="Cambria Math"/>
                              </a:rPr>
                              <m:t>h</m:t>
                            </m:r>
                          </m:sup>
                        </m:sSup>
                      </m:e>
                    </m:d>
                    <m:r>
                      <a:rPr lang="fr-FR" i="1" smtClean="0">
                        <a:latin typeface="Cambria Math"/>
                      </a:rPr>
                      <m:t>𝑏</m:t>
                    </m:r>
                  </m:oMath>
                </a14:m>
                <a:endParaRPr lang="fr-FR" dirty="0" smtClean="0"/>
              </a:p>
              <a:p>
                <a:pPr>
                  <a:lnSpc>
                    <a:spcPct val="150000"/>
                  </a:lnSpc>
                </a:pPr>
                <a:r>
                  <a:rPr lang="fr-FR" dirty="0" smtClean="0"/>
                  <a:t>Multiplicative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fr-F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i="1">
                            <a:latin typeface="Cambria Math"/>
                          </a:rPr>
                          <m:t>𝑇</m:t>
                        </m:r>
                      </m:e>
                      <m:sub>
                        <m:r>
                          <a:rPr lang="fr-FR" i="1">
                            <a:latin typeface="Cambria Math"/>
                          </a:rPr>
                          <m:t>h</m:t>
                        </m:r>
                      </m:sub>
                    </m:sSub>
                    <m:r>
                      <a:rPr lang="fr-FR" i="1">
                        <a:latin typeface="Cambria Math"/>
                      </a:rPr>
                      <m:t>=</m:t>
                    </m:r>
                    <m:r>
                      <a:rPr lang="fr-FR" i="1">
                        <a:latin typeface="Cambria Math"/>
                      </a:rPr>
                      <m:t>𝑙𝑏h</m:t>
                    </m:r>
                  </m:oMath>
                </a14:m>
                <a:endParaRPr lang="fr-FR" dirty="0" smtClean="0"/>
              </a:p>
              <a:p>
                <a:pPr>
                  <a:lnSpc>
                    <a:spcPct val="150000"/>
                  </a:lnSpc>
                </a:pPr>
                <a:r>
                  <a:rPr lang="fr-FR" dirty="0" smtClean="0"/>
                  <a:t>Multiplicative </a:t>
                </a:r>
                <a:r>
                  <a:rPr lang="fr-FR" dirty="0" err="1" smtClean="0"/>
                  <a:t>damped</a:t>
                </a:r>
                <a:r>
                  <a:rPr lang="fr-FR" dirty="0" smtClean="0"/>
                  <a:t> </a:t>
                </a:r>
                <a:r>
                  <a:rPr lang="fr-FR" dirty="0"/>
                  <a:t>(amortie)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fr-F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i="1">
                            <a:latin typeface="Cambria Math"/>
                          </a:rPr>
                          <m:t>𝑇</m:t>
                        </m:r>
                      </m:e>
                      <m:sub>
                        <m:r>
                          <a:rPr lang="fr-FR" i="1">
                            <a:latin typeface="Cambria Math"/>
                          </a:rPr>
                          <m:t>h</m:t>
                        </m:r>
                      </m:sub>
                    </m:sSub>
                    <m:r>
                      <a:rPr lang="fr-FR" i="1">
                        <a:latin typeface="Cambria Math"/>
                      </a:rPr>
                      <m:t>=</m:t>
                    </m:r>
                    <m:r>
                      <a:rPr lang="fr-FR" i="1">
                        <a:latin typeface="Cambria Math"/>
                      </a:rPr>
                      <m:t>𝑙</m:t>
                    </m:r>
                    <m:sSup>
                      <m:sSupPr>
                        <m:ctrlPr>
                          <a:rPr lang="fr-FR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fr-FR" b="0" i="1" smtClean="0">
                            <a:latin typeface="Cambria Math"/>
                          </a:rPr>
                          <m:t>𝑏</m:t>
                        </m:r>
                      </m:e>
                      <m:sup>
                        <m:r>
                          <a:rPr lang="fr-FR" i="1">
                            <a:latin typeface="Cambria Math"/>
                            <a:ea typeface="Cambria Math"/>
                          </a:rPr>
                          <m:t>𝜑</m:t>
                        </m:r>
                        <m:r>
                          <a:rPr lang="fr-FR" i="1">
                            <a:latin typeface="Cambria Math"/>
                            <a:ea typeface="Cambria Math"/>
                          </a:rPr>
                          <m:t>+</m:t>
                        </m:r>
                        <m:sSup>
                          <m:sSupPr>
                            <m:ctrlPr>
                              <a:rPr lang="fr-FR" i="1">
                                <a:latin typeface="Cambria Math" panose="02040503050406030204" pitchFamily="18" charset="0"/>
                                <a:ea typeface="Cambria Math"/>
                              </a:rPr>
                            </m:ctrlPr>
                          </m:sSupPr>
                          <m:e>
                            <m:r>
                              <a:rPr lang="fr-FR" i="1">
                                <a:latin typeface="Cambria Math"/>
                                <a:ea typeface="Cambria Math"/>
                              </a:rPr>
                              <m:t>𝜑</m:t>
                            </m:r>
                          </m:e>
                          <m:sup>
                            <m:r>
                              <a:rPr lang="fr-FR" i="1">
                                <a:latin typeface="Cambria Math"/>
                                <a:ea typeface="Cambria Math"/>
                              </a:rPr>
                              <m:t>2</m:t>
                            </m:r>
                          </m:sup>
                        </m:sSup>
                        <m:r>
                          <a:rPr lang="fr-FR" i="1">
                            <a:latin typeface="Cambria Math"/>
                            <a:ea typeface="Cambria Math"/>
                          </a:rPr>
                          <m:t>+…+</m:t>
                        </m:r>
                        <m:sSup>
                          <m:sSupPr>
                            <m:ctrlPr>
                              <a:rPr lang="fr-FR" i="1">
                                <a:latin typeface="Cambria Math" panose="02040503050406030204" pitchFamily="18" charset="0"/>
                                <a:ea typeface="Cambria Math"/>
                              </a:rPr>
                            </m:ctrlPr>
                          </m:sSupPr>
                          <m:e>
                            <m:r>
                              <a:rPr lang="fr-FR" i="1">
                                <a:latin typeface="Cambria Math"/>
                                <a:ea typeface="Cambria Math"/>
                              </a:rPr>
                              <m:t>𝜑</m:t>
                            </m:r>
                          </m:e>
                          <m:sup>
                            <m:r>
                              <a:rPr lang="fr-FR" i="1">
                                <a:latin typeface="Cambria Math"/>
                                <a:ea typeface="Cambria Math"/>
                              </a:rPr>
                              <m:t>h</m:t>
                            </m:r>
                          </m:sup>
                        </m:sSup>
                      </m:sup>
                    </m:sSup>
                  </m:oMath>
                </a14:m>
                <a:endParaRPr lang="fr-FR" dirty="0"/>
              </a:p>
              <a:p>
                <a:endParaRPr lang="fr-FR" dirty="0"/>
              </a:p>
            </p:txBody>
          </p:sp>
        </mc:Choice>
        <mc:Fallback xmlns="">
          <p:sp>
            <p:nvSpPr>
              <p:cNvPr id="5" name="ZoneTexte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9552" y="2132856"/>
                <a:ext cx="7920880" cy="2854371"/>
              </a:xfrm>
              <a:prstGeom prst="rect">
                <a:avLst/>
              </a:prstGeom>
              <a:blipFill rotWithShape="0">
                <a:blip r:embed="rId2"/>
                <a:stretch>
                  <a:fillRect l="-847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ZoneTexte 5"/>
          <p:cNvSpPr txBox="1"/>
          <p:nvPr/>
        </p:nvSpPr>
        <p:spPr>
          <a:xfrm>
            <a:off x="323528" y="4725144"/>
            <a:ext cx="856895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 smtClean="0"/>
              <a:t>La composante saisonnière peut prendre les 3 formes suivantes :</a:t>
            </a:r>
            <a:endParaRPr lang="fr-FR" dirty="0"/>
          </a:p>
        </p:txBody>
      </p:sp>
      <p:sp>
        <p:nvSpPr>
          <p:cNvPr id="7" name="ZoneTexte 6"/>
          <p:cNvSpPr txBox="1"/>
          <p:nvPr/>
        </p:nvSpPr>
        <p:spPr>
          <a:xfrm>
            <a:off x="467544" y="5189130"/>
            <a:ext cx="756084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 smtClean="0"/>
              <a:t>N : absence de composantes saisonnières</a:t>
            </a:r>
            <a:endParaRPr lang="fr-FR" dirty="0"/>
          </a:p>
        </p:txBody>
      </p:sp>
      <p:sp>
        <p:nvSpPr>
          <p:cNvPr id="8" name="ZoneTexte 7"/>
          <p:cNvSpPr txBox="1"/>
          <p:nvPr/>
        </p:nvSpPr>
        <p:spPr>
          <a:xfrm>
            <a:off x="467544" y="5765194"/>
            <a:ext cx="853294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 smtClean="0"/>
              <a:t>A : composante saisonnière additive </a:t>
            </a:r>
            <a:endParaRPr lang="fr-FR" dirty="0"/>
          </a:p>
        </p:txBody>
      </p:sp>
      <p:sp>
        <p:nvSpPr>
          <p:cNvPr id="9" name="ZoneTexte 8"/>
          <p:cNvSpPr txBox="1"/>
          <p:nvPr/>
        </p:nvSpPr>
        <p:spPr>
          <a:xfrm>
            <a:off x="395536" y="6237312"/>
            <a:ext cx="853294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 smtClean="0"/>
              <a:t>M : composante saisonnière multiplicative 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5540297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58078135"/>
              </p:ext>
            </p:extLst>
          </p:nvPr>
        </p:nvGraphicFramePr>
        <p:xfrm>
          <a:off x="1258888" y="333375"/>
          <a:ext cx="5349875" cy="22018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8080" name="Feuille de calcul" r:id="rId3" imgW="5349453" imgH="2202377" progId="Excel.Sheet.12">
                  <p:embed/>
                </p:oleObj>
              </mc:Choice>
              <mc:Fallback>
                <p:oleObj name="Feuille de calcul" r:id="rId3" imgW="5349453" imgH="2202377" progId="Excel.Shee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258888" y="333375"/>
                        <a:ext cx="5349875" cy="220186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ZoneTexte 5"/>
          <p:cNvSpPr txBox="1"/>
          <p:nvPr/>
        </p:nvSpPr>
        <p:spPr>
          <a:xfrm>
            <a:off x="395536" y="2780928"/>
            <a:ext cx="792088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 smtClean="0"/>
              <a:t>Il y a 15 possibilités pour combiner le Trend avec la Composante </a:t>
            </a:r>
            <a:r>
              <a:rPr lang="fr-FR" dirty="0"/>
              <a:t>saisonnière, voir fichier ‘‘file’’</a:t>
            </a:r>
          </a:p>
          <a:p>
            <a:endParaRPr lang="fr-FR" dirty="0"/>
          </a:p>
        </p:txBody>
      </p:sp>
      <p:sp>
        <p:nvSpPr>
          <p:cNvPr id="7" name="ZoneTexte 6"/>
          <p:cNvSpPr txBox="1"/>
          <p:nvPr/>
        </p:nvSpPr>
        <p:spPr>
          <a:xfrm>
            <a:off x="251520" y="3573016"/>
            <a:ext cx="885698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 smtClean="0"/>
              <a:t>L’erreur E peut être combinée soit d’une manière additive ou multiplicative</a:t>
            </a:r>
            <a:endParaRPr lang="fr-FR" dirty="0"/>
          </a:p>
        </p:txBody>
      </p:sp>
      <p:sp>
        <p:nvSpPr>
          <p:cNvPr id="8" name="ZoneTexte 7"/>
          <p:cNvSpPr txBox="1"/>
          <p:nvPr/>
        </p:nvSpPr>
        <p:spPr>
          <a:xfrm>
            <a:off x="395536" y="4077072"/>
            <a:ext cx="864096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 err="1" smtClean="0"/>
              <a:t>Hyndman</a:t>
            </a:r>
            <a:r>
              <a:rPr lang="fr-FR" dirty="0" smtClean="0"/>
              <a:t> a développé ainsi 30 modèles possibles</a:t>
            </a:r>
            <a:endParaRPr lang="fr-FR" dirty="0"/>
          </a:p>
        </p:txBody>
      </p:sp>
      <p:sp>
        <p:nvSpPr>
          <p:cNvPr id="3" name="ZoneTexte 2"/>
          <p:cNvSpPr txBox="1"/>
          <p:nvPr/>
        </p:nvSpPr>
        <p:spPr>
          <a:xfrm>
            <a:off x="251520" y="4581128"/>
            <a:ext cx="842493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 smtClean="0"/>
              <a:t>Un modèle à erreur additive, a la même formule de prévision que le même modèle à erreur multiplicative</a:t>
            </a:r>
            <a:endParaRPr lang="fr-FR" dirty="0"/>
          </a:p>
        </p:txBody>
      </p:sp>
      <p:sp>
        <p:nvSpPr>
          <p:cNvPr id="9" name="ZoneTexte 8"/>
          <p:cNvSpPr txBox="1"/>
          <p:nvPr/>
        </p:nvSpPr>
        <p:spPr>
          <a:xfrm>
            <a:off x="179512" y="5373216"/>
            <a:ext cx="8424936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 smtClean="0"/>
              <a:t>Exemples :</a:t>
            </a:r>
          </a:p>
          <a:p>
            <a:r>
              <a:rPr lang="fr-FR" dirty="0" smtClean="0"/>
              <a:t>A,N,N : Lissage exponentiel simple</a:t>
            </a:r>
          </a:p>
          <a:p>
            <a:r>
              <a:rPr lang="fr-FR" dirty="0" smtClean="0"/>
              <a:t>A,A,N : Lissage de Holt</a:t>
            </a:r>
          </a:p>
          <a:p>
            <a:r>
              <a:rPr lang="fr-FR" dirty="0" smtClean="0"/>
              <a:t>M,A,M : Lissage de H-W multiplicatif avec </a:t>
            </a:r>
            <a:r>
              <a:rPr lang="fr-FR" smtClean="0"/>
              <a:t>erreur multiplicative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0300707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1"/>
          <p:cNvSpPr txBox="1"/>
          <p:nvPr/>
        </p:nvSpPr>
        <p:spPr>
          <a:xfrm>
            <a:off x="323528" y="332656"/>
            <a:ext cx="770485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 smtClean="0"/>
              <a:t>Le modèle espace d’état linéaire</a:t>
            </a:r>
            <a:endParaRPr lang="fr-FR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ZoneTexte 2"/>
              <p:cNvSpPr txBox="1"/>
              <p:nvPr/>
            </p:nvSpPr>
            <p:spPr>
              <a:xfrm>
                <a:off x="396000" y="972000"/>
                <a:ext cx="7946727" cy="686535"/>
              </a:xfrm>
              <a:prstGeom prst="rect">
                <a:avLst/>
              </a:prstGeom>
              <a:noFill/>
            </p:spPr>
            <p:txBody>
              <a:bodyPr wrap="none" lIns="0" tIns="0" rIns="0" bIns="0" numCol="2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"/>
                          <m:ctrlPr>
                            <a:rPr lang="fr-FR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fr-FR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fr-FR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fr-FR" b="0" i="1" smtClean="0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  <m:sub>
                                    <m:r>
                                      <a:rPr lang="fr-FR" b="0" i="1" smtClean="0"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</m:sub>
                                </m:sSub>
                                <m:r>
                                  <m:rPr>
                                    <m:brk m:alnAt="7"/>
                                  </m:rPr>
                                  <a:rPr lang="fr-FR" b="0" i="1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sSup>
                                  <m:sSupPr>
                                    <m:ctrlPr>
                                      <a:rPr lang="fr-FR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fr-FR" b="0" i="1" smtClean="0">
                                        <a:latin typeface="Cambria Math" panose="02040503050406030204" pitchFamily="18" charset="0"/>
                                      </a:rPr>
                                      <m:t>𝑤</m:t>
                                    </m:r>
                                  </m:e>
                                  <m:sup>
                                    <m:r>
                                      <a:rPr lang="fr-FR" b="0" i="1" smtClean="0">
                                        <a:latin typeface="Cambria Math" panose="02040503050406030204" pitchFamily="18" charset="0"/>
                                      </a:rPr>
                                      <m:t>′  </m:t>
                                    </m:r>
                                  </m:sup>
                                </m:sSup>
                                <m:sSub>
                                  <m:sSubPr>
                                    <m:ctrlPr>
                                      <a:rPr lang="fr-FR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fr-FR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fr-FR" b="0" i="1" smtClean="0"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  <m:r>
                                      <a:rPr lang="fr-FR" b="0" i="1" smtClean="0">
                                        <a:latin typeface="Cambria Math" panose="02040503050406030204" pitchFamily="18" charset="0"/>
                                      </a:rPr>
                                      <m:t>−1</m:t>
                                    </m:r>
                                  </m:sub>
                                </m:sSub>
                                <m:r>
                                  <m:rPr>
                                    <m:brk m:alnAt="7"/>
                                  </m:rPr>
                                  <a:rPr lang="fr-FR" b="0" i="1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b>
                                  <m:sSubPr>
                                    <m:ctrlPr>
                                      <a:rPr lang="fr-FR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fr-FR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𝜀</m:t>
                                    </m:r>
                                  </m:e>
                                  <m:sub>
                                    <m:r>
                                      <a:rPr lang="fr-FR" b="0" i="1" smtClean="0"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</m:sub>
                                </m:sSub>
                                <m:r>
                                  <m:rPr>
                                    <m:brk m:alnAt="7"/>
                                  </m:rPr>
                                  <a:rPr lang="fr-FR" b="0" i="1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fr-FR" b="0" i="1" smtClean="0">
                                    <a:latin typeface="Cambria Math" panose="02040503050406030204" pitchFamily="18" charset="0"/>
                                  </a:rPr>
                                  <m:t>                                                         é</m:t>
                                </m:r>
                                <m:r>
                                  <a:rPr lang="fr-FR" b="0" i="1" smtClean="0">
                                    <a:latin typeface="Cambria Math" panose="02040503050406030204" pitchFamily="18" charset="0"/>
                                  </a:rPr>
                                  <m:t>𝑞𝑢𝑎𝑡𝑖𝑜𝑛</m:t>
                                </m:r>
                                <m:r>
                                  <a:rPr lang="fr-FR" b="0" i="1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fr-FR" b="0" i="1" smtClean="0">
                                    <a:latin typeface="Cambria Math" panose="02040503050406030204" pitchFamily="18" charset="0"/>
                                  </a:rPr>
                                  <m:t>𝑑𝑒</m:t>
                                </m:r>
                                <m:r>
                                  <a:rPr lang="fr-FR" b="0" i="1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fr-FR" b="0" i="1" smtClean="0">
                                    <a:latin typeface="Cambria Math" panose="02040503050406030204" pitchFamily="18" charset="0"/>
                                  </a:rPr>
                                  <m:t>𝑚𝑒𝑠𝑢𝑟𝑒</m:t>
                                </m:r>
                                <m:r>
                                  <a:rPr lang="fr-FR" b="0" i="1" smtClean="0">
                                    <a:latin typeface="Cambria Math" panose="02040503050406030204" pitchFamily="18" charset="0"/>
                                  </a:rPr>
                                  <m:t>      </m:t>
                                </m:r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fr-FR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fr-FR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fr-FR" b="0" i="1" smtClean="0"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</m:sub>
                                </m:sSub>
                                <m:r>
                                  <a:rPr lang="fr-FR" b="0" i="1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fr-FR" b="0" i="1" smtClean="0">
                                    <a:latin typeface="Cambria Math" panose="02040503050406030204" pitchFamily="18" charset="0"/>
                                  </a:rPr>
                                  <m:t>𝐹</m:t>
                                </m:r>
                                <m:sSub>
                                  <m:sSubPr>
                                    <m:ctrlPr>
                                      <a:rPr lang="fr-FR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fr-FR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fr-FR" b="0" i="1" smtClean="0"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  <m:r>
                                      <a:rPr lang="fr-FR" b="0" i="1" smtClean="0">
                                        <a:latin typeface="Cambria Math" panose="02040503050406030204" pitchFamily="18" charset="0"/>
                                      </a:rPr>
                                      <m:t>−1</m:t>
                                    </m:r>
                                  </m:sub>
                                </m:sSub>
                                <m:r>
                                  <a:rPr lang="fr-FR" b="0" i="1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fr-FR" b="0" i="1" smtClean="0">
                                    <a:latin typeface="Cambria Math" panose="02040503050406030204" pitchFamily="18" charset="0"/>
                                  </a:rPr>
                                  <m:t>𝑔</m:t>
                                </m:r>
                                <m:sSub>
                                  <m:sSubPr>
                                    <m:ctrlPr>
                                      <a:rPr lang="fr-FR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fr-FR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𝜀</m:t>
                                    </m:r>
                                  </m:e>
                                  <m:sub>
                                    <m:r>
                                      <a:rPr lang="fr-FR" i="1"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</m:sub>
                                </m:sSub>
                                <m:r>
                                  <a:rPr lang="fr-FR" b="0" i="1" smtClean="0">
                                    <a:latin typeface="Cambria Math" panose="02040503050406030204" pitchFamily="18" charset="0"/>
                                  </a:rPr>
                                  <m:t>                   é</m:t>
                                </m:r>
                                <m:r>
                                  <a:rPr lang="fr-FR" b="0" i="1" smtClean="0">
                                    <a:latin typeface="Cambria Math" panose="02040503050406030204" pitchFamily="18" charset="0"/>
                                  </a:rPr>
                                  <m:t>𝑞𝑢𝑎𝑡𝑖𝑜𝑛</m:t>
                                </m:r>
                                <m:r>
                                  <a:rPr lang="fr-FR" b="0" i="1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sSup>
                                  <m:sSupPr>
                                    <m:ctrlPr>
                                      <a:rPr lang="fr-FR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fr-FR" b="0" i="1" smtClean="0">
                                        <a:latin typeface="Cambria Math" panose="02040503050406030204" pitchFamily="18" charset="0"/>
                                      </a:rPr>
                                      <m:t>𝑑</m:t>
                                    </m:r>
                                  </m:e>
                                  <m:sup>
                                    <m:r>
                                      <a:rPr lang="fr-FR" b="0" i="1" smtClean="0">
                                        <a:latin typeface="Cambria Math" panose="02040503050406030204" pitchFamily="18" charset="0"/>
                                      </a:rPr>
                                      <m:t>′</m:t>
                                    </m:r>
                                  </m:sup>
                                </m:sSup>
                                <m:r>
                                  <a:rPr lang="fr-FR" b="0" i="1" smtClean="0">
                                    <a:latin typeface="Cambria Math" panose="02040503050406030204" pitchFamily="18" charset="0"/>
                                  </a:rPr>
                                  <m:t>é</m:t>
                                </m:r>
                                <m:r>
                                  <a:rPr lang="fr-FR" b="0" i="1" smtClean="0">
                                    <a:latin typeface="Cambria Math" panose="02040503050406030204" pitchFamily="18" charset="0"/>
                                  </a:rPr>
                                  <m:t>𝑡𝑎𝑡</m:t>
                                </m:r>
                                <m:r>
                                  <a:rPr lang="fr-FR" b="0" i="1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fr-FR" b="0" i="1" smtClean="0">
                                    <a:latin typeface="Cambria Math" panose="02040503050406030204" pitchFamily="18" charset="0"/>
                                  </a:rPr>
                                  <m:t>𝑜𝑢</m:t>
                                </m:r>
                                <m:r>
                                  <a:rPr lang="fr-FR" b="0" i="1" smtClean="0">
                                    <a:latin typeface="Cambria Math" panose="02040503050406030204" pitchFamily="18" charset="0"/>
                                  </a:rPr>
                                  <m:t> é</m:t>
                                </m:r>
                                <m:r>
                                  <a:rPr lang="fr-FR" b="0" i="1" smtClean="0">
                                    <a:latin typeface="Cambria Math" panose="02040503050406030204" pitchFamily="18" charset="0"/>
                                  </a:rPr>
                                  <m:t>𝑞𝑢𝑎𝑡𝑖𝑜𝑛</m:t>
                                </m:r>
                                <m:r>
                                  <a:rPr lang="fr-FR" b="0" i="1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fr-FR" b="0" i="1" smtClean="0">
                                    <a:latin typeface="Cambria Math" panose="02040503050406030204" pitchFamily="18" charset="0"/>
                                  </a:rPr>
                                  <m:t>𝑑𝑒</m:t>
                                </m:r>
                                <m:r>
                                  <a:rPr lang="fr-FR" b="0" i="1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fr-FR" b="0" i="1" smtClean="0">
                                    <a:latin typeface="Cambria Math" panose="02040503050406030204" pitchFamily="18" charset="0"/>
                                  </a:rPr>
                                  <m:t>𝑡𝑟𝑎𝑛𝑠𝑖𝑡𝑖𝑜𝑛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fr-FR" dirty="0"/>
              </a:p>
            </p:txBody>
          </p:sp>
        </mc:Choice>
        <mc:Fallback xmlns="">
          <p:sp>
            <p:nvSpPr>
              <p:cNvPr id="3" name="ZoneTexte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6000" y="972000"/>
                <a:ext cx="7946727" cy="686535"/>
              </a:xfrm>
              <a:prstGeom prst="rect">
                <a:avLst/>
              </a:prstGeom>
              <a:blipFill rotWithShape="0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ZoneTexte 3"/>
              <p:cNvSpPr txBox="1"/>
              <p:nvPr/>
            </p:nvSpPr>
            <p:spPr>
              <a:xfrm>
                <a:off x="323528" y="2132856"/>
                <a:ext cx="8208912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fr-FR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fr-FR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fr-FR" dirty="0" smtClean="0"/>
                  <a:t> une série chronologique,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fr-FR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𝜀</m:t>
                        </m:r>
                      </m:e>
                      <m:sub>
                        <m:r>
                          <a:rPr lang="fr-FR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fr-FR" dirty="0" smtClean="0"/>
                  <a:t> est bruit blanc</a:t>
                </a:r>
                <a:endParaRPr lang="fr-FR" dirty="0"/>
              </a:p>
            </p:txBody>
          </p:sp>
        </mc:Choice>
        <mc:Fallback xmlns="">
          <p:sp>
            <p:nvSpPr>
              <p:cNvPr id="4" name="ZoneTexte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3528" y="2132856"/>
                <a:ext cx="8208912" cy="400110"/>
              </a:xfrm>
              <a:prstGeom prst="rect">
                <a:avLst/>
              </a:prstGeom>
              <a:blipFill rotWithShape="0">
                <a:blip r:embed="rId3"/>
                <a:stretch>
                  <a:fillRect t="-7576" b="-27273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ZoneTexte 4"/>
              <p:cNvSpPr txBox="1"/>
              <p:nvPr/>
            </p:nvSpPr>
            <p:spPr>
              <a:xfrm>
                <a:off x="323528" y="2708920"/>
                <a:ext cx="8496944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fr-FR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fr-FR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fr-FR" dirty="0" smtClean="0"/>
                  <a:t> vecteur de taille m, appelé vecteur d’état</a:t>
                </a:r>
                <a:endParaRPr lang="fr-FR" dirty="0"/>
              </a:p>
            </p:txBody>
          </p:sp>
        </mc:Choice>
        <mc:Fallback xmlns="">
          <p:sp>
            <p:nvSpPr>
              <p:cNvPr id="5" name="ZoneTexte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3528" y="2708920"/>
                <a:ext cx="8496944" cy="400110"/>
              </a:xfrm>
              <a:prstGeom prst="rect">
                <a:avLst/>
              </a:prstGeom>
              <a:blipFill rotWithShape="0">
                <a:blip r:embed="rId4"/>
                <a:stretch>
                  <a:fillRect t="-6061" b="-27273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ZoneTexte 5"/>
          <p:cNvSpPr txBox="1"/>
          <p:nvPr/>
        </p:nvSpPr>
        <p:spPr>
          <a:xfrm>
            <a:off x="323528" y="3356992"/>
            <a:ext cx="828092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 smtClean="0"/>
              <a:t>F matrice carrée de taille (</a:t>
            </a:r>
            <a:r>
              <a:rPr lang="fr-FR" dirty="0" err="1" smtClean="0"/>
              <a:t>m,m</a:t>
            </a:r>
            <a:r>
              <a:rPr lang="fr-FR" dirty="0" smtClean="0"/>
              <a:t>), g est un vecteur de taille (m,1)</a:t>
            </a:r>
            <a:endParaRPr lang="fr-FR" dirty="0"/>
          </a:p>
        </p:txBody>
      </p:sp>
      <p:sp>
        <p:nvSpPr>
          <p:cNvPr id="7" name="ZoneTexte 6"/>
          <p:cNvSpPr txBox="1"/>
          <p:nvPr/>
        </p:nvSpPr>
        <p:spPr>
          <a:xfrm>
            <a:off x="323528" y="3933056"/>
            <a:ext cx="842493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 smtClean="0"/>
              <a:t>w’ est un vecteur de taille (1,m)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9918494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1"/>
          <p:cNvSpPr txBox="1"/>
          <p:nvPr/>
        </p:nvSpPr>
        <p:spPr>
          <a:xfrm>
            <a:off x="323528" y="116632"/>
            <a:ext cx="770485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 smtClean="0"/>
              <a:t>Le modèle espace d’état non linéaire</a:t>
            </a:r>
            <a:endParaRPr lang="fr-FR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ZoneTexte 2"/>
              <p:cNvSpPr txBox="1"/>
              <p:nvPr/>
            </p:nvSpPr>
            <p:spPr>
              <a:xfrm>
                <a:off x="755576" y="692696"/>
                <a:ext cx="3019993" cy="68653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"/>
                          <m:ctrlPr>
                            <a:rPr lang="fr-FR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fr-FR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fr-FR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fr-FR" b="0" i="1" smtClean="0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  <m:sub>
                                    <m:r>
                                      <a:rPr lang="fr-FR" b="0" i="1" smtClean="0"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</m:sub>
                                </m:sSub>
                                <m:r>
                                  <m:rPr>
                                    <m:brk m:alnAt="7"/>
                                  </m:rPr>
                                  <a:rPr lang="fr-FR" b="0" i="1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fr-FR" b="0" i="1" smtClean="0">
                                    <a:latin typeface="Cambria Math" panose="02040503050406030204" pitchFamily="18" charset="0"/>
                                  </a:rPr>
                                  <m:t>𝑤</m:t>
                                </m:r>
                                <m:d>
                                  <m:dPr>
                                    <m:ctrlPr>
                                      <a:rPr lang="fr-FR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fr-FR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fr-FR" b="0" i="1" smtClean="0"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a:rPr lang="fr-FR" b="0" i="1" smtClean="0">
                                            <a:latin typeface="Cambria Math" panose="02040503050406030204" pitchFamily="18" charset="0"/>
                                          </a:rPr>
                                          <m:t>𝑡</m:t>
                                        </m:r>
                                        <m:r>
                                          <a:rPr lang="fr-FR" b="0" i="1" smtClean="0">
                                            <a:latin typeface="Cambria Math" panose="02040503050406030204" pitchFamily="18" charset="0"/>
                                          </a:rPr>
                                          <m:t>−1</m:t>
                                        </m:r>
                                      </m:sub>
                                    </m:sSub>
                                  </m:e>
                                </m:d>
                                <m:r>
                                  <m:rPr>
                                    <m:brk m:alnAt="7"/>
                                  </m:rPr>
                                  <a:rPr lang="fr-FR" b="0" i="1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fr-FR" b="0" i="1" smtClean="0">
                                    <a:latin typeface="Cambria Math" panose="02040503050406030204" pitchFamily="18" charset="0"/>
                                  </a:rPr>
                                  <m:t>𝑟</m:t>
                                </m:r>
                                <m:d>
                                  <m:dPr>
                                    <m:ctrlPr>
                                      <a:rPr lang="fr-FR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fr-FR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fr-FR" b="0" i="1" smtClean="0"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a:rPr lang="fr-FR" b="0" i="1" smtClean="0">
                                            <a:latin typeface="Cambria Math" panose="02040503050406030204" pitchFamily="18" charset="0"/>
                                          </a:rPr>
                                          <m:t>𝑡</m:t>
                                        </m:r>
                                        <m:r>
                                          <a:rPr lang="fr-FR" b="0" i="1" smtClean="0">
                                            <a:latin typeface="Cambria Math" panose="02040503050406030204" pitchFamily="18" charset="0"/>
                                          </a:rPr>
                                          <m:t>−1</m:t>
                                        </m:r>
                                      </m:sub>
                                    </m:sSub>
                                  </m:e>
                                </m:d>
                                <m:sSub>
                                  <m:sSubPr>
                                    <m:ctrlPr>
                                      <a:rPr lang="fr-FR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fr-FR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𝜀</m:t>
                                    </m:r>
                                  </m:e>
                                  <m:sub>
                                    <m:r>
                                      <a:rPr lang="fr-FR" b="0" i="1" smtClean="0"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fr-FR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fr-FR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fr-FR" b="0" i="1" smtClean="0"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</m:sub>
                                </m:sSub>
                                <m:r>
                                  <a:rPr lang="fr-FR" b="0" i="1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fr-FR" b="0" i="1" smtClean="0">
                                    <a:latin typeface="Cambria Math" panose="02040503050406030204" pitchFamily="18" charset="0"/>
                                  </a:rPr>
                                  <m:t>𝑓</m:t>
                                </m:r>
                                <m:d>
                                  <m:dPr>
                                    <m:ctrlPr>
                                      <a:rPr lang="fr-FR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fr-FR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fr-FR" b="0" i="1" smtClean="0"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a:rPr lang="fr-FR" b="0" i="1" smtClean="0">
                                            <a:latin typeface="Cambria Math" panose="02040503050406030204" pitchFamily="18" charset="0"/>
                                          </a:rPr>
                                          <m:t>𝑡</m:t>
                                        </m:r>
                                        <m:r>
                                          <a:rPr lang="fr-FR" b="0" i="1" smtClean="0">
                                            <a:latin typeface="Cambria Math" panose="02040503050406030204" pitchFamily="18" charset="0"/>
                                          </a:rPr>
                                          <m:t>−1</m:t>
                                        </m:r>
                                      </m:sub>
                                    </m:sSub>
                                  </m:e>
                                </m:d>
                                <m:r>
                                  <a:rPr lang="fr-FR" b="0" i="1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fr-FR" b="0" i="1" smtClean="0">
                                    <a:latin typeface="Cambria Math" panose="02040503050406030204" pitchFamily="18" charset="0"/>
                                  </a:rPr>
                                  <m:t>𝑔</m:t>
                                </m:r>
                                <m:d>
                                  <m:dPr>
                                    <m:ctrlPr>
                                      <a:rPr lang="fr-FR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fr-FR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fr-FR" b="0" i="1" smtClean="0"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a:rPr lang="fr-FR" b="0" i="1" smtClean="0">
                                            <a:latin typeface="Cambria Math" panose="02040503050406030204" pitchFamily="18" charset="0"/>
                                          </a:rPr>
                                          <m:t>𝑡</m:t>
                                        </m:r>
                                        <m:r>
                                          <a:rPr lang="fr-FR" b="0" i="1" smtClean="0">
                                            <a:latin typeface="Cambria Math" panose="02040503050406030204" pitchFamily="18" charset="0"/>
                                          </a:rPr>
                                          <m:t>−1</m:t>
                                        </m:r>
                                      </m:sub>
                                    </m:sSub>
                                  </m:e>
                                </m:d>
                                <m:sSub>
                                  <m:sSubPr>
                                    <m:ctrlPr>
                                      <a:rPr lang="fr-FR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fr-FR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𝜀</m:t>
                                    </m:r>
                                  </m:e>
                                  <m:sub>
                                    <m:r>
                                      <a:rPr lang="fr-FR" b="0" i="1" smtClean="0"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</m:sub>
                                </m:sSub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fr-FR" dirty="0"/>
              </a:p>
            </p:txBody>
          </p:sp>
        </mc:Choice>
        <mc:Fallback xmlns="">
          <p:sp>
            <p:nvSpPr>
              <p:cNvPr id="3" name="ZoneTexte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5576" y="692696"/>
                <a:ext cx="3019993" cy="686535"/>
              </a:xfrm>
              <a:prstGeom prst="rect">
                <a:avLst/>
              </a:prstGeom>
              <a:blipFill rotWithShape="0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ZoneTexte 3"/>
              <p:cNvSpPr txBox="1"/>
              <p:nvPr/>
            </p:nvSpPr>
            <p:spPr>
              <a:xfrm>
                <a:off x="323528" y="2596842"/>
                <a:ext cx="7200800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fr-FR" dirty="0" smtClean="0"/>
                  <a:t>w et r sont deux fonctions de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fr-FR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fr-FR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p>
                        <m:r>
                          <a:rPr lang="fr-FR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sup>
                    </m:sSup>
                    <m:r>
                      <a:rPr lang="fr-FR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  <m:r>
                      <a:rPr lang="fr-F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lang="fr-FR" dirty="0" smtClean="0"/>
                  <a:t> </a:t>
                </a:r>
                <a:endParaRPr lang="fr-FR" dirty="0"/>
              </a:p>
            </p:txBody>
          </p:sp>
        </mc:Choice>
        <mc:Fallback xmlns="">
          <p:sp>
            <p:nvSpPr>
              <p:cNvPr id="4" name="ZoneTexte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3528" y="2596842"/>
                <a:ext cx="7200800" cy="400110"/>
              </a:xfrm>
              <a:prstGeom prst="rect">
                <a:avLst/>
              </a:prstGeom>
              <a:blipFill rotWithShape="0">
                <a:blip r:embed="rId3"/>
                <a:stretch>
                  <a:fillRect l="-847" t="-7576" b="-27273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ZoneTexte 4"/>
              <p:cNvSpPr txBox="1"/>
              <p:nvPr/>
            </p:nvSpPr>
            <p:spPr>
              <a:xfrm>
                <a:off x="323528" y="1628800"/>
                <a:ext cx="8208912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fr-FR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fr-FR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fr-FR" dirty="0" smtClean="0"/>
                  <a:t> une série chronologique,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fr-FR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𝜀</m:t>
                        </m:r>
                      </m:e>
                      <m:sub>
                        <m:r>
                          <a:rPr lang="fr-FR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fr-FR" dirty="0" smtClean="0"/>
                  <a:t> est bruit blanc</a:t>
                </a:r>
                <a:endParaRPr lang="fr-FR" dirty="0"/>
              </a:p>
            </p:txBody>
          </p:sp>
        </mc:Choice>
        <mc:Fallback xmlns="">
          <p:sp>
            <p:nvSpPr>
              <p:cNvPr id="5" name="ZoneTexte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3528" y="1628800"/>
                <a:ext cx="8208912" cy="400110"/>
              </a:xfrm>
              <a:prstGeom prst="rect">
                <a:avLst/>
              </a:prstGeom>
              <a:blipFill rotWithShape="0">
                <a:blip r:embed="rId4"/>
                <a:stretch>
                  <a:fillRect t="-6061" b="-27273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ZoneTexte 5"/>
              <p:cNvSpPr txBox="1"/>
              <p:nvPr/>
            </p:nvSpPr>
            <p:spPr>
              <a:xfrm>
                <a:off x="323528" y="3172906"/>
                <a:ext cx="6192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fr-FR" dirty="0" smtClean="0"/>
                  <a:t>f et g sont deux fonctions de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fr-FR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fr-FR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p>
                        <m:r>
                          <a:rPr lang="fr-FR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sup>
                    </m:sSup>
                    <m:r>
                      <a:rPr lang="fr-FR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  <m:sSup>
                      <m:sSupPr>
                        <m:ctrlPr>
                          <a:rPr lang="fr-FR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fr-F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𝑅</m:t>
                        </m:r>
                      </m:e>
                      <m:sup>
                        <m:r>
                          <a:rPr lang="fr-F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𝑚</m:t>
                        </m:r>
                      </m:sup>
                    </m:sSup>
                  </m:oMath>
                </a14:m>
                <a:endParaRPr lang="fr-FR" dirty="0"/>
              </a:p>
            </p:txBody>
          </p:sp>
        </mc:Choice>
        <mc:Fallback xmlns="">
          <p:sp>
            <p:nvSpPr>
              <p:cNvPr id="6" name="ZoneTexte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3528" y="3172906"/>
                <a:ext cx="6192688" cy="400110"/>
              </a:xfrm>
              <a:prstGeom prst="rect">
                <a:avLst/>
              </a:prstGeom>
              <a:blipFill rotWithShape="0">
                <a:blip r:embed="rId5"/>
                <a:stretch>
                  <a:fillRect l="-984" t="-6061" b="-27273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ZoneTexte 6"/>
          <p:cNvSpPr txBox="1"/>
          <p:nvPr/>
        </p:nvSpPr>
        <p:spPr>
          <a:xfrm>
            <a:off x="179512" y="3729226"/>
            <a:ext cx="871296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 smtClean="0"/>
              <a:t>Le fichier ‘‘file modèle espace d’état’’ reprend les 30 équations différentes des modèles ETS</a:t>
            </a:r>
            <a:endParaRPr lang="fr-FR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ZoneTexte 7"/>
              <p:cNvSpPr txBox="1"/>
              <p:nvPr/>
            </p:nvSpPr>
            <p:spPr>
              <a:xfrm>
                <a:off x="561840" y="4633391"/>
                <a:ext cx="2497992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r>
                  <a:rPr lang="fr-FR" dirty="0" smtClean="0"/>
                  <a:t>On pose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fr-FR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a:rPr lang="fr-FR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fr-FR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fr-FR" b="0" i="1" smtClean="0">
                        <a:latin typeface="Cambria Math" panose="02040503050406030204" pitchFamily="18" charset="0"/>
                      </a:rPr>
                      <m:t>𝑤</m:t>
                    </m:r>
                    <m:d>
                      <m:dPr>
                        <m:ctrlPr>
                          <a:rPr lang="fr-FR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fr-FR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fr-FR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fr-FR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fr-FR" b="0" i="1" smtClean="0">
                                <a:latin typeface="Cambria Math" panose="02040503050406030204" pitchFamily="18" charset="0"/>
                              </a:rPr>
                              <m:t>−1</m:t>
                            </m:r>
                          </m:sub>
                        </m:sSub>
                      </m:e>
                    </m:d>
                  </m:oMath>
                </a14:m>
                <a:endParaRPr lang="fr-FR" dirty="0"/>
              </a:p>
            </p:txBody>
          </p:sp>
        </mc:Choice>
        <mc:Fallback xmlns="">
          <p:sp>
            <p:nvSpPr>
              <p:cNvPr id="8" name="ZoneTexte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1840" y="4633391"/>
                <a:ext cx="2497992" cy="307777"/>
              </a:xfrm>
              <a:prstGeom prst="rect">
                <a:avLst/>
              </a:prstGeom>
              <a:blipFill rotWithShape="0">
                <a:blip r:embed="rId6"/>
                <a:stretch>
                  <a:fillRect l="-6098" t="-23529" b="-50980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ZoneTexte 8"/>
              <p:cNvSpPr txBox="1"/>
              <p:nvPr/>
            </p:nvSpPr>
            <p:spPr>
              <a:xfrm>
                <a:off x="179512" y="5085184"/>
                <a:ext cx="8424936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fr-FR" dirty="0" smtClean="0"/>
                  <a:t>Si le modèle est à erreur additive alors r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fr-FR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fr-FR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fr-FR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fr-FR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fr-FR" b="0" i="1" smtClean="0">
                                <a:latin typeface="Cambria Math" panose="02040503050406030204" pitchFamily="18" charset="0"/>
                              </a:rPr>
                              <m:t>−1</m:t>
                            </m:r>
                          </m:sub>
                        </m:sSub>
                      </m:e>
                    </m:d>
                    <m:r>
                      <a:rPr lang="fr-FR" b="0" i="1" smtClean="0">
                        <a:latin typeface="Cambria Math" panose="02040503050406030204" pitchFamily="18" charset="0"/>
                      </a:rPr>
                      <m:t>=1</m:t>
                    </m:r>
                    <m:r>
                      <a:rPr lang="fr-F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  <m:sSub>
                      <m:sSubPr>
                        <m:ctrlPr>
                          <a:rPr lang="fr-F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fr-F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fr-F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fr-F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a:rPr lang="fr-F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fr-F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fr-F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𝜀</m:t>
                        </m:r>
                      </m:e>
                      <m:sub>
                        <m:r>
                          <a:rPr lang="fr-F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fr-FR" dirty="0" smtClean="0"/>
                  <a:t>  </a:t>
                </a:r>
                <a:endParaRPr lang="fr-FR" dirty="0"/>
              </a:p>
            </p:txBody>
          </p:sp>
        </mc:Choice>
        <mc:Fallback xmlns="">
          <p:sp>
            <p:nvSpPr>
              <p:cNvPr id="9" name="ZoneTexte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9512" y="5085184"/>
                <a:ext cx="8424936" cy="400110"/>
              </a:xfrm>
              <a:prstGeom prst="rect">
                <a:avLst/>
              </a:prstGeom>
              <a:blipFill rotWithShape="0">
                <a:blip r:embed="rId7"/>
                <a:stretch>
                  <a:fillRect l="-724" t="-6061" b="-27273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ZoneTexte 10"/>
              <p:cNvSpPr txBox="1"/>
              <p:nvPr/>
            </p:nvSpPr>
            <p:spPr>
              <a:xfrm>
                <a:off x="179512" y="5589240"/>
                <a:ext cx="8424936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fr-FR" dirty="0" smtClean="0"/>
                  <a:t>Si le modèle est à erreur multiplicative </a:t>
                </a:r>
                <a:r>
                  <a:rPr lang="fr-FR" smtClean="0"/>
                  <a:t>alors r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fr-FR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fr-FR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fr-FR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fr-FR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fr-FR" b="0" i="1" smtClean="0">
                                <a:latin typeface="Cambria Math" panose="02040503050406030204" pitchFamily="18" charset="0"/>
                              </a:rPr>
                              <m:t>−1</m:t>
                            </m:r>
                          </m:sub>
                        </m:sSub>
                      </m:e>
                    </m:d>
                    <m:r>
                      <a:rPr lang="fr-FR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fr-F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a:rPr lang="fr-F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endParaRPr lang="fr-FR" dirty="0"/>
              </a:p>
            </p:txBody>
          </p:sp>
        </mc:Choice>
        <mc:Fallback xmlns="">
          <p:sp>
            <p:nvSpPr>
              <p:cNvPr id="11" name="ZoneTexte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9512" y="5589240"/>
                <a:ext cx="8424936" cy="400110"/>
              </a:xfrm>
              <a:prstGeom prst="rect">
                <a:avLst/>
              </a:prstGeom>
              <a:blipFill rotWithShape="0">
                <a:blip r:embed="rId8"/>
                <a:stretch>
                  <a:fillRect l="-724" t="-7576" b="-27273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ZoneTexte 12"/>
              <p:cNvSpPr txBox="1"/>
              <p:nvPr/>
            </p:nvSpPr>
            <p:spPr>
              <a:xfrm>
                <a:off x="1907704" y="6109265"/>
                <a:ext cx="3587777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→</m:t>
                      </m:r>
                      <m:r>
                        <a:rPr lang="fr-F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𝑑𝑎𝑛𝑠</m:t>
                      </m:r>
                      <m:r>
                        <a:rPr lang="fr-F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fr-F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𝑐𝑒</m:t>
                      </m:r>
                      <m:r>
                        <a:rPr lang="fr-F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fr-F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𝑐𝑎𝑠</m:t>
                      </m:r>
                      <m:r>
                        <a:rPr lang="fr-F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lang="fr-F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fr-F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fr-F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fr-F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𝜇</m:t>
                          </m:r>
                        </m:e>
                        <m:sub>
                          <m:r>
                            <a:rPr lang="fr-F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d>
                        <m:dPr>
                          <m:ctrlPr>
                            <a:rPr lang="fr-F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fr-F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1+</m:t>
                          </m:r>
                          <m:sSub>
                            <m:sSubPr>
                              <m:ctrlPr>
                                <a:rPr lang="fr-FR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𝜀</m:t>
                              </m:r>
                            </m:e>
                            <m:sub>
                              <m:r>
                                <a:rPr lang="fr-FR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fr-FR" dirty="0"/>
              </a:p>
            </p:txBody>
          </p:sp>
        </mc:Choice>
        <mc:Fallback xmlns="">
          <p:sp>
            <p:nvSpPr>
              <p:cNvPr id="13" name="ZoneTexte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07704" y="6109265"/>
                <a:ext cx="3587777" cy="400110"/>
              </a:xfrm>
              <a:prstGeom prst="rect">
                <a:avLst/>
              </a:prstGeom>
              <a:blipFill rotWithShape="0">
                <a:blip r:embed="rId10"/>
                <a:stretch>
                  <a:fillRect b="-10606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ZoneTexte 16"/>
              <p:cNvSpPr txBox="1"/>
              <p:nvPr/>
            </p:nvSpPr>
            <p:spPr>
              <a:xfrm>
                <a:off x="323528" y="2132856"/>
                <a:ext cx="8496944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fr-FR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fr-FR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fr-FR" dirty="0" smtClean="0"/>
                  <a:t> vecteur de taille m, appelé vecteur d’état</a:t>
                </a:r>
                <a:endParaRPr lang="fr-FR" dirty="0"/>
              </a:p>
            </p:txBody>
          </p:sp>
        </mc:Choice>
        <mc:Fallback xmlns="">
          <p:sp>
            <p:nvSpPr>
              <p:cNvPr id="17" name="ZoneTexte 1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3528" y="2132856"/>
                <a:ext cx="8496944" cy="400110"/>
              </a:xfrm>
              <a:prstGeom prst="rect">
                <a:avLst/>
              </a:prstGeom>
              <a:blipFill rotWithShape="0">
                <a:blip r:embed="rId11"/>
                <a:stretch>
                  <a:fillRect t="-7576" b="-27273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4916804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1"/>
          <p:cNvSpPr txBox="1"/>
          <p:nvPr/>
        </p:nvSpPr>
        <p:spPr>
          <a:xfrm>
            <a:off x="179512" y="260648"/>
            <a:ext cx="813690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 smtClean="0"/>
              <a:t>Calcul de la fonction vraisemblance du modèle espace d’état linéaire</a:t>
            </a:r>
            <a:endParaRPr lang="fr-FR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ZoneTexte 2"/>
              <p:cNvSpPr txBox="1"/>
              <p:nvPr/>
            </p:nvSpPr>
            <p:spPr>
              <a:xfrm>
                <a:off x="396000" y="972000"/>
                <a:ext cx="2159776" cy="686535"/>
              </a:xfrm>
              <a:prstGeom prst="rect">
                <a:avLst/>
              </a:prstGeom>
              <a:noFill/>
            </p:spPr>
            <p:txBody>
              <a:bodyPr wrap="square" lIns="0" tIns="0" rIns="0" bIns="0" numCol="2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"/>
                          <m:ctrlPr>
                            <a:rPr lang="fr-FR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fr-FR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fr-FR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fr-FR" b="0" i="1" smtClean="0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  <m:sub>
                                    <m:r>
                                      <a:rPr lang="fr-FR" b="0" i="1" smtClean="0"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</m:sub>
                                </m:sSub>
                                <m:r>
                                  <m:rPr>
                                    <m:brk m:alnAt="7"/>
                                  </m:rPr>
                                  <a:rPr lang="fr-FR" b="0" i="1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sSup>
                                  <m:sSupPr>
                                    <m:ctrlPr>
                                      <a:rPr lang="fr-FR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fr-FR" b="0" i="1" smtClean="0">
                                        <a:latin typeface="Cambria Math" panose="02040503050406030204" pitchFamily="18" charset="0"/>
                                      </a:rPr>
                                      <m:t>𝑤</m:t>
                                    </m:r>
                                  </m:e>
                                  <m:sup>
                                    <m:r>
                                      <a:rPr lang="fr-FR" b="0" i="1" smtClean="0">
                                        <a:latin typeface="Cambria Math" panose="02040503050406030204" pitchFamily="18" charset="0"/>
                                      </a:rPr>
                                      <m:t>′  </m:t>
                                    </m:r>
                                  </m:sup>
                                </m:sSup>
                                <m:sSub>
                                  <m:sSubPr>
                                    <m:ctrlPr>
                                      <a:rPr lang="fr-FR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fr-FR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fr-FR" b="0" i="1" smtClean="0"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  <m:r>
                                      <a:rPr lang="fr-FR" b="0" i="1" smtClean="0">
                                        <a:latin typeface="Cambria Math" panose="02040503050406030204" pitchFamily="18" charset="0"/>
                                      </a:rPr>
                                      <m:t>−1</m:t>
                                    </m:r>
                                  </m:sub>
                                </m:sSub>
                                <m:r>
                                  <m:rPr>
                                    <m:brk m:alnAt="7"/>
                                  </m:rPr>
                                  <a:rPr lang="fr-FR" b="0" i="1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b>
                                  <m:sSubPr>
                                    <m:ctrlPr>
                                      <a:rPr lang="fr-FR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fr-FR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𝜀</m:t>
                                    </m:r>
                                  </m:e>
                                  <m:sub>
                                    <m:r>
                                      <a:rPr lang="fr-FR" b="0" i="1" smtClean="0"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</m:sub>
                                </m:sSub>
                                <m:r>
                                  <m:rPr>
                                    <m:brk m:alnAt="7"/>
                                  </m:rPr>
                                  <a:rPr lang="fr-FR" b="0" i="1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fr-FR" b="0" i="1" smtClean="0">
                                    <a:latin typeface="Cambria Math" panose="02040503050406030204" pitchFamily="18" charset="0"/>
                                  </a:rPr>
                                  <m:t>            </m:t>
                                </m:r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fr-FR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fr-FR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fr-FR" b="0" i="1" smtClean="0"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</m:sub>
                                </m:sSub>
                                <m:r>
                                  <a:rPr lang="fr-FR" b="0" i="1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fr-FR" b="0" i="1" smtClean="0">
                                    <a:latin typeface="Cambria Math" panose="02040503050406030204" pitchFamily="18" charset="0"/>
                                  </a:rPr>
                                  <m:t>𝐹</m:t>
                                </m:r>
                                <m:sSub>
                                  <m:sSubPr>
                                    <m:ctrlPr>
                                      <a:rPr lang="fr-FR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fr-FR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fr-FR" b="0" i="1" smtClean="0"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  <m:r>
                                      <a:rPr lang="fr-FR" b="0" i="1" smtClean="0">
                                        <a:latin typeface="Cambria Math" panose="02040503050406030204" pitchFamily="18" charset="0"/>
                                      </a:rPr>
                                      <m:t>−1</m:t>
                                    </m:r>
                                  </m:sub>
                                </m:sSub>
                                <m:r>
                                  <a:rPr lang="fr-FR" b="0" i="1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fr-FR" b="0" i="1" smtClean="0">
                                    <a:latin typeface="Cambria Math" panose="02040503050406030204" pitchFamily="18" charset="0"/>
                                  </a:rPr>
                                  <m:t>𝑔</m:t>
                                </m:r>
                                <m:sSub>
                                  <m:sSubPr>
                                    <m:ctrlPr>
                                      <a:rPr lang="fr-FR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fr-FR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𝜀</m:t>
                                    </m:r>
                                  </m:e>
                                  <m:sub>
                                    <m:r>
                                      <a:rPr lang="fr-FR" i="1"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</m:sub>
                                </m:sSub>
                                <m:r>
                                  <a:rPr lang="fr-FR" b="0" i="1" smtClean="0">
                                    <a:latin typeface="Cambria Math" panose="02040503050406030204" pitchFamily="18" charset="0"/>
                                  </a:rPr>
                                  <m:t>             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fr-FR" dirty="0"/>
              </a:p>
            </p:txBody>
          </p:sp>
        </mc:Choice>
        <mc:Fallback xmlns="">
          <p:sp>
            <p:nvSpPr>
              <p:cNvPr id="3" name="ZoneTexte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6000" y="972000"/>
                <a:ext cx="2159776" cy="686535"/>
              </a:xfrm>
              <a:prstGeom prst="rect">
                <a:avLst/>
              </a:prstGeom>
              <a:blipFill rotWithShape="0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ZoneTexte 4"/>
              <p:cNvSpPr txBox="1"/>
              <p:nvPr/>
            </p:nvSpPr>
            <p:spPr>
              <a:xfrm>
                <a:off x="3203848" y="980728"/>
                <a:ext cx="4680520" cy="7078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fr-FR" dirty="0" smtClean="0"/>
                  <a:t>On suppose que le bruit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fr-FR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𝜀</m:t>
                        </m:r>
                      </m:e>
                      <m:sub>
                        <m:r>
                          <a:rPr lang="fr-FR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fr-FR" dirty="0" smtClean="0"/>
                  <a:t> est normale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fr-FR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fr-FR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fr-FR" dirty="0" smtClean="0"/>
                  <a:t> est le vecteur d’état initial</a:t>
                </a:r>
                <a:endParaRPr lang="fr-FR" dirty="0"/>
              </a:p>
            </p:txBody>
          </p:sp>
        </mc:Choice>
        <mc:Fallback xmlns="">
          <p:sp>
            <p:nvSpPr>
              <p:cNvPr id="5" name="ZoneTexte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03848" y="980728"/>
                <a:ext cx="4680520" cy="707886"/>
              </a:xfrm>
              <a:prstGeom prst="rect">
                <a:avLst/>
              </a:prstGeom>
              <a:blipFill rotWithShape="0">
                <a:blip r:embed="rId4"/>
                <a:stretch>
                  <a:fillRect l="-1434" t="-4310" b="-15517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ZoneTexte 5"/>
              <p:cNvSpPr txBox="1"/>
              <p:nvPr/>
            </p:nvSpPr>
            <p:spPr>
              <a:xfrm>
                <a:off x="323528" y="3585210"/>
                <a:ext cx="8424936" cy="7078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fr-FR" dirty="0" smtClean="0"/>
                  <a:t>La fonction vraisemblance est la densité de probabilité du vecteur aléatoire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fr-FR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fr-FR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fr-FR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fr-FR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fr-FR" b="0" i="1" smtClean="0">
                            <a:latin typeface="Cambria Math" panose="02040503050406030204" pitchFamily="18" charset="0"/>
                          </a:rPr>
                          <m:t>,….,</m:t>
                        </m:r>
                        <m:sSub>
                          <m:sSubPr>
                            <m:ctrlPr>
                              <a:rPr lang="fr-FR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fr-FR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fr-FR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</m:e>
                    </m:d>
                  </m:oMath>
                </a14:m>
                <a:r>
                  <a:rPr lang="fr-FR" dirty="0" smtClean="0"/>
                  <a:t> : </a:t>
                </a:r>
                <a14:m>
                  <m:oMath xmlns:m="http://schemas.openxmlformats.org/officeDocument/2006/math">
                    <m:r>
                      <a:rPr lang="fr-FR" b="0" i="1" smtClean="0">
                        <a:latin typeface="Cambria Math" panose="02040503050406030204" pitchFamily="18" charset="0"/>
                      </a:rPr>
                      <m:t>𝑝</m:t>
                    </m:r>
                    <m:d>
                      <m:dPr>
                        <m:ctrlPr>
                          <a:rPr lang="fr-FR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lin"/>
                            <m:ctrlPr>
                              <a:rPr lang="fr-FR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fr-FR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num>
                          <m:den>
                            <m:sSub>
                              <m:sSubPr>
                                <m:ctrlPr>
                                  <a:rPr lang="fr-FR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fr-FR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fr-FR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sub>
                            </m:sSub>
                          </m:den>
                        </m:f>
                      </m:e>
                    </m:d>
                  </m:oMath>
                </a14:m>
                <a:endParaRPr lang="fr-FR" dirty="0"/>
              </a:p>
            </p:txBody>
          </p:sp>
        </mc:Choice>
        <mc:Fallback xmlns="">
          <p:sp>
            <p:nvSpPr>
              <p:cNvPr id="6" name="ZoneTexte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3528" y="3585210"/>
                <a:ext cx="8424936" cy="707886"/>
              </a:xfrm>
              <a:prstGeom prst="rect">
                <a:avLst/>
              </a:prstGeom>
              <a:blipFill rotWithShape="0">
                <a:blip r:embed="rId5"/>
                <a:stretch>
                  <a:fillRect l="-724" t="-21552" b="-102586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ZoneTexte 6"/>
              <p:cNvSpPr txBox="1"/>
              <p:nvPr/>
            </p:nvSpPr>
            <p:spPr>
              <a:xfrm>
                <a:off x="179512" y="1988840"/>
                <a:ext cx="8640960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fr-FR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fr-FR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fr-FR" dirty="0" smtClean="0"/>
                  <a:t> est une combinaison de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fr-FR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fr-FR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fr-FR" dirty="0" smtClean="0"/>
                  <a:t> et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fr-FR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𝜀</m:t>
                        </m:r>
                      </m:e>
                      <m:sub>
                        <m:r>
                          <a:rPr lang="fr-FR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fr-FR" b="0" i="1" smtClean="0">
                        <a:latin typeface="Cambria Math" panose="02040503050406030204" pitchFamily="18" charset="0"/>
                      </a:rPr>
                      <m:t>,…,</m:t>
                    </m:r>
                    <m:sSub>
                      <m:sSubPr>
                        <m:ctrlPr>
                          <a:rPr lang="fr-FR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𝜀</m:t>
                        </m:r>
                      </m:e>
                      <m:sub>
                        <m:r>
                          <a:rPr lang="fr-FR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fr-FR" dirty="0" smtClean="0"/>
                  <a:t>, il en est de même pour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fr-FR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fr-FR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endParaRPr lang="fr-FR" dirty="0"/>
              </a:p>
            </p:txBody>
          </p:sp>
        </mc:Choice>
        <mc:Fallback xmlns="">
          <p:sp>
            <p:nvSpPr>
              <p:cNvPr id="7" name="ZoneTexte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9512" y="1988840"/>
                <a:ext cx="8640960" cy="400110"/>
              </a:xfrm>
              <a:prstGeom prst="rect">
                <a:avLst/>
              </a:prstGeom>
              <a:blipFill rotWithShape="0">
                <a:blip r:embed="rId6"/>
                <a:stretch>
                  <a:fillRect t="-6061" b="-27273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ZoneTexte 7"/>
              <p:cNvSpPr txBox="1"/>
              <p:nvPr/>
            </p:nvSpPr>
            <p:spPr>
              <a:xfrm>
                <a:off x="1835696" y="2924944"/>
                <a:ext cx="5435912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fr-FR" b="0" i="1" smtClean="0">
                        <a:latin typeface="Cambria Math" panose="02040503050406030204" pitchFamily="18" charset="0"/>
                      </a:rPr>
                      <m:t>𝐸</m:t>
                    </m:r>
                    <m:d>
                      <m:dPr>
                        <m:ctrlPr>
                          <a:rPr lang="fr-FR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lin"/>
                            <m:ctrlPr>
                              <a:rPr lang="fr-FR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b>
                              <m:sSubPr>
                                <m:ctrlPr>
                                  <a:rPr lang="fr-FR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fr-FR" b="0" i="1" smtClean="0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  <m:sub>
                                <m:r>
                                  <a:rPr lang="fr-FR" b="0" i="1" smtClean="0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sub>
                            </m:sSub>
                          </m:num>
                          <m:den>
                            <m:sSub>
                              <m:sSubPr>
                                <m:ctrlPr>
                                  <a:rPr lang="fr-FR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fr-FR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fr-FR" b="0" i="1" smtClean="0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  <m:r>
                                  <a:rPr lang="fr-FR" b="0" i="1" smtClean="0">
                                    <a:latin typeface="Cambria Math" panose="02040503050406030204" pitchFamily="18" charset="0"/>
                                  </a:rPr>
                                  <m:t>−1</m:t>
                                </m:r>
                              </m:sub>
                            </m:sSub>
                          </m:den>
                        </m:f>
                      </m:e>
                    </m:d>
                    <m:r>
                      <a:rPr lang="fr-FR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fr-FR" b="0" i="1" smtClean="0">
                        <a:latin typeface="Cambria Math" panose="02040503050406030204" pitchFamily="18" charset="0"/>
                      </a:rPr>
                      <m:t>𝑤</m:t>
                    </m:r>
                    <m:r>
                      <a:rPr lang="fr-FR" b="0" i="1" smtClean="0">
                        <a:latin typeface="Cambria Math" panose="02040503050406030204" pitchFamily="18" charset="0"/>
                      </a:rPr>
                      <m:t>′</m:t>
                    </m:r>
                    <m:sSub>
                      <m:sSubPr>
                        <m:ctrlPr>
                          <a:rPr lang="fr-FR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fr-FR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fr-FR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sub>
                    </m:sSub>
                  </m:oMath>
                </a14:m>
                <a:r>
                  <a:rPr lang="fr-FR" dirty="0" smtClean="0"/>
                  <a:t> et </a:t>
                </a:r>
                <a14:m>
                  <m:oMath xmlns:m="http://schemas.openxmlformats.org/officeDocument/2006/math">
                    <m:r>
                      <a:rPr lang="fr-FR" b="0" i="1" smtClean="0">
                        <a:latin typeface="Cambria Math" panose="02040503050406030204" pitchFamily="18" charset="0"/>
                      </a:rPr>
                      <m:t>𝑉</m:t>
                    </m:r>
                    <m:d>
                      <m:dPr>
                        <m:ctrlPr>
                          <a:rPr lang="fr-FR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lin"/>
                            <m:ctrlPr>
                              <a:rPr lang="fr-FR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b>
                              <m:sSubPr>
                                <m:ctrlPr>
                                  <a:rPr lang="fr-FR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fr-FR" b="0" i="1" smtClean="0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  <m:sub>
                                <m:r>
                                  <a:rPr lang="fr-FR" b="0" i="1" smtClean="0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sub>
                            </m:sSub>
                          </m:num>
                          <m:den>
                            <m:sSub>
                              <m:sSubPr>
                                <m:ctrlPr>
                                  <a:rPr lang="fr-FR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fr-FR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fr-FR" b="0" i="1" smtClean="0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  <m:r>
                                  <a:rPr lang="fr-FR" b="0" i="1" smtClean="0">
                                    <a:latin typeface="Cambria Math" panose="02040503050406030204" pitchFamily="18" charset="0"/>
                                  </a:rPr>
                                  <m:t>−1</m:t>
                                </m:r>
                              </m:sub>
                            </m:sSub>
                          </m:den>
                        </m:f>
                      </m:e>
                    </m:d>
                    <m:r>
                      <a:rPr lang="fr-FR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fr-FR" b="0" i="1" smtClean="0">
                        <a:latin typeface="Cambria Math" panose="02040503050406030204" pitchFamily="18" charset="0"/>
                      </a:rPr>
                      <m:t>𝑉</m:t>
                    </m:r>
                    <m:d>
                      <m:dPr>
                        <m:ctrlPr>
                          <a:rPr lang="fr-FR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fr-FR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fr-FR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𝜀</m:t>
                            </m:r>
                          </m:e>
                          <m:sub>
                            <m:r>
                              <a:rPr lang="fr-FR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</m:e>
                    </m:d>
                    <m:r>
                      <a:rPr lang="fr-FR" b="0" i="0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fr-FR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fr-F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𝜎</m:t>
                        </m:r>
                      </m:e>
                      <m:sup>
                        <m:r>
                          <a:rPr lang="fr-FR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lang="fr-FR" dirty="0"/>
              </a:p>
            </p:txBody>
          </p:sp>
        </mc:Choice>
        <mc:Fallback xmlns="">
          <p:sp>
            <p:nvSpPr>
              <p:cNvPr id="8" name="ZoneTexte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35696" y="2924944"/>
                <a:ext cx="5435912" cy="307777"/>
              </a:xfrm>
              <a:prstGeom prst="rect">
                <a:avLst/>
              </a:prstGeom>
              <a:blipFill rotWithShape="0">
                <a:blip r:embed="rId7"/>
                <a:stretch>
                  <a:fillRect l="-1570" t="-166000" r="-224" b="-254000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ZoneTexte 8"/>
              <p:cNvSpPr txBox="1"/>
              <p:nvPr/>
            </p:nvSpPr>
            <p:spPr>
              <a:xfrm>
                <a:off x="323528" y="4437112"/>
                <a:ext cx="7416824" cy="93262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𝑝</m:t>
                      </m:r>
                      <m:d>
                        <m:dPr>
                          <m:ctrlPr>
                            <a:rPr lang="fr-FR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type m:val="lin"/>
                              <m:ctrlPr>
                                <a:rPr lang="fr-FR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fr-FR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num>
                            <m:den>
                              <m:sSub>
                                <m:sSubPr>
                                  <m:ctrlPr>
                                    <a:rPr lang="fr-FR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fr-FR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fr-FR" b="0" i="1" smtClean="0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</m:den>
                          </m:f>
                        </m:e>
                      </m:d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∏"/>
                          <m:ctrlPr>
                            <a:rPr lang="fr-FR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fr-FR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  <m:d>
                            <m:dPr>
                              <m:ctrlPr>
                                <a:rPr lang="fr-FR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type m:val="lin"/>
                                  <m:ctrlPr>
                                    <a:rPr lang="fr-FR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b>
                                    <m:sSubPr>
                                      <m:ctrlPr>
                                        <a:rPr lang="fr-FR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fr-FR" b="0" i="1" smtClean="0"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  <m:sub>
                                      <m:r>
                                        <a:rPr lang="fr-FR" b="0" i="1" smtClean="0">
                                          <a:latin typeface="Cambria Math" panose="02040503050406030204" pitchFamily="18" charset="0"/>
                                        </a:rPr>
                                        <m:t>𝑡</m:t>
                                      </m:r>
                                    </m:sub>
                                  </m:sSub>
                                </m:num>
                                <m:den>
                                  <m:sSub>
                                    <m:sSubPr>
                                      <m:ctrlPr>
                                        <a:rPr lang="fr-FR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fr-FR" b="0" i="1" smtClean="0"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  <m:sub>
                                      <m:r>
                                        <a:rPr lang="fr-FR" b="0" i="1" smtClean="0">
                                          <a:latin typeface="Cambria Math" panose="02040503050406030204" pitchFamily="18" charset="0"/>
                                        </a:rPr>
                                        <m:t>𝑡</m:t>
                                      </m:r>
                                      <m:r>
                                        <a:rPr lang="fr-FR" b="0" i="1" smtClean="0">
                                          <a:latin typeface="Cambria Math" panose="02040503050406030204" pitchFamily="18" charset="0"/>
                                        </a:rPr>
                                        <m:t>−1</m:t>
                                      </m:r>
                                    </m:sub>
                                  </m:sSub>
                                  <m:r>
                                    <a:rPr lang="fr-FR" b="0" i="1" smtClean="0">
                                      <a:latin typeface="Cambria Math" panose="02040503050406030204" pitchFamily="18" charset="0"/>
                                    </a:rPr>
                                    <m:t>,…,</m:t>
                                  </m:r>
                                  <m:sSub>
                                    <m:sSubPr>
                                      <m:ctrlPr>
                                        <a:rPr lang="fr-FR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fr-FR" b="0" i="1" smtClean="0"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  <m:sub>
                                      <m:r>
                                        <a:rPr lang="fr-FR" b="0" i="1" smtClean="0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  <m:r>
                                    <a:rPr lang="fr-FR" b="0" i="1" smtClean="0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sSub>
                                    <m:sSubPr>
                                      <m:ctrlPr>
                                        <a:rPr lang="fr-FR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fr-FR" b="0" i="1" smtClean="0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fr-FR" b="0" i="1" smtClean="0"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sub>
                                  </m:sSub>
                                </m:den>
                              </m:f>
                            </m:e>
                          </m:d>
                        </m:e>
                      </m:nary>
                    </m:oMath>
                  </m:oMathPara>
                </a14:m>
                <a:endParaRPr lang="fr-FR" dirty="0"/>
              </a:p>
            </p:txBody>
          </p:sp>
        </mc:Choice>
        <mc:Fallback xmlns="">
          <p:sp>
            <p:nvSpPr>
              <p:cNvPr id="9" name="ZoneTexte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3528" y="4437112"/>
                <a:ext cx="7416824" cy="932628"/>
              </a:xfrm>
              <a:prstGeom prst="rect">
                <a:avLst/>
              </a:prstGeom>
              <a:blipFill rotWithShape="0"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ZoneTexte 3"/>
          <p:cNvSpPr txBox="1"/>
          <p:nvPr/>
        </p:nvSpPr>
        <p:spPr>
          <a:xfrm>
            <a:off x="323528" y="5517232"/>
            <a:ext cx="813690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 smtClean="0"/>
              <a:t>La densité conjointe s’écrit comme produit de densités conditionnelles</a:t>
            </a:r>
            <a:endParaRPr lang="fr-FR" dirty="0"/>
          </a:p>
        </p:txBody>
      </p:sp>
      <p:sp>
        <p:nvSpPr>
          <p:cNvPr id="11" name="ZoneTexte 10"/>
          <p:cNvSpPr txBox="1"/>
          <p:nvPr/>
        </p:nvSpPr>
        <p:spPr>
          <a:xfrm>
            <a:off x="323528" y="6093296"/>
            <a:ext cx="777686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 smtClean="0"/>
              <a:t>n étant le nombre de valeurs disponibles de la série temporelle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235522714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ZoneTexte 1"/>
              <p:cNvSpPr txBox="1"/>
              <p:nvPr/>
            </p:nvSpPr>
            <p:spPr>
              <a:xfrm>
                <a:off x="475928" y="5016652"/>
                <a:ext cx="7416824" cy="93262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𝑝</m:t>
                      </m:r>
                      <m:d>
                        <m:dPr>
                          <m:ctrlPr>
                            <a:rPr lang="fr-FR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type m:val="lin"/>
                              <m:ctrlPr>
                                <a:rPr lang="fr-FR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fr-FR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num>
                            <m:den>
                              <m:sSub>
                                <m:sSubPr>
                                  <m:ctrlPr>
                                    <a:rPr lang="fr-FR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fr-FR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fr-FR" b="0" i="1" smtClean="0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</m:den>
                          </m:f>
                        </m:e>
                      </m:d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∏"/>
                          <m:ctrlPr>
                            <a:rPr lang="fr-FR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fr-FR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f>
                            <m:fPr>
                              <m:ctrlPr>
                                <a:rPr lang="fr-FR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fr-FR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ad>
                                <m:radPr>
                                  <m:degHide m:val="on"/>
                                  <m:ctrlPr>
                                    <a:rPr lang="fr-FR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radPr>
                                <m:deg/>
                                <m:e>
                                  <m:r>
                                    <a:rPr lang="fr-FR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  <m:r>
                                    <a:rPr lang="fr-FR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𝜋</m:t>
                                  </m:r>
                                </m:e>
                              </m:rad>
                              <m:r>
                                <a:rPr lang="fr-FR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𝜎</m:t>
                              </m:r>
                            </m:den>
                          </m:f>
                          <m:sSup>
                            <m:sSupPr>
                              <m:ctrlPr>
                                <a:rPr lang="fr-FR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fr-FR" b="0" i="1" smtClean="0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fr-FR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f>
                                <m:fPr>
                                  <m:ctrlPr>
                                    <a:rPr lang="fr-FR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bSup>
                                    <m:sSubSupPr>
                                      <m:ctrlPr>
                                        <a:rPr lang="fr-FR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lang="fr-FR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𝜀</m:t>
                                      </m:r>
                                    </m:e>
                                    <m:sub>
                                      <m:r>
                                        <a:rPr lang="fr-FR" b="0" i="1" smtClean="0">
                                          <a:latin typeface="Cambria Math" panose="02040503050406030204" pitchFamily="18" charset="0"/>
                                        </a:rPr>
                                        <m:t>𝑡</m:t>
                                      </m:r>
                                    </m:sub>
                                    <m:sup>
                                      <m:r>
                                        <a:rPr lang="fr-FR" b="0" i="1" smtClean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bSup>
                                </m:num>
                                <m:den>
                                  <m:r>
                                    <a:rPr lang="fr-FR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  <m:sSup>
                                    <m:sSupPr>
                                      <m:ctrlPr>
                                        <a:rPr lang="fr-FR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fr-FR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𝜎</m:t>
                                      </m:r>
                                    </m:e>
                                    <m:sup>
                                      <m:r>
                                        <a:rPr lang="fr-FR" b="0" i="1" smtClean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</m:den>
                              </m:f>
                            </m:sup>
                          </m:sSup>
                        </m:e>
                      </m:nary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fr-FR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fr-FR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fr-FR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fr-FR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𝜋</m:t>
                              </m:r>
                              <m:sSup>
                                <m:sSupPr>
                                  <m:ctrlPr>
                                    <a:rPr lang="fr-FR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fr-FR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𝜎</m:t>
                                  </m:r>
                                </m:e>
                                <m:sup>
                                  <m:r>
                                    <a:rPr lang="fr-FR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d>
                        </m:e>
                        <m:sup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/2</m:t>
                          </m:r>
                        </m:sup>
                      </m:sSup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𝑒𝑥𝑝</m:t>
                      </m:r>
                      <m:d>
                        <m:dPr>
                          <m:ctrlPr>
                            <a:rPr lang="fr-FR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nary>
                            <m:naryPr>
                              <m:chr m:val="∑"/>
                              <m:ctrlPr>
                                <a:rPr lang="fr-FR" b="0" i="1" smtClean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fr-FR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fr-FR" b="0" i="1" smtClean="0"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fr-FR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p>
                            <m:e>
                              <m:r>
                                <a:rPr lang="fr-FR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f>
                                <m:fPr>
                                  <m:ctrlPr>
                                    <a:rPr lang="fr-FR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bSup>
                                    <m:sSubSupPr>
                                      <m:ctrlPr>
                                        <a:rPr lang="fr-FR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lang="fr-FR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𝜀</m:t>
                                      </m:r>
                                    </m:e>
                                    <m:sub>
                                      <m:r>
                                        <a:rPr lang="fr-FR" b="0" i="1" smtClean="0">
                                          <a:latin typeface="Cambria Math" panose="02040503050406030204" pitchFamily="18" charset="0"/>
                                        </a:rPr>
                                        <m:t>𝑡</m:t>
                                      </m:r>
                                    </m:sub>
                                    <m:sup>
                                      <m:r>
                                        <a:rPr lang="fr-FR" b="0" i="1" smtClean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bSup>
                                </m:num>
                                <m:den>
                                  <m:r>
                                    <a:rPr lang="fr-FR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  <m:sSup>
                                    <m:sSupPr>
                                      <m:ctrlPr>
                                        <a:rPr lang="fr-FR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fr-FR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𝜎</m:t>
                                      </m:r>
                                    </m:e>
                                    <m:sup>
                                      <m:r>
                                        <a:rPr lang="fr-FR" b="0" i="1" smtClean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</m:den>
                              </m:f>
                            </m:e>
                          </m:nary>
                        </m:e>
                      </m:d>
                    </m:oMath>
                  </m:oMathPara>
                </a14:m>
                <a:endParaRPr lang="fr-FR" dirty="0"/>
              </a:p>
            </p:txBody>
          </p:sp>
        </mc:Choice>
        <mc:Fallback xmlns="">
          <p:sp>
            <p:nvSpPr>
              <p:cNvPr id="2" name="ZoneTexte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5928" y="5016652"/>
                <a:ext cx="7416824" cy="932628"/>
              </a:xfrm>
              <a:prstGeom prst="rect">
                <a:avLst/>
              </a:prstGeom>
              <a:blipFill rotWithShape="0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ZoneTexte 2"/>
              <p:cNvSpPr txBox="1"/>
              <p:nvPr/>
            </p:nvSpPr>
            <p:spPr>
              <a:xfrm>
                <a:off x="323528" y="552156"/>
                <a:ext cx="7416824" cy="93262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𝑝</m:t>
                      </m:r>
                      <m:d>
                        <m:dPr>
                          <m:ctrlPr>
                            <a:rPr lang="fr-FR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type m:val="lin"/>
                              <m:ctrlPr>
                                <a:rPr lang="fr-FR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fr-FR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num>
                            <m:den>
                              <m:sSub>
                                <m:sSubPr>
                                  <m:ctrlPr>
                                    <a:rPr lang="fr-FR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fr-FR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fr-FR" b="0" i="1" smtClean="0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</m:den>
                          </m:f>
                        </m:e>
                      </m:d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∏"/>
                          <m:ctrlPr>
                            <a:rPr lang="fr-FR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fr-FR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  <m:d>
                            <m:dPr>
                              <m:ctrlPr>
                                <a:rPr lang="fr-FR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type m:val="lin"/>
                                  <m:ctrlPr>
                                    <a:rPr lang="fr-FR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b>
                                    <m:sSubPr>
                                      <m:ctrlPr>
                                        <a:rPr lang="fr-FR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fr-FR" b="0" i="1" smtClean="0"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  <m:sub>
                                      <m:r>
                                        <a:rPr lang="fr-FR" b="0" i="1" smtClean="0">
                                          <a:latin typeface="Cambria Math" panose="02040503050406030204" pitchFamily="18" charset="0"/>
                                        </a:rPr>
                                        <m:t>𝑡</m:t>
                                      </m:r>
                                    </m:sub>
                                  </m:sSub>
                                </m:num>
                                <m:den>
                                  <m:sSub>
                                    <m:sSubPr>
                                      <m:ctrlPr>
                                        <a:rPr lang="fr-FR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fr-FR" b="0" i="1" smtClean="0"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  <m:sub>
                                      <m:r>
                                        <a:rPr lang="fr-FR" b="0" i="1" smtClean="0">
                                          <a:latin typeface="Cambria Math" panose="02040503050406030204" pitchFamily="18" charset="0"/>
                                        </a:rPr>
                                        <m:t>𝑡</m:t>
                                      </m:r>
                                      <m:r>
                                        <a:rPr lang="fr-FR" b="0" i="1" smtClean="0">
                                          <a:latin typeface="Cambria Math" panose="02040503050406030204" pitchFamily="18" charset="0"/>
                                        </a:rPr>
                                        <m:t>−1</m:t>
                                      </m:r>
                                    </m:sub>
                                  </m:sSub>
                                  <m:r>
                                    <a:rPr lang="fr-FR" b="0" i="1" smtClean="0">
                                      <a:latin typeface="Cambria Math" panose="02040503050406030204" pitchFamily="18" charset="0"/>
                                    </a:rPr>
                                    <m:t>,…,</m:t>
                                  </m:r>
                                  <m:sSub>
                                    <m:sSubPr>
                                      <m:ctrlPr>
                                        <a:rPr lang="fr-FR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fr-FR" b="0" i="1" smtClean="0"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  <m:sub>
                                      <m:r>
                                        <a:rPr lang="fr-FR" b="0" i="1" smtClean="0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  <m:r>
                                    <a:rPr lang="fr-FR" b="0" i="1" smtClean="0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sSub>
                                    <m:sSubPr>
                                      <m:ctrlPr>
                                        <a:rPr lang="fr-FR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fr-FR" b="0" i="1" smtClean="0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fr-FR" b="0" i="1" smtClean="0"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sub>
                                  </m:sSub>
                                </m:den>
                              </m:f>
                            </m:e>
                          </m:d>
                        </m:e>
                      </m:nary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∏"/>
                          <m:ctrlPr>
                            <a:rPr lang="fr-FR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fr-FR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r>
                            <a:rPr lang="fr-FR" i="1">
                              <a:latin typeface="Cambria Math" panose="02040503050406030204" pitchFamily="18" charset="0"/>
                            </a:rPr>
                            <m:t>𝑝</m:t>
                          </m:r>
                          <m:d>
                            <m:dPr>
                              <m:ctrlPr>
                                <a:rPr lang="fr-FR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type m:val="lin"/>
                                  <m:ctrlPr>
                                    <a:rPr lang="fr-FR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b>
                                    <m:sSubPr>
                                      <m:ctrlPr>
                                        <a:rPr lang="fr-FR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fr-FR" i="1"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  <m:sub>
                                      <m:r>
                                        <a:rPr lang="fr-FR" i="1">
                                          <a:latin typeface="Cambria Math" panose="02040503050406030204" pitchFamily="18" charset="0"/>
                                        </a:rPr>
                                        <m:t>𝑡</m:t>
                                      </m:r>
                                    </m:sub>
                                  </m:sSub>
                                </m:num>
                                <m:den>
                                  <m:sSub>
                                    <m:sSubPr>
                                      <m:ctrlPr>
                                        <a:rPr lang="fr-FR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fr-FR" b="0" i="1" smtClean="0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fr-FR" i="1">
                                          <a:latin typeface="Cambria Math" panose="02040503050406030204" pitchFamily="18" charset="0"/>
                                        </a:rPr>
                                        <m:t>𝑡</m:t>
                                      </m:r>
                                      <m:r>
                                        <a:rPr lang="fr-FR" i="1">
                                          <a:latin typeface="Cambria Math" panose="02040503050406030204" pitchFamily="18" charset="0"/>
                                        </a:rPr>
                                        <m:t>−1</m:t>
                                      </m:r>
                                    </m:sub>
                                  </m:sSub>
                                </m:den>
                              </m:f>
                            </m:e>
                          </m:d>
                        </m:e>
                      </m:nary>
                    </m:oMath>
                  </m:oMathPara>
                </a14:m>
                <a:endParaRPr lang="fr-FR" dirty="0"/>
              </a:p>
            </p:txBody>
          </p:sp>
        </mc:Choice>
        <mc:Fallback xmlns="">
          <p:sp>
            <p:nvSpPr>
              <p:cNvPr id="3" name="ZoneTexte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3528" y="552156"/>
                <a:ext cx="7416824" cy="932628"/>
              </a:xfrm>
              <a:prstGeom prst="rect">
                <a:avLst/>
              </a:prstGeom>
              <a:blipFill rotWithShape="0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ZoneTexte 3"/>
              <p:cNvSpPr txBox="1"/>
              <p:nvPr/>
            </p:nvSpPr>
            <p:spPr>
              <a:xfrm>
                <a:off x="683568" y="1772816"/>
                <a:ext cx="8136904" cy="7078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fr-FR" dirty="0" smtClean="0"/>
                  <a:t>La composante aléatoire de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fr-FR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fr-FR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fr-FR" dirty="0" smtClean="0"/>
                  <a:t> si on fixe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fr-F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fr-FR" i="1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fr-FR" i="1">
                            <a:latin typeface="Cambria Math" panose="02040503050406030204" pitchFamily="18" charset="0"/>
                          </a:rPr>
                          <m:t>−1</m:t>
                        </m:r>
                      </m:sub>
                    </m:sSub>
                    <m:r>
                      <a:rPr lang="fr-FR" i="1">
                        <a:latin typeface="Cambria Math" panose="02040503050406030204" pitchFamily="18" charset="0"/>
                      </a:rPr>
                      <m:t>,…,</m:t>
                    </m:r>
                    <m:sSub>
                      <m:sSubPr>
                        <m:ctrlPr>
                          <a:rPr lang="fr-F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fr-FR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fr-FR" i="1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fr-F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fr-FR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fr-FR" dirty="0" smtClean="0"/>
                  <a:t> est la même que celle de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fr-F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fr-FR" i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fr-FR" dirty="0" smtClean="0"/>
                  <a:t>  si on fixe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fr-FR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fr-FR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fr-FR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sub>
                    </m:sSub>
                  </m:oMath>
                </a14:m>
                <a:r>
                  <a:rPr lang="fr-FR" dirty="0" smtClean="0"/>
                  <a:t> </a:t>
                </a:r>
                <a:endParaRPr lang="fr-FR" dirty="0"/>
              </a:p>
            </p:txBody>
          </p:sp>
        </mc:Choice>
        <mc:Fallback xmlns="">
          <p:sp>
            <p:nvSpPr>
              <p:cNvPr id="4" name="ZoneTexte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3568" y="1772816"/>
                <a:ext cx="8136904" cy="707886"/>
              </a:xfrm>
              <a:prstGeom prst="rect">
                <a:avLst/>
              </a:prstGeom>
              <a:blipFill rotWithShape="0">
                <a:blip r:embed="rId4"/>
                <a:stretch>
                  <a:fillRect l="-749" t="-4310" b="-15517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ZoneTexte 4"/>
              <p:cNvSpPr txBox="1"/>
              <p:nvPr/>
            </p:nvSpPr>
            <p:spPr>
              <a:xfrm>
                <a:off x="755576" y="2852936"/>
                <a:ext cx="835292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fr-FR" dirty="0" smtClean="0"/>
                  <a:t>Si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fr-FR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𝜀</m:t>
                        </m:r>
                      </m:e>
                      <m:sub>
                        <m:r>
                          <a:rPr lang="fr-FR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fr-FR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  <m:r>
                      <a:rPr lang="fr-F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𝑁</m:t>
                    </m:r>
                    <m:d>
                      <m:dPr>
                        <m:ctrlPr>
                          <a:rPr lang="fr-F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fr-F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0,</m:t>
                        </m:r>
                        <m:r>
                          <a:rPr lang="fr-F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𝜎</m:t>
                        </m:r>
                      </m:e>
                    </m:d>
                  </m:oMath>
                </a14:m>
                <a:r>
                  <a:rPr lang="fr-FR" dirty="0" smtClean="0"/>
                  <a:t> alors </a:t>
                </a:r>
                <a14:m>
                  <m:oMath xmlns:m="http://schemas.openxmlformats.org/officeDocument/2006/math">
                    <m:f>
                      <m:fPr>
                        <m:type m:val="lin"/>
                        <m:ctrlPr>
                          <a:rPr lang="fr-FR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fr-FR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fr-FR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fr-FR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fr-FR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fr-FR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fr-FR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fr-FR" b="0" i="1" smtClean="0">
                                <a:latin typeface="Cambria Math" panose="02040503050406030204" pitchFamily="18" charset="0"/>
                              </a:rPr>
                              <m:t>−1</m:t>
                            </m:r>
                          </m:sub>
                        </m:sSub>
                        <m:r>
                          <a:rPr lang="fr-FR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→</m:t>
                        </m:r>
                        <m:r>
                          <a:rPr lang="fr-F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𝑁</m:t>
                        </m:r>
                        <m:d>
                          <m:dPr>
                            <m:ctrlPr>
                              <a:rPr lang="fr-FR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lang="fr-FR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fr-FR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𝑤</m:t>
                                </m:r>
                              </m:e>
                              <m:sup>
                                <m:r>
                                  <a:rPr lang="fr-FR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′</m:t>
                                </m:r>
                              </m:sup>
                            </m:sSup>
                            <m:sSub>
                              <m:sSubPr>
                                <m:ctrlPr>
                                  <a:rPr lang="fr-FR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fr-FR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fr-FR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𝑡</m:t>
                                </m:r>
                                <m:r>
                                  <a:rPr lang="fr-FR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−1</m:t>
                                </m:r>
                              </m:sub>
                            </m:sSub>
                            <m:r>
                              <a:rPr lang="fr-FR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fr-FR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𝜎</m:t>
                            </m:r>
                          </m:e>
                        </m:d>
                      </m:den>
                    </m:f>
                  </m:oMath>
                </a14:m>
                <a:endParaRPr lang="fr-FR" dirty="0"/>
              </a:p>
            </p:txBody>
          </p:sp>
        </mc:Choice>
        <mc:Fallback xmlns="">
          <p:sp>
            <p:nvSpPr>
              <p:cNvPr id="5" name="ZoneTexte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5576" y="2852936"/>
                <a:ext cx="8352928" cy="400110"/>
              </a:xfrm>
              <a:prstGeom prst="rect">
                <a:avLst/>
              </a:prstGeom>
              <a:blipFill rotWithShape="0">
                <a:blip r:embed="rId5"/>
                <a:stretch>
                  <a:fillRect l="-803" t="-113636" b="-180303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ZoneTexte 6"/>
              <p:cNvSpPr txBox="1"/>
              <p:nvPr/>
            </p:nvSpPr>
            <p:spPr>
              <a:xfrm>
                <a:off x="251520" y="3717032"/>
                <a:ext cx="8208912" cy="79297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f>
                            <m:fPr>
                              <m:type m:val="lin"/>
                              <m:ctrlPr>
                                <a:rPr lang="fr-FR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fr-FR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fr-FR" b="0" i="1" smtClean="0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fr-FR" b="0" i="1" smtClean="0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sub>
                              </m:sSub>
                            </m:num>
                            <m:den>
                              <m:sSub>
                                <m:sSubPr>
                                  <m:ctrlPr>
                                    <a:rPr lang="fr-FR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fr-FR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fr-FR" b="0" i="1" smtClean="0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  <m:r>
                                    <a:rPr lang="fr-FR" b="0" i="1" smtClean="0">
                                      <a:latin typeface="Cambria Math" panose="02040503050406030204" pitchFamily="18" charset="0"/>
                                    </a:rPr>
                                    <m:t>−1</m:t>
                                  </m:r>
                                </m:sub>
                              </m:sSub>
                            </m:den>
                          </m:f>
                        </m:sub>
                      </m:sSub>
                      <m:d>
                        <m:dPr>
                          <m:ctrlPr>
                            <a:rPr lang="fr-FR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fr-FR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fr-FR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</m:e>
                      </m:d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fr-FR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fr-FR" b="0" i="1" smtClean="0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fr-FR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fr-FR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𝜋</m:t>
                              </m:r>
                            </m:e>
                          </m:rad>
                          <m:r>
                            <a:rPr lang="fr-F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𝜎</m:t>
                          </m:r>
                        </m:den>
                      </m:f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𝑒𝑥𝑝</m:t>
                      </m:r>
                      <m:d>
                        <m:dPr>
                          <m:ctrlPr>
                            <a:rPr lang="fr-FR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f>
                            <m:fPr>
                              <m:ctrlPr>
                                <a:rPr lang="fr-FR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p>
                                <m:sSupPr>
                                  <m:ctrlPr>
                                    <a:rPr lang="fr-FR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fr-FR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fr-FR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fr-FR" b="0" i="1" smtClean="0">
                                              <a:latin typeface="Cambria Math" panose="02040503050406030204" pitchFamily="18" charset="0"/>
                                            </a:rPr>
                                            <m:t>𝑦</m:t>
                                          </m:r>
                                        </m:e>
                                        <m:sub>
                                          <m:r>
                                            <a:rPr lang="fr-FR" b="0" i="1" smtClean="0">
                                              <a:latin typeface="Cambria Math" panose="02040503050406030204" pitchFamily="18" charset="0"/>
                                            </a:rPr>
                                            <m:t>𝑡</m:t>
                                          </m:r>
                                        </m:sub>
                                      </m:sSub>
                                      <m:r>
                                        <a:rPr lang="fr-FR" b="0" i="1" smtClean="0"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r>
                                        <a:rPr lang="fr-FR" b="0" i="1" smtClean="0">
                                          <a:latin typeface="Cambria Math" panose="02040503050406030204" pitchFamily="18" charset="0"/>
                                        </a:rPr>
                                        <m:t>𝑤</m:t>
                                      </m:r>
                                      <m:r>
                                        <a:rPr lang="fr-FR" b="0" i="1" smtClean="0">
                                          <a:latin typeface="Cambria Math" panose="02040503050406030204" pitchFamily="18" charset="0"/>
                                        </a:rPr>
                                        <m:t>′</m:t>
                                      </m:r>
                                      <m:sSub>
                                        <m:sSubPr>
                                          <m:ctrlPr>
                                            <a:rPr lang="fr-FR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fr-FR" b="0" i="1" smtClean="0"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  <m:sub>
                                          <m:r>
                                            <a:rPr lang="fr-FR" b="0" i="1" smtClean="0">
                                              <a:latin typeface="Cambria Math" panose="02040503050406030204" pitchFamily="18" charset="0"/>
                                            </a:rPr>
                                            <m:t>𝑡</m:t>
                                          </m:r>
                                          <m:r>
                                            <a:rPr lang="fr-FR" b="0" i="1" smtClean="0">
                                              <a:latin typeface="Cambria Math" panose="02040503050406030204" pitchFamily="18" charset="0"/>
                                            </a:rPr>
                                            <m:t>−1</m:t>
                                          </m:r>
                                        </m:sub>
                                      </m:sSub>
                                    </m:e>
                                  </m:d>
                                </m:e>
                                <m:sup>
                                  <m:r>
                                    <a:rPr lang="fr-FR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num>
                            <m:den>
                              <m:r>
                                <a:rPr lang="fr-FR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sSup>
                                <m:sSupPr>
                                  <m:ctrlPr>
                                    <a:rPr lang="fr-FR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fr-FR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𝜎</m:t>
                                  </m:r>
                                </m:e>
                                <m:sup>
                                  <m:r>
                                    <a:rPr lang="fr-FR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den>
                          </m:f>
                        </m:e>
                      </m:d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fr-FR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FR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fr-FR" i="1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fr-FR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fr-FR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𝜋</m:t>
                              </m:r>
                            </m:e>
                          </m:rad>
                          <m:r>
                            <a:rPr lang="fr-F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𝜎</m:t>
                          </m:r>
                        </m:den>
                      </m:f>
                      <m:r>
                        <a:rPr lang="fr-F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𝑒𝑥𝑝</m:t>
                      </m:r>
                      <m:d>
                        <m:dPr>
                          <m:ctrlPr>
                            <a:rPr lang="fr-F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fr-F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</m:t>
                          </m:r>
                          <m:f>
                            <m:fPr>
                              <m:ctrlPr>
                                <a:rPr lang="fr-FR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sSubSup>
                                <m:sSubSupPr>
                                  <m:ctrlPr>
                                    <a:rPr lang="fr-FR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fr-FR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𝜀</m:t>
                                  </m:r>
                                </m:e>
                                <m:sub>
                                  <m:r>
                                    <a:rPr lang="fr-FR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𝑡</m:t>
                                  </m:r>
                                </m:sub>
                                <m:sup>
                                  <m:r>
                                    <a:rPr lang="fr-FR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bSup>
                            </m:num>
                            <m:den>
                              <m:r>
                                <a:rPr lang="fr-FR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  <m:sSup>
                                <m:sSupPr>
                                  <m:ctrlPr>
                                    <a:rPr lang="fr-FR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fr-FR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𝜎</m:t>
                                  </m:r>
                                </m:e>
                                <m:sup>
                                  <m:r>
                                    <a:rPr lang="fr-FR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den>
                          </m:f>
                        </m:e>
                      </m:d>
                    </m:oMath>
                  </m:oMathPara>
                </a14:m>
                <a:endParaRPr lang="fr-FR" dirty="0"/>
              </a:p>
            </p:txBody>
          </p:sp>
        </mc:Choice>
        <mc:Fallback xmlns="">
          <p:sp>
            <p:nvSpPr>
              <p:cNvPr id="7" name="ZoneTexte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1520" y="3717032"/>
                <a:ext cx="8208912" cy="792974"/>
              </a:xfrm>
              <a:prstGeom prst="rect">
                <a:avLst/>
              </a:prstGeom>
              <a:blipFill rotWithShape="0"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520999574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1"/>
          <p:cNvSpPr txBox="1"/>
          <p:nvPr/>
        </p:nvSpPr>
        <p:spPr>
          <a:xfrm>
            <a:off x="179512" y="260648"/>
            <a:ext cx="878497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 smtClean="0"/>
              <a:t>Calcul de la fonction vraisemblance du modèle espace d’état non linéaire</a:t>
            </a:r>
            <a:endParaRPr lang="fr-FR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ZoneTexte 2"/>
              <p:cNvSpPr txBox="1"/>
              <p:nvPr/>
            </p:nvSpPr>
            <p:spPr>
              <a:xfrm>
                <a:off x="327871" y="870257"/>
                <a:ext cx="3019993" cy="68653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"/>
                          <m:ctrlPr>
                            <a:rPr lang="fr-FR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fr-FR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fr-FR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fr-FR" b="0" i="1" smtClean="0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  <m:sub>
                                    <m:r>
                                      <a:rPr lang="fr-FR" b="0" i="1" smtClean="0"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</m:sub>
                                </m:sSub>
                                <m:r>
                                  <m:rPr>
                                    <m:brk m:alnAt="7"/>
                                  </m:rPr>
                                  <a:rPr lang="fr-FR" b="0" i="1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fr-FR" b="0" i="1" smtClean="0">
                                    <a:latin typeface="Cambria Math" panose="02040503050406030204" pitchFamily="18" charset="0"/>
                                  </a:rPr>
                                  <m:t>𝑤</m:t>
                                </m:r>
                                <m:d>
                                  <m:dPr>
                                    <m:ctrlPr>
                                      <a:rPr lang="fr-FR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fr-FR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fr-FR" b="0" i="1" smtClean="0"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a:rPr lang="fr-FR" b="0" i="1" smtClean="0">
                                            <a:latin typeface="Cambria Math" panose="02040503050406030204" pitchFamily="18" charset="0"/>
                                          </a:rPr>
                                          <m:t>𝑡</m:t>
                                        </m:r>
                                        <m:r>
                                          <a:rPr lang="fr-FR" b="0" i="1" smtClean="0">
                                            <a:latin typeface="Cambria Math" panose="02040503050406030204" pitchFamily="18" charset="0"/>
                                          </a:rPr>
                                          <m:t>−1</m:t>
                                        </m:r>
                                      </m:sub>
                                    </m:sSub>
                                  </m:e>
                                </m:d>
                                <m:r>
                                  <m:rPr>
                                    <m:brk m:alnAt="7"/>
                                  </m:rPr>
                                  <a:rPr lang="fr-FR" b="0" i="1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fr-FR" b="0" i="1" smtClean="0">
                                    <a:latin typeface="Cambria Math" panose="02040503050406030204" pitchFamily="18" charset="0"/>
                                  </a:rPr>
                                  <m:t>𝑟</m:t>
                                </m:r>
                                <m:d>
                                  <m:dPr>
                                    <m:ctrlPr>
                                      <a:rPr lang="fr-FR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fr-FR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fr-FR" b="0" i="1" smtClean="0"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a:rPr lang="fr-FR" b="0" i="1" smtClean="0">
                                            <a:latin typeface="Cambria Math" panose="02040503050406030204" pitchFamily="18" charset="0"/>
                                          </a:rPr>
                                          <m:t>𝑡</m:t>
                                        </m:r>
                                        <m:r>
                                          <a:rPr lang="fr-FR" b="0" i="1" smtClean="0">
                                            <a:latin typeface="Cambria Math" panose="02040503050406030204" pitchFamily="18" charset="0"/>
                                          </a:rPr>
                                          <m:t>−1</m:t>
                                        </m:r>
                                      </m:sub>
                                    </m:sSub>
                                  </m:e>
                                </m:d>
                                <m:sSub>
                                  <m:sSubPr>
                                    <m:ctrlPr>
                                      <a:rPr lang="fr-FR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fr-FR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𝜀</m:t>
                                    </m:r>
                                  </m:e>
                                  <m:sub>
                                    <m:r>
                                      <a:rPr lang="fr-FR" b="0" i="1" smtClean="0"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fr-FR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fr-FR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fr-FR" b="0" i="1" smtClean="0"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</m:sub>
                                </m:sSub>
                                <m:r>
                                  <a:rPr lang="fr-FR" b="0" i="1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fr-FR" b="0" i="1" smtClean="0">
                                    <a:latin typeface="Cambria Math" panose="02040503050406030204" pitchFamily="18" charset="0"/>
                                  </a:rPr>
                                  <m:t>𝑓</m:t>
                                </m:r>
                                <m:d>
                                  <m:dPr>
                                    <m:ctrlPr>
                                      <a:rPr lang="fr-FR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fr-FR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fr-FR" b="0" i="1" smtClean="0"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a:rPr lang="fr-FR" b="0" i="1" smtClean="0">
                                            <a:latin typeface="Cambria Math" panose="02040503050406030204" pitchFamily="18" charset="0"/>
                                          </a:rPr>
                                          <m:t>𝑡</m:t>
                                        </m:r>
                                        <m:r>
                                          <a:rPr lang="fr-FR" b="0" i="1" smtClean="0">
                                            <a:latin typeface="Cambria Math" panose="02040503050406030204" pitchFamily="18" charset="0"/>
                                          </a:rPr>
                                          <m:t>−1</m:t>
                                        </m:r>
                                      </m:sub>
                                    </m:sSub>
                                  </m:e>
                                </m:d>
                                <m:r>
                                  <a:rPr lang="fr-FR" b="0" i="1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fr-FR" b="0" i="1" smtClean="0">
                                    <a:latin typeface="Cambria Math" panose="02040503050406030204" pitchFamily="18" charset="0"/>
                                  </a:rPr>
                                  <m:t>𝑔</m:t>
                                </m:r>
                                <m:d>
                                  <m:dPr>
                                    <m:ctrlPr>
                                      <a:rPr lang="fr-FR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fr-FR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fr-FR" b="0" i="1" smtClean="0"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a:rPr lang="fr-FR" b="0" i="1" smtClean="0">
                                            <a:latin typeface="Cambria Math" panose="02040503050406030204" pitchFamily="18" charset="0"/>
                                          </a:rPr>
                                          <m:t>𝑡</m:t>
                                        </m:r>
                                        <m:r>
                                          <a:rPr lang="fr-FR" b="0" i="1" smtClean="0">
                                            <a:latin typeface="Cambria Math" panose="02040503050406030204" pitchFamily="18" charset="0"/>
                                          </a:rPr>
                                          <m:t>−1</m:t>
                                        </m:r>
                                      </m:sub>
                                    </m:sSub>
                                  </m:e>
                                </m:d>
                                <m:sSub>
                                  <m:sSubPr>
                                    <m:ctrlPr>
                                      <a:rPr lang="fr-FR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fr-FR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𝜀</m:t>
                                    </m:r>
                                  </m:e>
                                  <m:sub>
                                    <m:r>
                                      <a:rPr lang="fr-FR" b="0" i="1" smtClean="0"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</m:sub>
                                </m:sSub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fr-FR" dirty="0"/>
              </a:p>
            </p:txBody>
          </p:sp>
        </mc:Choice>
        <mc:Fallback xmlns="">
          <p:sp>
            <p:nvSpPr>
              <p:cNvPr id="3" name="ZoneTexte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7871" y="870257"/>
                <a:ext cx="3019993" cy="686535"/>
              </a:xfrm>
              <a:prstGeom prst="rect">
                <a:avLst/>
              </a:prstGeom>
              <a:blipFill rotWithShape="0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ZoneTexte 3"/>
              <p:cNvSpPr txBox="1"/>
              <p:nvPr/>
            </p:nvSpPr>
            <p:spPr>
              <a:xfrm>
                <a:off x="3923928" y="848906"/>
                <a:ext cx="4680520" cy="7078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fr-FR" dirty="0" smtClean="0"/>
                  <a:t>On suppose que le bruit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fr-FR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𝜀</m:t>
                        </m:r>
                      </m:e>
                      <m:sub>
                        <m:r>
                          <a:rPr lang="fr-FR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fr-FR" dirty="0" smtClean="0"/>
                  <a:t> est normale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fr-FR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fr-FR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fr-FR" dirty="0" smtClean="0"/>
                  <a:t> est le vecteur d’état initial</a:t>
                </a:r>
                <a:endParaRPr lang="fr-FR" dirty="0"/>
              </a:p>
            </p:txBody>
          </p:sp>
        </mc:Choice>
        <mc:Fallback xmlns="">
          <p:sp>
            <p:nvSpPr>
              <p:cNvPr id="4" name="ZoneTexte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23928" y="848906"/>
                <a:ext cx="4680520" cy="707886"/>
              </a:xfrm>
              <a:prstGeom prst="rect">
                <a:avLst/>
              </a:prstGeom>
              <a:blipFill rotWithShape="0">
                <a:blip r:embed="rId3"/>
                <a:stretch>
                  <a:fillRect l="-1434" t="-3448" b="-15517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ZoneTexte 4"/>
              <p:cNvSpPr txBox="1"/>
              <p:nvPr/>
            </p:nvSpPr>
            <p:spPr>
              <a:xfrm>
                <a:off x="827584" y="1628800"/>
                <a:ext cx="7416824" cy="93262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𝑝</m:t>
                      </m:r>
                      <m:d>
                        <m:dPr>
                          <m:ctrlPr>
                            <a:rPr lang="fr-FR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type m:val="lin"/>
                              <m:ctrlPr>
                                <a:rPr lang="fr-FR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fr-FR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num>
                            <m:den>
                              <m:sSub>
                                <m:sSubPr>
                                  <m:ctrlPr>
                                    <a:rPr lang="fr-FR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fr-FR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fr-FR" b="0" i="1" smtClean="0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</m:den>
                          </m:f>
                        </m:e>
                      </m:d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∏"/>
                          <m:ctrlPr>
                            <a:rPr lang="fr-FR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fr-FR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  <m:d>
                            <m:dPr>
                              <m:ctrlPr>
                                <a:rPr lang="fr-FR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type m:val="lin"/>
                                  <m:ctrlPr>
                                    <a:rPr lang="fr-FR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b>
                                    <m:sSubPr>
                                      <m:ctrlPr>
                                        <a:rPr lang="fr-FR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fr-FR" b="0" i="1" smtClean="0"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  <m:sub>
                                      <m:r>
                                        <a:rPr lang="fr-FR" b="0" i="1" smtClean="0">
                                          <a:latin typeface="Cambria Math" panose="02040503050406030204" pitchFamily="18" charset="0"/>
                                        </a:rPr>
                                        <m:t>𝑡</m:t>
                                      </m:r>
                                    </m:sub>
                                  </m:sSub>
                                </m:num>
                                <m:den>
                                  <m:sSub>
                                    <m:sSubPr>
                                      <m:ctrlPr>
                                        <a:rPr lang="fr-FR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fr-FR" b="0" i="1" smtClean="0"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  <m:sub>
                                      <m:r>
                                        <a:rPr lang="fr-FR" b="0" i="1" smtClean="0">
                                          <a:latin typeface="Cambria Math" panose="02040503050406030204" pitchFamily="18" charset="0"/>
                                        </a:rPr>
                                        <m:t>𝑡</m:t>
                                      </m:r>
                                      <m:r>
                                        <a:rPr lang="fr-FR" b="0" i="1" smtClean="0">
                                          <a:latin typeface="Cambria Math" panose="02040503050406030204" pitchFamily="18" charset="0"/>
                                        </a:rPr>
                                        <m:t>−1</m:t>
                                      </m:r>
                                    </m:sub>
                                  </m:sSub>
                                  <m:r>
                                    <a:rPr lang="fr-FR" b="0" i="1" smtClean="0">
                                      <a:latin typeface="Cambria Math" panose="02040503050406030204" pitchFamily="18" charset="0"/>
                                    </a:rPr>
                                    <m:t>,…,</m:t>
                                  </m:r>
                                  <m:sSub>
                                    <m:sSubPr>
                                      <m:ctrlPr>
                                        <a:rPr lang="fr-FR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fr-FR" b="0" i="1" smtClean="0"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  <m:sub>
                                      <m:r>
                                        <a:rPr lang="fr-FR" b="0" i="1" smtClean="0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  <m:r>
                                    <a:rPr lang="fr-FR" b="0" i="1" smtClean="0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sSub>
                                    <m:sSubPr>
                                      <m:ctrlPr>
                                        <a:rPr lang="fr-FR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fr-FR" b="0" i="1" smtClean="0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fr-FR" b="0" i="1" smtClean="0"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sub>
                                  </m:sSub>
                                </m:den>
                              </m:f>
                            </m:e>
                          </m:d>
                        </m:e>
                      </m:nary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∏"/>
                          <m:ctrlPr>
                            <a:rPr lang="fr-FR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fr-FR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r>
                            <a:rPr lang="fr-FR" i="1">
                              <a:latin typeface="Cambria Math" panose="02040503050406030204" pitchFamily="18" charset="0"/>
                            </a:rPr>
                            <m:t>𝑝</m:t>
                          </m:r>
                          <m:d>
                            <m:dPr>
                              <m:ctrlPr>
                                <a:rPr lang="fr-FR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type m:val="lin"/>
                                  <m:ctrlPr>
                                    <a:rPr lang="fr-FR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b>
                                    <m:sSubPr>
                                      <m:ctrlPr>
                                        <a:rPr lang="fr-FR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fr-FR" i="1"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  <m:sub>
                                      <m:r>
                                        <a:rPr lang="fr-FR" i="1">
                                          <a:latin typeface="Cambria Math" panose="02040503050406030204" pitchFamily="18" charset="0"/>
                                        </a:rPr>
                                        <m:t>𝑡</m:t>
                                      </m:r>
                                    </m:sub>
                                  </m:sSub>
                                </m:num>
                                <m:den>
                                  <m:sSub>
                                    <m:sSubPr>
                                      <m:ctrlPr>
                                        <a:rPr lang="fr-FR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fr-FR" b="0" i="1" smtClean="0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fr-FR" i="1">
                                          <a:latin typeface="Cambria Math" panose="02040503050406030204" pitchFamily="18" charset="0"/>
                                        </a:rPr>
                                        <m:t>𝑡</m:t>
                                      </m:r>
                                      <m:r>
                                        <a:rPr lang="fr-FR" i="1">
                                          <a:latin typeface="Cambria Math" panose="02040503050406030204" pitchFamily="18" charset="0"/>
                                        </a:rPr>
                                        <m:t>−1</m:t>
                                      </m:r>
                                    </m:sub>
                                  </m:sSub>
                                </m:den>
                              </m:f>
                            </m:e>
                          </m:d>
                        </m:e>
                      </m:nary>
                    </m:oMath>
                  </m:oMathPara>
                </a14:m>
                <a:endParaRPr lang="fr-FR" dirty="0"/>
              </a:p>
            </p:txBody>
          </p:sp>
        </mc:Choice>
        <mc:Fallback xmlns="">
          <p:sp>
            <p:nvSpPr>
              <p:cNvPr id="5" name="ZoneTexte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7584" y="1628800"/>
                <a:ext cx="7416824" cy="932628"/>
              </a:xfrm>
              <a:prstGeom prst="rect">
                <a:avLst/>
              </a:prstGeom>
              <a:blipFill rotWithShape="0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ZoneTexte 5"/>
              <p:cNvSpPr txBox="1"/>
              <p:nvPr/>
            </p:nvSpPr>
            <p:spPr>
              <a:xfrm>
                <a:off x="755576" y="2740858"/>
                <a:ext cx="835292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fr-FR" dirty="0" smtClean="0"/>
                  <a:t>Si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fr-FR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𝜀</m:t>
                        </m:r>
                      </m:e>
                      <m:sub>
                        <m:r>
                          <a:rPr lang="fr-FR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fr-FR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  <m:r>
                      <a:rPr lang="fr-F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𝑁</m:t>
                    </m:r>
                    <m:d>
                      <m:dPr>
                        <m:ctrlPr>
                          <a:rPr lang="fr-F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fr-F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0,</m:t>
                        </m:r>
                        <m:r>
                          <a:rPr lang="fr-F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𝜎</m:t>
                        </m:r>
                      </m:e>
                    </m:d>
                  </m:oMath>
                </a14:m>
                <a:r>
                  <a:rPr lang="fr-FR" dirty="0" smtClean="0"/>
                  <a:t> alors </a:t>
                </a:r>
                <a14:m>
                  <m:oMath xmlns:m="http://schemas.openxmlformats.org/officeDocument/2006/math">
                    <m:f>
                      <m:fPr>
                        <m:type m:val="lin"/>
                        <m:ctrlPr>
                          <a:rPr lang="fr-FR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fr-FR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fr-FR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fr-FR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fr-FR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fr-FR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fr-FR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fr-FR" b="0" i="1" smtClean="0">
                                <a:latin typeface="Cambria Math" panose="02040503050406030204" pitchFamily="18" charset="0"/>
                              </a:rPr>
                              <m:t>−1</m:t>
                            </m:r>
                          </m:sub>
                        </m:sSub>
                        <m:r>
                          <a:rPr lang="fr-FR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→</m:t>
                        </m:r>
                        <m:r>
                          <a:rPr lang="fr-F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𝑁</m:t>
                        </m:r>
                        <m:d>
                          <m:dPr>
                            <m:ctrlPr>
                              <a:rPr lang="fr-FR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fr-FR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𝑤</m:t>
                            </m:r>
                            <m:d>
                              <m:dPr>
                                <m:ctrlPr>
                                  <a:rPr lang="fr-FR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fr-FR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fr-FR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fr-FR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𝑡</m:t>
                                    </m:r>
                                    <m:r>
                                      <a:rPr lang="fr-FR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−1</m:t>
                                    </m:r>
                                  </m:sub>
                                </m:sSub>
                              </m:e>
                            </m:d>
                            <m:r>
                              <a:rPr lang="fr-FR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, </m:t>
                            </m:r>
                            <m:d>
                              <m:dPr>
                                <m:begChr m:val="|"/>
                                <m:endChr m:val="|"/>
                                <m:ctrlPr>
                                  <a:rPr lang="fr-FR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fr-FR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𝑟</m:t>
                                </m:r>
                                <m:d>
                                  <m:dPr>
                                    <m:ctrlPr>
                                      <a:rPr lang="fr-FR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fr-FR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fr-FR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a:rPr lang="fr-FR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𝑡</m:t>
                                        </m:r>
                                        <m:r>
                                          <a:rPr lang="fr-FR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−1</m:t>
                                        </m:r>
                                      </m:sub>
                                    </m:sSub>
                                  </m:e>
                                </m:d>
                              </m:e>
                            </m:d>
                            <m:r>
                              <a:rPr lang="fr-FR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𝜎</m:t>
                            </m:r>
                          </m:e>
                        </m:d>
                      </m:den>
                    </m:f>
                  </m:oMath>
                </a14:m>
                <a:endParaRPr lang="fr-FR" dirty="0"/>
              </a:p>
            </p:txBody>
          </p:sp>
        </mc:Choice>
        <mc:Fallback xmlns="">
          <p:sp>
            <p:nvSpPr>
              <p:cNvPr id="6" name="ZoneTexte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5576" y="2740858"/>
                <a:ext cx="8352928" cy="400110"/>
              </a:xfrm>
              <a:prstGeom prst="rect">
                <a:avLst/>
              </a:prstGeom>
              <a:blipFill rotWithShape="0">
                <a:blip r:embed="rId5"/>
                <a:stretch>
                  <a:fillRect l="-803" t="-115385" b="-184615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ZoneTexte 6"/>
              <p:cNvSpPr txBox="1"/>
              <p:nvPr/>
            </p:nvSpPr>
            <p:spPr>
              <a:xfrm>
                <a:off x="43880" y="3429000"/>
                <a:ext cx="9064624" cy="183050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𝑝</m:t>
                      </m:r>
                      <m:d>
                        <m:dPr>
                          <m:ctrlPr>
                            <a:rPr lang="fr-FR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type m:val="lin"/>
                              <m:ctrlPr>
                                <a:rPr lang="fr-FR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fr-FR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num>
                            <m:den>
                              <m:sSub>
                                <m:sSubPr>
                                  <m:ctrlPr>
                                    <a:rPr lang="fr-FR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fr-FR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fr-FR" b="0" i="1" smtClean="0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</m:den>
                          </m:f>
                        </m:e>
                      </m:d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∏"/>
                          <m:ctrlPr>
                            <a:rPr lang="fr-FR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fr-FR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f>
                            <m:fPr>
                              <m:ctrlPr>
                                <a:rPr lang="fr-FR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fr-FR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ad>
                                <m:radPr>
                                  <m:degHide m:val="on"/>
                                  <m:ctrlPr>
                                    <a:rPr lang="fr-FR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radPr>
                                <m:deg/>
                                <m:e>
                                  <m:r>
                                    <a:rPr lang="fr-FR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  <m:r>
                                    <a:rPr lang="fr-FR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𝜋</m:t>
                                  </m:r>
                                </m:e>
                              </m:rad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fr-FR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fr-FR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𝑟</m:t>
                                  </m:r>
                                  <m:d>
                                    <m:dPr>
                                      <m:ctrlPr>
                                        <a:rPr lang="fr-FR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fr-FR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fr-FR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  <m:sub>
                                          <m:r>
                                            <a:rPr lang="fr-FR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𝑡</m:t>
                                          </m:r>
                                          <m:r>
                                            <a:rPr lang="fr-FR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−1</m:t>
                                          </m:r>
                                        </m:sub>
                                      </m:sSub>
                                    </m:e>
                                  </m:d>
                                </m:e>
                              </m:d>
                              <m:r>
                                <a:rPr lang="fr-FR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𝜎</m:t>
                              </m:r>
                            </m:den>
                          </m:f>
                          <m:sSup>
                            <m:sSupPr>
                              <m:ctrlPr>
                                <a:rPr lang="fr-FR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fr-FR" b="0" i="1" smtClean="0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fr-FR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f>
                                <m:fPr>
                                  <m:ctrlPr>
                                    <a:rPr lang="fr-FR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bSup>
                                    <m:sSubSupPr>
                                      <m:ctrlPr>
                                        <a:rPr lang="fr-FR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lang="fr-FR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𝜀</m:t>
                                      </m:r>
                                    </m:e>
                                    <m:sub>
                                      <m:r>
                                        <a:rPr lang="fr-FR" b="0" i="1" smtClean="0">
                                          <a:latin typeface="Cambria Math" panose="02040503050406030204" pitchFamily="18" charset="0"/>
                                        </a:rPr>
                                        <m:t>𝑡</m:t>
                                      </m:r>
                                    </m:sub>
                                    <m:sup>
                                      <m:r>
                                        <a:rPr lang="fr-FR" b="0" i="1" smtClean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bSup>
                                </m:num>
                                <m:den>
                                  <m:r>
                                    <a:rPr lang="fr-FR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  <m:sSup>
                                    <m:sSupPr>
                                      <m:ctrlPr>
                                        <a:rPr lang="fr-FR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fr-FR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𝜎</m:t>
                                      </m:r>
                                    </m:e>
                                    <m:sup>
                                      <m:r>
                                        <a:rPr lang="fr-FR" b="0" i="1" smtClean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</m:den>
                              </m:f>
                            </m:sup>
                          </m:sSup>
                        </m:e>
                      </m:nary>
                    </m:oMath>
                  </m:oMathPara>
                </a14:m>
                <a:endParaRPr lang="fr-FR" b="0" i="1" dirty="0" smtClean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fr-FR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fr-FR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fr-FR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fr-FR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𝜋</m:t>
                              </m:r>
                              <m:sSup>
                                <m:sSupPr>
                                  <m:ctrlPr>
                                    <a:rPr lang="fr-FR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fr-FR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𝜎</m:t>
                                  </m:r>
                                </m:e>
                                <m:sup>
                                  <m:r>
                                    <a:rPr lang="fr-FR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d>
                        </m:e>
                        <m:sup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/2</m:t>
                          </m:r>
                        </m:sup>
                      </m:sSup>
                      <m:nary>
                        <m:naryPr>
                          <m:chr m:val="∏"/>
                          <m:ctrlPr>
                            <a:rPr lang="fr-FR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fr-FR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f>
                            <m:fPr>
                              <m:ctrlPr>
                                <a:rPr lang="fr-FR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fr-FR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fr-FR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fr-FR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𝑟</m:t>
                                  </m:r>
                                  <m:d>
                                    <m:dPr>
                                      <m:ctrlPr>
                                        <a:rPr lang="fr-FR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fr-FR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fr-FR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  <m:sub>
                                          <m:r>
                                            <a:rPr lang="fr-FR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𝑡</m:t>
                                          </m:r>
                                          <m:r>
                                            <a:rPr lang="fr-FR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−1</m:t>
                                          </m:r>
                                        </m:sub>
                                      </m:sSub>
                                    </m:e>
                                  </m:d>
                                </m:e>
                              </m:d>
                            </m:den>
                          </m:f>
                        </m:e>
                      </m:nary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𝑒𝑥𝑝</m:t>
                      </m:r>
                      <m:d>
                        <m:dPr>
                          <m:ctrlPr>
                            <a:rPr lang="fr-FR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nary>
                            <m:naryPr>
                              <m:chr m:val="∑"/>
                              <m:ctrlPr>
                                <a:rPr lang="fr-FR" b="0" i="1" smtClean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fr-FR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fr-FR" b="0" i="1" smtClean="0"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fr-FR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p>
                            <m:e>
                              <m:r>
                                <a:rPr lang="fr-FR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f>
                                <m:fPr>
                                  <m:ctrlPr>
                                    <a:rPr lang="fr-FR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bSup>
                                    <m:sSubSupPr>
                                      <m:ctrlPr>
                                        <a:rPr lang="fr-FR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lang="fr-FR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𝜀</m:t>
                                      </m:r>
                                    </m:e>
                                    <m:sub>
                                      <m:r>
                                        <a:rPr lang="fr-FR" b="0" i="1" smtClean="0">
                                          <a:latin typeface="Cambria Math" panose="02040503050406030204" pitchFamily="18" charset="0"/>
                                        </a:rPr>
                                        <m:t>𝑡</m:t>
                                      </m:r>
                                    </m:sub>
                                    <m:sup>
                                      <m:r>
                                        <a:rPr lang="fr-FR" b="0" i="1" smtClean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bSup>
                                </m:num>
                                <m:den>
                                  <m:r>
                                    <a:rPr lang="fr-FR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  <m:sSup>
                                    <m:sSupPr>
                                      <m:ctrlPr>
                                        <a:rPr lang="fr-FR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fr-FR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𝜎</m:t>
                                      </m:r>
                                    </m:e>
                                    <m:sup>
                                      <m:r>
                                        <a:rPr lang="fr-FR" b="0" i="1" smtClean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</m:den>
                              </m:f>
                            </m:e>
                          </m:nary>
                        </m:e>
                      </m:d>
                    </m:oMath>
                  </m:oMathPara>
                </a14:m>
                <a:endParaRPr lang="fr-FR" dirty="0"/>
              </a:p>
            </p:txBody>
          </p:sp>
        </mc:Choice>
        <mc:Fallback xmlns="">
          <p:sp>
            <p:nvSpPr>
              <p:cNvPr id="7" name="ZoneTexte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880" y="3429000"/>
                <a:ext cx="9064624" cy="1830501"/>
              </a:xfrm>
              <a:prstGeom prst="rect">
                <a:avLst/>
              </a:prstGeom>
              <a:blipFill rotWithShape="0"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ZoneTexte 7"/>
              <p:cNvSpPr txBox="1"/>
              <p:nvPr/>
            </p:nvSpPr>
            <p:spPr>
              <a:xfrm>
                <a:off x="327871" y="5589240"/>
                <a:ext cx="7916537" cy="59958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fr-FR" dirty="0" smtClean="0"/>
                  <a:t>On a utilisé le fait que 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fr-FR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𝜀</m:t>
                        </m:r>
                      </m:e>
                      <m:sub>
                        <m:r>
                          <a:rPr lang="fr-FR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fr-FR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fr-FR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fr-FR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fr-FR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fr-FR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  <m:r>
                          <a:rPr lang="fr-FR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fr-FR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  <m:d>
                          <m:dPr>
                            <m:ctrlPr>
                              <a:rPr lang="fr-FR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fr-FR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fr-FR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fr-FR" b="0" i="1" smtClean="0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  <m:r>
                                  <a:rPr lang="fr-FR" b="0" i="1" smtClean="0">
                                    <a:latin typeface="Cambria Math" panose="02040503050406030204" pitchFamily="18" charset="0"/>
                                  </a:rPr>
                                  <m:t>−1</m:t>
                                </m:r>
                              </m:sub>
                            </m:sSub>
                          </m:e>
                        </m:d>
                      </m:num>
                      <m:den>
                        <m:r>
                          <a:rPr lang="fr-FR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  <m:d>
                          <m:dPr>
                            <m:ctrlPr>
                              <a:rPr lang="fr-FR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fr-FR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fr-FR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fr-FR" b="0" i="1" smtClean="0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  <m:r>
                                  <a:rPr lang="fr-FR" b="0" i="1" smtClean="0">
                                    <a:latin typeface="Cambria Math" panose="02040503050406030204" pitchFamily="18" charset="0"/>
                                  </a:rPr>
                                  <m:t>−1</m:t>
                                </m:r>
                              </m:sub>
                            </m:sSub>
                          </m:e>
                        </m:d>
                      </m:den>
                    </m:f>
                  </m:oMath>
                </a14:m>
                <a:endParaRPr lang="fr-FR" dirty="0"/>
              </a:p>
            </p:txBody>
          </p:sp>
        </mc:Choice>
        <mc:Fallback xmlns="">
          <p:sp>
            <p:nvSpPr>
              <p:cNvPr id="8" name="ZoneTexte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7871" y="5589240"/>
                <a:ext cx="7916537" cy="599588"/>
              </a:xfrm>
              <a:prstGeom prst="rect">
                <a:avLst/>
              </a:prstGeom>
              <a:blipFill rotWithShape="0">
                <a:blip r:embed="rId7"/>
                <a:stretch>
                  <a:fillRect l="-847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220715040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ZoneTexte 1"/>
              <p:cNvSpPr txBox="1"/>
              <p:nvPr/>
            </p:nvSpPr>
            <p:spPr>
              <a:xfrm>
                <a:off x="395536" y="332656"/>
                <a:ext cx="8136904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fr-FR" dirty="0" smtClean="0"/>
                  <a:t>Le logarithme de la fonction vraisemblance : </a:t>
                </a:r>
                <a14:m>
                  <m:oMath xmlns:m="http://schemas.openxmlformats.org/officeDocument/2006/math">
                    <m:r>
                      <a:rPr lang="fr-FR" b="0" i="1" smtClean="0">
                        <a:latin typeface="Cambria Math" panose="02040503050406030204" pitchFamily="18" charset="0"/>
                      </a:rPr>
                      <m:t>𝐿𝑛</m:t>
                    </m:r>
                    <m:d>
                      <m:dPr>
                        <m:ctrlPr>
                          <a:rPr lang="fr-FR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fr-F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  <m:r>
                          <a:rPr lang="fr-F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fr-FR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fr-FR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fr-FR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r>
                          <a:rPr lang="fr-F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</m:t>
                        </m:r>
                        <m:sSup>
                          <m:sSupPr>
                            <m:ctrlPr>
                              <a:rPr lang="fr-FR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fr-FR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𝜎</m:t>
                            </m:r>
                          </m:e>
                          <m:sup>
                            <m:r>
                              <a:rPr lang="fr-FR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</m:oMath>
                </a14:m>
                <a:endParaRPr lang="fr-FR" i="1" dirty="0">
                  <a:latin typeface="+mj-lt"/>
                </a:endParaRPr>
              </a:p>
            </p:txBody>
          </p:sp>
        </mc:Choice>
        <mc:Fallback xmlns="">
          <p:sp>
            <p:nvSpPr>
              <p:cNvPr id="2" name="ZoneTexte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5536" y="332656"/>
                <a:ext cx="8136904" cy="400110"/>
              </a:xfrm>
              <a:prstGeom prst="rect">
                <a:avLst/>
              </a:prstGeom>
              <a:blipFill rotWithShape="0">
                <a:blip r:embed="rId2"/>
                <a:stretch>
                  <a:fillRect l="-824" t="-7692" b="-29231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ZoneTexte 2"/>
              <p:cNvSpPr txBox="1"/>
              <p:nvPr/>
            </p:nvSpPr>
            <p:spPr>
              <a:xfrm>
                <a:off x="395536" y="1488260"/>
                <a:ext cx="8640960" cy="93262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𝐿𝑛𝐿</m:t>
                      </m:r>
                      <m:d>
                        <m:dPr>
                          <m:ctrlPr>
                            <a:rPr lang="fr-FR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fr-F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  <m:r>
                            <a:rPr lang="fr-F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fr-FR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fr-FR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r>
                            <a:rPr lang="fr-F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sSup>
                            <m:sSupPr>
                              <m:ctrlPr>
                                <a:rPr lang="fr-FR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fr-FR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𝜎</m:t>
                              </m:r>
                            </m:e>
                            <m:sup>
                              <m:r>
                                <a:rPr lang="fr-FR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d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=−</m:t>
                      </m:r>
                      <m:f>
                        <m:fPr>
                          <m:ctrlPr>
                            <a:rPr lang="fr-FR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num>
                        <m:den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𝐿𝑛</m:t>
                      </m:r>
                      <m:d>
                        <m:dPr>
                          <m:ctrlPr>
                            <a:rPr lang="fr-FR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fr-F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𝜋</m:t>
                          </m:r>
                          <m:sSup>
                            <m:sSupPr>
                              <m:ctrlPr>
                                <a:rPr lang="fr-FR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fr-FR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𝜎</m:t>
                              </m:r>
                            </m:e>
                            <m:sup>
                              <m:r>
                                <a:rPr lang="fr-FR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d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−</m:t>
                      </m:r>
                      <m:nary>
                        <m:naryPr>
                          <m:chr m:val="∑"/>
                          <m:ctrlPr>
                            <a:rPr lang="fr-FR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fr-FR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m:rPr>
                              <m:brk m:alnAt="23"/>
                            </m:rPr>
                            <a:rPr lang="fr-FR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𝐿𝑛</m:t>
                          </m:r>
                          <m:d>
                            <m:dPr>
                              <m:ctrlPr>
                                <a:rPr lang="fr-FR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fr-FR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fr-FR" b="0" i="1" smtClean="0">
                                      <a:latin typeface="Cambria Math" panose="02040503050406030204" pitchFamily="18" charset="0"/>
                                    </a:rPr>
                                    <m:t>𝑟</m:t>
                                  </m:r>
                                  <m:d>
                                    <m:dPr>
                                      <m:ctrlPr>
                                        <a:rPr lang="fr-FR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fr-FR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fr-FR" b="0" i="1" smtClean="0"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  <m:sub>
                                          <m:r>
                                            <a:rPr lang="fr-FR" b="0" i="1" smtClean="0">
                                              <a:latin typeface="Cambria Math" panose="02040503050406030204" pitchFamily="18" charset="0"/>
                                            </a:rPr>
                                            <m:t>𝑡</m:t>
                                          </m:r>
                                          <m:r>
                                            <a:rPr lang="fr-FR" b="0" i="1" smtClean="0">
                                              <a:latin typeface="Cambria Math" panose="02040503050406030204" pitchFamily="18" charset="0"/>
                                            </a:rPr>
                                            <m:t>−1</m:t>
                                          </m:r>
                                        </m:sub>
                                      </m:sSub>
                                    </m:e>
                                  </m:d>
                                </m:e>
                              </m:d>
                            </m:e>
                          </m:d>
                        </m:e>
                      </m:nary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fr-FR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lang="fr-FR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fr-FR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m:rPr>
                              <m:brk m:alnAt="23"/>
                            </m:rPr>
                            <a:rPr lang="fr-FR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f>
                            <m:fPr>
                              <m:ctrlPr>
                                <a:rPr lang="fr-FR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bSup>
                                <m:sSubSupPr>
                                  <m:ctrlPr>
                                    <a:rPr lang="fr-FR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fr-FR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𝜀</m:t>
                                  </m:r>
                                </m:e>
                                <m:sub>
                                  <m:r>
                                    <a:rPr lang="fr-FR" b="0" i="1" smtClean="0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sub>
                                <m:sup>
                                  <m:r>
                                    <a:rPr lang="fr-FR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bSup>
                            </m:num>
                            <m:den>
                              <m:sSup>
                                <m:sSupPr>
                                  <m:ctrlPr>
                                    <a:rPr lang="fr-FR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fr-FR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𝜎</m:t>
                                  </m:r>
                                </m:e>
                                <m:sup>
                                  <m:r>
                                    <a:rPr lang="fr-FR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den>
                          </m:f>
                        </m:e>
                      </m:nary>
                    </m:oMath>
                  </m:oMathPara>
                </a14:m>
                <a:endParaRPr lang="fr-FR" dirty="0"/>
              </a:p>
            </p:txBody>
          </p:sp>
        </mc:Choice>
        <mc:Fallback xmlns="">
          <p:sp>
            <p:nvSpPr>
              <p:cNvPr id="3" name="ZoneTexte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5536" y="1488260"/>
                <a:ext cx="8640960" cy="932628"/>
              </a:xfrm>
              <a:prstGeom prst="rect">
                <a:avLst/>
              </a:prstGeom>
              <a:blipFill rotWithShape="0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ZoneTexte 3"/>
              <p:cNvSpPr txBox="1"/>
              <p:nvPr/>
            </p:nvSpPr>
            <p:spPr>
              <a:xfrm>
                <a:off x="1776647" y="2509259"/>
                <a:ext cx="5603714" cy="84029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fr-FR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FR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𝐿𝑛𝐿</m:t>
                          </m:r>
                          <m:d>
                            <m:dPr>
                              <m:ctrlPr>
                                <a:rPr lang="fr-FR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fr-FR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𝜃</m:t>
                              </m:r>
                              <m:r>
                                <a:rPr lang="fr-FR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lang="fr-FR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fr-FR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fr-FR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  <m:r>
                                <a:rPr lang="fr-FR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,</m:t>
                              </m:r>
                              <m:sSup>
                                <m:sSupPr>
                                  <m:ctrlPr>
                                    <a:rPr lang="fr-FR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fr-FR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𝜎</m:t>
                                  </m:r>
                                </m:e>
                                <m:sup>
                                  <m:r>
                                    <a:rPr lang="fr-FR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d>
                        </m:num>
                        <m:den>
                          <m:r>
                            <a:rPr lang="fr-FR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fr-FR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𝜎</m:t>
                          </m:r>
                        </m:den>
                      </m:f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=−</m:t>
                      </m:r>
                      <m:f>
                        <m:fPr>
                          <m:ctrlPr>
                            <a:rPr lang="fr-FR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num>
                        <m:den>
                          <m:r>
                            <a:rPr lang="fr-F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𝜎</m:t>
                          </m:r>
                        </m:den>
                      </m:f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+</m:t>
                      </m:r>
                      <m:nary>
                        <m:naryPr>
                          <m:chr m:val="∑"/>
                          <m:ctrlPr>
                            <a:rPr lang="fr-FR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fr-FR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m:rPr>
                              <m:brk m:alnAt="23"/>
                            </m:rPr>
                            <a:rPr lang="fr-FR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f>
                            <m:fPr>
                              <m:ctrlPr>
                                <a:rPr lang="fr-FR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bSup>
                                <m:sSubSupPr>
                                  <m:ctrlPr>
                                    <a:rPr lang="fr-FR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fr-FR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𝜀</m:t>
                                  </m:r>
                                </m:e>
                                <m:sub>
                                  <m:r>
                                    <a:rPr lang="fr-FR" b="0" i="1" smtClean="0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sub>
                                <m:sup>
                                  <m:r>
                                    <a:rPr lang="fr-FR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bSup>
                            </m:num>
                            <m:den>
                              <m:sSup>
                                <m:sSupPr>
                                  <m:ctrlPr>
                                    <a:rPr lang="fr-FR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fr-FR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𝜎</m:t>
                                  </m:r>
                                </m:e>
                                <m:sup>
                                  <m:r>
                                    <a:rPr lang="fr-FR" b="0" i="1" smtClean="0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p>
                              </m:sSup>
                            </m:den>
                          </m:f>
                        </m:e>
                      </m:nary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=0</m:t>
                      </m:r>
                      <m:r>
                        <a:rPr lang="fr-F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→</m:t>
                      </m:r>
                      <m:sSup>
                        <m:sSupPr>
                          <m:ctrlPr>
                            <a:rPr lang="fr-F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acc>
                            <m:accPr>
                              <m:chr m:val="̂"/>
                              <m:ctrlPr>
                                <a:rPr lang="fr-FR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fr-FR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𝜎</m:t>
                              </m:r>
                            </m:e>
                          </m:acc>
                        </m:e>
                        <m:sup>
                          <m:r>
                            <a:rPr lang="fr-F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fr-F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fr-F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fr-F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</m:t>
                          </m:r>
                          <m:r>
                            <a:rPr lang="fr-F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=</m:t>
                          </m:r>
                          <m:r>
                            <m:rPr>
                              <m:brk m:alnAt="23"/>
                            </m:rPr>
                            <a:rPr lang="fr-F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fr-F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f>
                            <m:fPr>
                              <m:ctrlPr>
                                <a:rPr lang="fr-FR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sSubSup>
                                <m:sSubSupPr>
                                  <m:ctrlPr>
                                    <a:rPr lang="fr-FR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fr-FR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𝜀</m:t>
                                  </m:r>
                                </m:e>
                                <m:sub>
                                  <m:r>
                                    <a:rPr lang="fr-FR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𝑡</m:t>
                                  </m:r>
                                </m:sub>
                                <m:sup>
                                  <m:r>
                                    <a:rPr lang="fr-FR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bSup>
                            </m:num>
                            <m:den>
                              <m:r>
                                <a:rPr lang="fr-FR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𝑛</m:t>
                              </m:r>
                            </m:den>
                          </m:f>
                        </m:e>
                      </m:nary>
                    </m:oMath>
                  </m:oMathPara>
                </a14:m>
                <a:endParaRPr lang="fr-FR" dirty="0"/>
              </a:p>
            </p:txBody>
          </p:sp>
        </mc:Choice>
        <mc:Fallback xmlns="">
          <p:sp>
            <p:nvSpPr>
              <p:cNvPr id="4" name="ZoneTexte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76647" y="2509259"/>
                <a:ext cx="5603714" cy="840295"/>
              </a:xfrm>
              <a:prstGeom prst="rect">
                <a:avLst/>
              </a:prstGeom>
              <a:blipFill rotWithShape="0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ZoneTexte 4"/>
              <p:cNvSpPr txBox="1"/>
              <p:nvPr/>
            </p:nvSpPr>
            <p:spPr>
              <a:xfrm>
                <a:off x="611560" y="1012666"/>
                <a:ext cx="7704856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fr-FR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𝜃</m:t>
                    </m:r>
                  </m:oMath>
                </a14:m>
                <a:r>
                  <a:rPr lang="fr-FR" dirty="0" smtClean="0"/>
                  <a:t> est le vecteur des paramètres du modèle espace d’état</a:t>
                </a:r>
                <a:endParaRPr lang="fr-FR" dirty="0"/>
              </a:p>
            </p:txBody>
          </p:sp>
        </mc:Choice>
        <mc:Fallback xmlns="">
          <p:sp>
            <p:nvSpPr>
              <p:cNvPr id="5" name="ZoneTexte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1560" y="1012666"/>
                <a:ext cx="7704856" cy="400110"/>
              </a:xfrm>
              <a:prstGeom prst="rect">
                <a:avLst/>
              </a:prstGeom>
              <a:blipFill rotWithShape="0">
                <a:blip r:embed="rId5"/>
                <a:stretch>
                  <a:fillRect t="-6061" b="-27273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ZoneTexte 5"/>
              <p:cNvSpPr txBox="1"/>
              <p:nvPr/>
            </p:nvSpPr>
            <p:spPr>
              <a:xfrm>
                <a:off x="179512" y="3284984"/>
                <a:ext cx="8640960" cy="93262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𝐿𝑛𝐿</m:t>
                      </m:r>
                      <m:d>
                        <m:dPr>
                          <m:ctrlPr>
                            <a:rPr lang="fr-FR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fr-F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  <m:r>
                            <a:rPr lang="fr-F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fr-FR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fr-FR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r>
                            <a:rPr lang="fr-F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sSup>
                            <m:sSupPr>
                              <m:ctrlPr>
                                <a:rPr lang="fr-FR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acc>
                                <m:accPr>
                                  <m:chr m:val="̂"/>
                                  <m:ctrlPr>
                                    <a:rPr lang="fr-FR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fr-FR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𝜎</m:t>
                                  </m:r>
                                </m:e>
                              </m:acc>
                            </m:e>
                            <m:sup>
                              <m:r>
                                <a:rPr lang="fr-FR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d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=−</m:t>
                      </m:r>
                      <m:f>
                        <m:fPr>
                          <m:ctrlPr>
                            <a:rPr lang="fr-FR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num>
                        <m:den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𝐿𝑛</m:t>
                      </m:r>
                      <m:d>
                        <m:dPr>
                          <m:ctrlPr>
                            <a:rPr lang="fr-FR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fr-F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𝜋</m:t>
                          </m:r>
                          <m:sSup>
                            <m:sSupPr>
                              <m:ctrlPr>
                                <a:rPr lang="fr-FR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acc>
                                <m:accPr>
                                  <m:chr m:val="̂"/>
                                  <m:ctrlPr>
                                    <a:rPr lang="fr-FR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fr-FR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𝜎</m:t>
                                  </m:r>
                                </m:e>
                              </m:acc>
                            </m:e>
                            <m:sup>
                              <m:r>
                                <a:rPr lang="fr-FR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d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−</m:t>
                      </m:r>
                      <m:nary>
                        <m:naryPr>
                          <m:chr m:val="∑"/>
                          <m:ctrlPr>
                            <a:rPr lang="fr-FR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fr-FR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m:rPr>
                              <m:brk m:alnAt="23"/>
                            </m:rPr>
                            <a:rPr lang="fr-FR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𝐿𝑛</m:t>
                          </m:r>
                          <m:d>
                            <m:dPr>
                              <m:ctrlPr>
                                <a:rPr lang="fr-FR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fr-FR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fr-FR" b="0" i="1" smtClean="0">
                                      <a:latin typeface="Cambria Math" panose="02040503050406030204" pitchFamily="18" charset="0"/>
                                    </a:rPr>
                                    <m:t>𝑟</m:t>
                                  </m:r>
                                  <m:d>
                                    <m:dPr>
                                      <m:ctrlPr>
                                        <a:rPr lang="fr-FR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fr-FR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fr-FR" b="0" i="1" smtClean="0"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  <m:sub>
                                          <m:r>
                                            <a:rPr lang="fr-FR" b="0" i="1" smtClean="0">
                                              <a:latin typeface="Cambria Math" panose="02040503050406030204" pitchFamily="18" charset="0"/>
                                            </a:rPr>
                                            <m:t>𝑡</m:t>
                                          </m:r>
                                          <m:r>
                                            <a:rPr lang="fr-FR" b="0" i="1" smtClean="0">
                                              <a:latin typeface="Cambria Math" panose="02040503050406030204" pitchFamily="18" charset="0"/>
                                            </a:rPr>
                                            <m:t>−1</m:t>
                                          </m:r>
                                        </m:sub>
                                      </m:sSub>
                                    </m:e>
                                  </m:d>
                                </m:e>
                              </m:d>
                            </m:e>
                          </m:d>
                        </m:e>
                      </m:nary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fr-FR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lang="fr-FR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fr-FR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m:rPr>
                              <m:brk m:alnAt="23"/>
                            </m:rPr>
                            <a:rPr lang="fr-FR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f>
                            <m:fPr>
                              <m:ctrlPr>
                                <a:rPr lang="fr-FR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bSup>
                                <m:sSubSupPr>
                                  <m:ctrlPr>
                                    <a:rPr lang="fr-FR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fr-FR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𝜀</m:t>
                                  </m:r>
                                </m:e>
                                <m:sub>
                                  <m:r>
                                    <a:rPr lang="fr-FR" b="0" i="1" smtClean="0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sub>
                                <m:sup>
                                  <m:r>
                                    <a:rPr lang="fr-FR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bSup>
                            </m:num>
                            <m:den>
                              <m:sSup>
                                <m:sSupPr>
                                  <m:ctrlPr>
                                    <a:rPr lang="fr-FR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acc>
                                    <m:accPr>
                                      <m:chr m:val="̂"/>
                                      <m:ctrlPr>
                                        <a:rPr lang="fr-FR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fr-FR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𝜎</m:t>
                                      </m:r>
                                    </m:e>
                                  </m:acc>
                                </m:e>
                                <m:sup>
                                  <m:r>
                                    <a:rPr lang="fr-FR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den>
                          </m:f>
                        </m:e>
                      </m:nary>
                    </m:oMath>
                  </m:oMathPara>
                </a14:m>
                <a:endParaRPr lang="fr-FR" dirty="0"/>
              </a:p>
            </p:txBody>
          </p:sp>
        </mc:Choice>
        <mc:Fallback xmlns="">
          <p:sp>
            <p:nvSpPr>
              <p:cNvPr id="6" name="ZoneTexte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9512" y="3284984"/>
                <a:ext cx="8640960" cy="932628"/>
              </a:xfrm>
              <a:prstGeom prst="rect">
                <a:avLst/>
              </a:prstGeom>
              <a:blipFill rotWithShape="0"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ZoneTexte 9"/>
              <p:cNvSpPr txBox="1"/>
              <p:nvPr/>
            </p:nvSpPr>
            <p:spPr>
              <a:xfrm>
                <a:off x="467544" y="5520708"/>
                <a:ext cx="8064896" cy="93262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−2</m:t>
                      </m:r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𝐿𝑛𝐿</m:t>
                      </m:r>
                      <m:d>
                        <m:dPr>
                          <m:ctrlPr>
                            <a:rPr lang="fr-FR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fr-F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  <m:r>
                            <a:rPr lang="fr-F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fr-FR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fr-FR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r>
                            <a:rPr lang="fr-F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sSup>
                            <m:sSupPr>
                              <m:ctrlPr>
                                <a:rPr lang="fr-FR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acc>
                                <m:accPr>
                                  <m:chr m:val="̂"/>
                                  <m:ctrlPr>
                                    <a:rPr lang="fr-FR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fr-FR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𝜎</m:t>
                                  </m:r>
                                </m:e>
                              </m:acc>
                            </m:e>
                            <m:sup>
                              <m:r>
                                <a:rPr lang="fr-FR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d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𝑛𝐿𝑛</m:t>
                      </m:r>
                      <m:d>
                        <m:dPr>
                          <m:ctrlPr>
                            <a:rPr lang="fr-FR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fr-F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𝜋</m:t>
                          </m:r>
                          <m:r>
                            <a:rPr lang="fr-F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𝑒</m:t>
                          </m:r>
                          <m:sSup>
                            <m:sSupPr>
                              <m:ctrlPr>
                                <a:rPr lang="fr-FR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acc>
                                <m:accPr>
                                  <m:chr m:val="̂"/>
                                  <m:ctrlPr>
                                    <a:rPr lang="fr-FR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fr-FR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𝜎</m:t>
                                  </m:r>
                                </m:e>
                              </m:acc>
                            </m:e>
                            <m:sup>
                              <m:r>
                                <a:rPr lang="fr-FR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d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+2</m:t>
                      </m:r>
                      <m:nary>
                        <m:naryPr>
                          <m:chr m:val="∑"/>
                          <m:ctrlPr>
                            <a:rPr lang="fr-FR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fr-FR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𝐿𝑛</m:t>
                          </m:r>
                          <m:d>
                            <m:dPr>
                              <m:ctrlPr>
                                <a:rPr lang="fr-FR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fr-FR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fr-FR" b="0" i="1" smtClean="0">
                                      <a:latin typeface="Cambria Math" panose="02040503050406030204" pitchFamily="18" charset="0"/>
                                    </a:rPr>
                                    <m:t>𝑟</m:t>
                                  </m:r>
                                  <m:d>
                                    <m:dPr>
                                      <m:ctrlPr>
                                        <a:rPr lang="fr-FR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fr-FR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fr-FR" b="0" i="1" smtClean="0"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  <m:sub>
                                          <m:r>
                                            <a:rPr lang="fr-FR" b="0" i="1" smtClean="0">
                                              <a:latin typeface="Cambria Math" panose="02040503050406030204" pitchFamily="18" charset="0"/>
                                            </a:rPr>
                                            <m:t>𝑡</m:t>
                                          </m:r>
                                          <m:r>
                                            <a:rPr lang="fr-FR" b="0" i="1" smtClean="0">
                                              <a:latin typeface="Cambria Math" panose="02040503050406030204" pitchFamily="18" charset="0"/>
                                            </a:rPr>
                                            <m:t>−1</m:t>
                                          </m:r>
                                        </m:sub>
                                      </m:sSub>
                                    </m:e>
                                  </m:d>
                                </m:e>
                              </m:d>
                            </m:e>
                          </m:d>
                        </m:e>
                      </m:nary>
                    </m:oMath>
                  </m:oMathPara>
                </a14:m>
                <a:endParaRPr lang="fr-FR" dirty="0"/>
              </a:p>
            </p:txBody>
          </p:sp>
        </mc:Choice>
        <mc:Fallback xmlns="">
          <p:sp>
            <p:nvSpPr>
              <p:cNvPr id="10" name="ZoneTexte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7544" y="5520708"/>
                <a:ext cx="8064896" cy="932628"/>
              </a:xfrm>
              <a:prstGeom prst="rect">
                <a:avLst/>
              </a:prstGeom>
              <a:blipFill rotWithShape="0"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ZoneTexte 8"/>
              <p:cNvSpPr txBox="1"/>
              <p:nvPr/>
            </p:nvSpPr>
            <p:spPr>
              <a:xfrm>
                <a:off x="619944" y="4368580"/>
                <a:ext cx="8064896" cy="93262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−2</m:t>
                      </m:r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𝐿𝑛𝐿</m:t>
                      </m:r>
                      <m:d>
                        <m:dPr>
                          <m:ctrlPr>
                            <a:rPr lang="fr-FR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fr-F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  <m:r>
                            <a:rPr lang="fr-F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fr-FR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fr-FR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r>
                            <a:rPr lang="fr-F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sSup>
                            <m:sSupPr>
                              <m:ctrlPr>
                                <a:rPr lang="fr-FR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acc>
                                <m:accPr>
                                  <m:chr m:val="̂"/>
                                  <m:ctrlPr>
                                    <a:rPr lang="fr-FR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fr-FR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𝜎</m:t>
                                  </m:r>
                                </m:e>
                              </m:acc>
                            </m:e>
                            <m:sup>
                              <m:r>
                                <a:rPr lang="fr-FR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d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𝑛𝐿𝑛</m:t>
                      </m:r>
                      <m:d>
                        <m:dPr>
                          <m:ctrlPr>
                            <a:rPr lang="fr-FR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fr-F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𝜋</m:t>
                          </m:r>
                          <m:sSup>
                            <m:sSupPr>
                              <m:ctrlPr>
                                <a:rPr lang="fr-FR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acc>
                                <m:accPr>
                                  <m:chr m:val="̂"/>
                                  <m:ctrlPr>
                                    <a:rPr lang="fr-FR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fr-FR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𝜎</m:t>
                                  </m:r>
                                </m:e>
                              </m:acc>
                            </m:e>
                            <m:sup>
                              <m:r>
                                <a:rPr lang="fr-FR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d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+2</m:t>
                      </m:r>
                      <m:nary>
                        <m:naryPr>
                          <m:chr m:val="∑"/>
                          <m:ctrlPr>
                            <a:rPr lang="fr-FR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fr-FR" i="1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fr-FR" i="1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m:rPr>
                              <m:brk m:alnAt="23"/>
                            </m:rPr>
                            <a:rPr lang="fr-FR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fr-FR" i="1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𝐿𝑛</m:t>
                          </m:r>
                          <m:d>
                            <m:dPr>
                              <m:ctrlPr>
                                <a:rPr lang="fr-FR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fr-FR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fr-FR" i="1">
                                      <a:latin typeface="Cambria Math" panose="02040503050406030204" pitchFamily="18" charset="0"/>
                                    </a:rPr>
                                    <m:t>𝑟</m:t>
                                  </m:r>
                                  <m:d>
                                    <m:dPr>
                                      <m:ctrlPr>
                                        <a:rPr lang="fr-FR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fr-FR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fr-FR" i="1"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  <m:sub>
                                          <m:r>
                                            <a:rPr lang="fr-FR" i="1">
                                              <a:latin typeface="Cambria Math" panose="02040503050406030204" pitchFamily="18" charset="0"/>
                                            </a:rPr>
                                            <m:t>𝑡</m:t>
                                          </m:r>
                                          <m:r>
                                            <a:rPr lang="fr-FR" i="1">
                                              <a:latin typeface="Cambria Math" panose="02040503050406030204" pitchFamily="18" charset="0"/>
                                            </a:rPr>
                                            <m:t>−1</m:t>
                                          </m:r>
                                        </m:sub>
                                      </m:sSub>
                                    </m:e>
                                  </m:d>
                                </m:e>
                              </m:d>
                            </m:e>
                          </m:d>
                        </m:e>
                      </m:nary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𝑛</m:t>
                      </m:r>
                    </m:oMath>
                  </m:oMathPara>
                </a14:m>
                <a:endParaRPr lang="fr-FR" dirty="0"/>
              </a:p>
            </p:txBody>
          </p:sp>
        </mc:Choice>
        <mc:Fallback xmlns="">
          <p:sp>
            <p:nvSpPr>
              <p:cNvPr id="9" name="ZoneTexte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9944" y="4368580"/>
                <a:ext cx="8064896" cy="932628"/>
              </a:xfrm>
              <a:prstGeom prst="rect">
                <a:avLst/>
              </a:prstGeom>
              <a:blipFill rotWithShape="0"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345828340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ZoneTexte 2"/>
              <p:cNvSpPr txBox="1"/>
              <p:nvPr/>
            </p:nvSpPr>
            <p:spPr>
              <a:xfrm>
                <a:off x="107504" y="404664"/>
                <a:ext cx="871296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fr-FR" dirty="0" smtClean="0"/>
                  <a:t>L’estimation des paramètres </a:t>
                </a:r>
                <a14:m>
                  <m:oMath xmlns:m="http://schemas.openxmlformats.org/officeDocument/2006/math">
                    <m:r>
                      <a:rPr lang="fr-FR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𝜃</m:t>
                    </m:r>
                  </m:oMath>
                </a14:m>
                <a:r>
                  <a:rPr lang="fr-FR" dirty="0" smtClean="0"/>
                  <a:t> et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fr-FR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fr-FR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fr-FR" dirty="0" smtClean="0"/>
                  <a:t> se fait en minimisant la grandeur :</a:t>
                </a:r>
                <a:endParaRPr lang="fr-FR" dirty="0"/>
              </a:p>
            </p:txBody>
          </p:sp>
        </mc:Choice>
        <mc:Fallback xmlns="">
          <p:sp>
            <p:nvSpPr>
              <p:cNvPr id="3" name="ZoneTexte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7504" y="404664"/>
                <a:ext cx="8712968" cy="400110"/>
              </a:xfrm>
              <a:prstGeom prst="rect">
                <a:avLst/>
              </a:prstGeom>
              <a:blipFill rotWithShape="0">
                <a:blip r:embed="rId2"/>
                <a:stretch>
                  <a:fillRect l="-770" t="-6061" b="-27273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ZoneTexte 3"/>
              <p:cNvSpPr txBox="1"/>
              <p:nvPr/>
            </p:nvSpPr>
            <p:spPr>
              <a:xfrm>
                <a:off x="611560" y="908720"/>
                <a:ext cx="8208912" cy="93262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fr-FR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e>
                        <m:sup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p>
                      <m:d>
                        <m:dPr>
                          <m:ctrlPr>
                            <a:rPr lang="fr-FR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fr-F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  <m:r>
                            <a:rPr lang="fr-F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fr-FR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fr-FR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e>
                      </m:d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𝑛𝐿𝑛</m:t>
                      </m:r>
                      <m:d>
                        <m:dPr>
                          <m:ctrlPr>
                            <a:rPr lang="fr-FR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nary>
                            <m:naryPr>
                              <m:chr m:val="∑"/>
                              <m:ctrlPr>
                                <a:rPr lang="fr-FR" b="0" i="1" smtClean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fr-FR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fr-FR" b="0" i="1" smtClean="0"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fr-FR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p>
                            <m:e>
                              <m:sSubSup>
                                <m:sSubSupPr>
                                  <m:ctrlPr>
                                    <a:rPr lang="fr-FR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fr-FR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𝜀</m:t>
                                  </m:r>
                                </m:e>
                                <m:sub>
                                  <m:r>
                                    <m:rPr>
                                      <m:sty m:val="p"/>
                                    </m:rPr>
                                    <a:rPr lang="fr-FR" b="0" i="0" smtClean="0">
                                      <a:latin typeface="Cambria Math" panose="02040503050406030204" pitchFamily="18" charset="0"/>
                                    </a:rPr>
                                    <m:t>t</m:t>
                                  </m:r>
                                </m:sub>
                                <m:sup>
                                  <m:r>
                                    <a:rPr lang="fr-FR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bSup>
                            </m:e>
                          </m:nary>
                        </m:e>
                      </m:d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+2</m:t>
                      </m:r>
                      <m:nary>
                        <m:naryPr>
                          <m:chr m:val="∑"/>
                          <m:ctrlPr>
                            <a:rPr lang="fr-FR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fr-FR" i="1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fr-FR" i="1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fr-FR" i="1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𝐿𝑛</m:t>
                          </m:r>
                          <m:d>
                            <m:dPr>
                              <m:ctrlPr>
                                <a:rPr lang="fr-FR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fr-FR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fr-FR" i="1">
                                      <a:latin typeface="Cambria Math" panose="02040503050406030204" pitchFamily="18" charset="0"/>
                                    </a:rPr>
                                    <m:t>𝑟</m:t>
                                  </m:r>
                                  <m:d>
                                    <m:dPr>
                                      <m:ctrlPr>
                                        <a:rPr lang="fr-FR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fr-FR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fr-FR" i="1"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  <m:sub>
                                          <m:r>
                                            <a:rPr lang="fr-FR" i="1">
                                              <a:latin typeface="Cambria Math" panose="02040503050406030204" pitchFamily="18" charset="0"/>
                                            </a:rPr>
                                            <m:t>𝑡</m:t>
                                          </m:r>
                                          <m:r>
                                            <a:rPr lang="fr-FR" i="1">
                                              <a:latin typeface="Cambria Math" panose="02040503050406030204" pitchFamily="18" charset="0"/>
                                            </a:rPr>
                                            <m:t>−1</m:t>
                                          </m:r>
                                        </m:sub>
                                      </m:sSub>
                                    </m:e>
                                  </m:d>
                                </m:e>
                              </m:d>
                            </m:e>
                          </m:d>
                        </m:e>
                      </m:nary>
                    </m:oMath>
                  </m:oMathPara>
                </a14:m>
                <a:endParaRPr lang="fr-FR" dirty="0"/>
              </a:p>
            </p:txBody>
          </p:sp>
        </mc:Choice>
        <mc:Fallback xmlns="">
          <p:sp>
            <p:nvSpPr>
              <p:cNvPr id="4" name="ZoneTexte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1560" y="908720"/>
                <a:ext cx="8208912" cy="932628"/>
              </a:xfrm>
              <a:prstGeom prst="rect">
                <a:avLst/>
              </a:prstGeom>
              <a:blipFill rotWithShape="0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ZoneTexte 4"/>
              <p:cNvSpPr txBox="1"/>
              <p:nvPr/>
            </p:nvSpPr>
            <p:spPr>
              <a:xfrm>
                <a:off x="216024" y="2204864"/>
                <a:ext cx="8748464" cy="40447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fr-FR" dirty="0" smtClean="0"/>
                  <a:t>Cette grandeur devient : </a:t>
                </a:r>
                <a14:m>
                  <m:oMath xmlns:m="http://schemas.openxmlformats.org/officeDocument/2006/math">
                    <m:r>
                      <a:rPr lang="fr-FR" i="1">
                        <a:latin typeface="Cambria Math" panose="02040503050406030204" pitchFamily="18" charset="0"/>
                      </a:rPr>
                      <m:t>𝑛𝐿𝑛</m:t>
                    </m:r>
                    <m:d>
                      <m:dPr>
                        <m:ctrlPr>
                          <a:rPr lang="fr-FR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nary>
                          <m:naryPr>
                            <m:chr m:val="∑"/>
                            <m:ctrlPr>
                              <a:rPr lang="fr-FR" i="1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m:rPr>
                                <m:brk m:alnAt="23"/>
                              </m:rPr>
                              <a:rPr lang="fr-FR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fr-FR" i="1">
                                <a:latin typeface="Cambria Math" panose="02040503050406030204" pitchFamily="18" charset="0"/>
                              </a:rPr>
                              <m:t>=1</m:t>
                            </m:r>
                          </m:sub>
                          <m:sup>
                            <m:r>
                              <a:rPr lang="fr-FR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  <m:e>
                            <m:sSubSup>
                              <m:sSubSupPr>
                                <m:ctrlPr>
                                  <a:rPr lang="fr-FR" i="1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fr-FR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𝜀</m:t>
                                </m:r>
                              </m:e>
                              <m:sub>
                                <m:r>
                                  <a:rPr lang="fr-FR" i="1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sub>
                              <m:sup>
                                <m:r>
                                  <a:rPr lang="fr-FR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bSup>
                          </m:e>
                        </m:nary>
                      </m:e>
                    </m:d>
                  </m:oMath>
                </a14:m>
                <a:r>
                  <a:rPr lang="fr-FR" dirty="0" smtClean="0"/>
                  <a:t> si le modèle espace d’état est linéaire </a:t>
                </a:r>
                <a:endParaRPr lang="fr-FR" dirty="0"/>
              </a:p>
            </p:txBody>
          </p:sp>
        </mc:Choice>
        <mc:Fallback xmlns="">
          <p:sp>
            <p:nvSpPr>
              <p:cNvPr id="5" name="ZoneTexte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6024" y="2204864"/>
                <a:ext cx="8748464" cy="404470"/>
              </a:xfrm>
              <a:prstGeom prst="rect">
                <a:avLst/>
              </a:prstGeom>
              <a:blipFill rotWithShape="0">
                <a:blip r:embed="rId4"/>
                <a:stretch>
                  <a:fillRect l="-696" t="-119697" r="-1184" b="-184848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ZoneTexte 1"/>
          <p:cNvSpPr txBox="1"/>
          <p:nvPr/>
        </p:nvSpPr>
        <p:spPr>
          <a:xfrm>
            <a:off x="323528" y="2852936"/>
            <a:ext cx="864096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 smtClean="0"/>
              <a:t>L’approche ETS consiste </a:t>
            </a:r>
            <a:r>
              <a:rPr lang="fr-FR" smtClean="0"/>
              <a:t>à calculer les </a:t>
            </a:r>
            <a:r>
              <a:rPr lang="fr-FR" dirty="0" smtClean="0"/>
              <a:t>30 modèles ETS voir fichier : ‘‘file modèle espace d’état’’</a:t>
            </a:r>
            <a:endParaRPr lang="fr-FR" dirty="0"/>
          </a:p>
        </p:txBody>
      </p:sp>
      <p:sp>
        <p:nvSpPr>
          <p:cNvPr id="6" name="ZoneTexte 5"/>
          <p:cNvSpPr txBox="1"/>
          <p:nvPr/>
        </p:nvSpPr>
        <p:spPr>
          <a:xfrm>
            <a:off x="216024" y="3717032"/>
            <a:ext cx="838842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 smtClean="0"/>
              <a:t>Le meilleur modèle est celui qui </a:t>
            </a:r>
            <a:r>
              <a:rPr lang="fr-FR" b="1" dirty="0" smtClean="0"/>
              <a:t>minimise</a:t>
            </a:r>
            <a:r>
              <a:rPr lang="fr-FR" dirty="0" smtClean="0"/>
              <a:t> un critère de sélection  </a:t>
            </a:r>
            <a:endParaRPr lang="fr-FR" dirty="0"/>
          </a:p>
        </p:txBody>
      </p:sp>
      <p:sp>
        <p:nvSpPr>
          <p:cNvPr id="7" name="ZoneTexte 6"/>
          <p:cNvSpPr txBox="1"/>
          <p:nvPr/>
        </p:nvSpPr>
        <p:spPr>
          <a:xfrm>
            <a:off x="360040" y="4437112"/>
            <a:ext cx="846043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 smtClean="0"/>
              <a:t>Forme des critères de sélection IC (</a:t>
            </a:r>
            <a:r>
              <a:rPr lang="en-GB" dirty="0" smtClean="0"/>
              <a:t>Information criterion</a:t>
            </a:r>
            <a:r>
              <a:rPr lang="fr-FR" dirty="0" smtClean="0"/>
              <a:t>)</a:t>
            </a:r>
            <a:endParaRPr lang="fr-FR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ZoneTexte 7"/>
              <p:cNvSpPr txBox="1"/>
              <p:nvPr/>
            </p:nvSpPr>
            <p:spPr>
              <a:xfrm>
                <a:off x="755576" y="5085184"/>
                <a:ext cx="763284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𝐼𝐶</m:t>
                      </m:r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fr-FR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e>
                        <m:sup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p>
                      <m:d>
                        <m:dPr>
                          <m:ctrlPr>
                            <a:rPr lang="fr-FR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fr-F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  <m:r>
                            <a:rPr lang="fr-F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fr-FR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fr-FR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e>
                      </m:d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𝑞</m:t>
                      </m:r>
                      <m:r>
                        <a:rPr lang="fr-F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𝜁</m:t>
                      </m:r>
                      <m:d>
                        <m:dPr>
                          <m:ctrlPr>
                            <a:rPr lang="fr-F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fr-F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𝑛</m:t>
                          </m:r>
                        </m:e>
                      </m:d>
                    </m:oMath>
                  </m:oMathPara>
                </a14:m>
                <a:endParaRPr lang="fr-FR" dirty="0"/>
              </a:p>
            </p:txBody>
          </p:sp>
        </mc:Choice>
        <mc:Fallback xmlns="">
          <p:sp>
            <p:nvSpPr>
              <p:cNvPr id="8" name="ZoneTexte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5576" y="5085184"/>
                <a:ext cx="7632848" cy="400110"/>
              </a:xfrm>
              <a:prstGeom prst="rect">
                <a:avLst/>
              </a:prstGeom>
              <a:blipFill rotWithShape="0">
                <a:blip r:embed="rId5"/>
                <a:stretch>
                  <a:fillRect b="-16667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ZoneTexte 8"/>
              <p:cNvSpPr txBox="1"/>
              <p:nvPr/>
            </p:nvSpPr>
            <p:spPr>
              <a:xfrm>
                <a:off x="323528" y="5661248"/>
                <a:ext cx="8496944" cy="7078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fr-FR" i="1" smtClean="0">
                        <a:latin typeface="Cambria Math" panose="02040503050406030204" pitchFamily="18" charset="0"/>
                      </a:rPr>
                      <m:t>𝑞</m:t>
                    </m:r>
                    <m:r>
                      <a:rPr lang="fr-FR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𝜁</m:t>
                    </m:r>
                    <m:d>
                      <m:dPr>
                        <m:ctrlPr>
                          <a:rPr lang="fr-F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fr-F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e>
                    </m:d>
                  </m:oMath>
                </a14:m>
                <a:r>
                  <a:rPr lang="fr-FR" dirty="0" smtClean="0"/>
                  <a:t> est la fonction pénalité et q le nombre de paramètres de </a:t>
                </a:r>
                <a14:m>
                  <m:oMath xmlns:m="http://schemas.openxmlformats.org/officeDocument/2006/math">
                    <m:r>
                      <a:rPr lang="fr-FR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𝜃</m:t>
                    </m:r>
                  </m:oMath>
                </a14:m>
                <a:r>
                  <a:rPr lang="fr-FR" dirty="0" smtClean="0"/>
                  <a:t> plus le nombre de composantes non stationnaire du vecteur d’état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fr-FR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fr-FR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endParaRPr lang="fr-FR" dirty="0"/>
              </a:p>
            </p:txBody>
          </p:sp>
        </mc:Choice>
        <mc:Fallback xmlns="">
          <p:sp>
            <p:nvSpPr>
              <p:cNvPr id="9" name="ZoneTexte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3528" y="5661248"/>
                <a:ext cx="8496944" cy="707886"/>
              </a:xfrm>
              <a:prstGeom prst="rect">
                <a:avLst/>
              </a:prstGeom>
              <a:blipFill rotWithShape="0">
                <a:blip r:embed="rId6"/>
                <a:stretch>
                  <a:fillRect l="-717" t="-4310" b="-15517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016942235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3" name="Tableau 2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004830150"/>
                  </p:ext>
                </p:extLst>
              </p:nvPr>
            </p:nvGraphicFramePr>
            <p:xfrm>
              <a:off x="1524000" y="793512"/>
              <a:ext cx="6096000" cy="148336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3048000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3048000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fr-FR" b="0" baseline="0" dirty="0" smtClean="0">
                              <a:solidFill>
                                <a:schemeClr val="tx1"/>
                              </a:solidFill>
                            </a:rPr>
                            <a:t>Critère</a:t>
                          </a:r>
                          <a:endParaRPr lang="fr-FR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fr-FR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𝜁</m:t>
                                </m:r>
                                <m:d>
                                  <m:dPr>
                                    <m:ctrlPr>
                                      <a:rPr lang="fr-FR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fr-FR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𝑛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fr-FR" b="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fr-FR" dirty="0" smtClean="0"/>
                            <a:t>AIC</a:t>
                          </a:r>
                          <a:endParaRPr lang="fr-FR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fr-FR" dirty="0" smtClean="0"/>
                            <a:t>2</a:t>
                          </a:r>
                          <a:endParaRPr lang="fr-FR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fr-FR" dirty="0" smtClean="0"/>
                            <a:t>BIC</a:t>
                          </a:r>
                          <a:endParaRPr lang="fr-FR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fr-FR" dirty="0" smtClean="0"/>
                            <a:t>Ln(n)</a:t>
                          </a:r>
                          <a:endParaRPr lang="fr-FR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fr-FR" dirty="0" smtClean="0"/>
                            <a:t>AICC</a:t>
                          </a:r>
                          <a:endParaRPr lang="fr-FR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fr-FR" dirty="0" smtClean="0"/>
                            <a:t>2n/(n-q-1)</a:t>
                          </a:r>
                          <a:endParaRPr lang="fr-FR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3" name="Tableau 2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004830150"/>
                  </p:ext>
                </p:extLst>
              </p:nvPr>
            </p:nvGraphicFramePr>
            <p:xfrm>
              <a:off x="1524000" y="793512"/>
              <a:ext cx="6096000" cy="148336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3048000"/>
                    <a:gridCol w="3048000"/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fr-FR" b="0" baseline="0" dirty="0" smtClean="0">
                              <a:solidFill>
                                <a:schemeClr val="tx1"/>
                              </a:solidFill>
                            </a:rPr>
                            <a:t>Critère</a:t>
                          </a:r>
                          <a:endParaRPr lang="fr-FR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fr-FR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0">
                          <a:blip r:embed="rId2"/>
                          <a:stretch>
                            <a:fillRect l="-100400" t="-8197" r="-600" b="-324590"/>
                          </a:stretch>
                        </a:blipFill>
                      </a:tcPr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fr-FR" dirty="0" smtClean="0"/>
                            <a:t>AIC</a:t>
                          </a:r>
                          <a:endParaRPr lang="fr-FR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fr-FR" dirty="0" smtClean="0"/>
                            <a:t>2</a:t>
                          </a:r>
                          <a:endParaRPr lang="fr-FR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fr-FR" dirty="0" smtClean="0"/>
                            <a:t>BIC</a:t>
                          </a:r>
                          <a:endParaRPr lang="fr-FR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fr-FR" dirty="0" smtClean="0"/>
                            <a:t>Ln(n)</a:t>
                          </a:r>
                          <a:endParaRPr lang="fr-FR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fr-FR" dirty="0" smtClean="0"/>
                            <a:t>AICC</a:t>
                          </a:r>
                          <a:endParaRPr lang="fr-FR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fr-FR" dirty="0" smtClean="0"/>
                            <a:t>2n/(n-q-1)</a:t>
                          </a:r>
                          <a:endParaRPr lang="fr-FR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</a:tr>
                </a:tbl>
              </a:graphicData>
            </a:graphic>
          </p:graphicFrame>
        </mc:Fallback>
      </mc:AlternateContent>
      <p:sp>
        <p:nvSpPr>
          <p:cNvPr id="2" name="ZoneTexte 1"/>
          <p:cNvSpPr txBox="1"/>
          <p:nvPr/>
        </p:nvSpPr>
        <p:spPr>
          <a:xfrm>
            <a:off x="3203848" y="332656"/>
            <a:ext cx="424847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 smtClean="0"/>
              <a:t>Exemples de critères de sélection</a:t>
            </a:r>
            <a:endParaRPr lang="fr-FR" dirty="0"/>
          </a:p>
        </p:txBody>
      </p:sp>
      <p:sp>
        <p:nvSpPr>
          <p:cNvPr id="4" name="ZoneTexte 3"/>
          <p:cNvSpPr txBox="1"/>
          <p:nvPr/>
        </p:nvSpPr>
        <p:spPr>
          <a:xfrm>
            <a:off x="251520" y="2812866"/>
            <a:ext cx="864096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 err="1" smtClean="0"/>
              <a:t>Hyndman</a:t>
            </a:r>
            <a:r>
              <a:rPr lang="fr-FR" dirty="0" smtClean="0"/>
              <a:t> a séparé les 30 modèles ETS en 5 groupes :</a:t>
            </a:r>
            <a:endParaRPr lang="fr-FR" dirty="0"/>
          </a:p>
        </p:txBody>
      </p:sp>
      <p:sp>
        <p:nvSpPr>
          <p:cNvPr id="5" name="ZoneTexte 4"/>
          <p:cNvSpPr txBox="1"/>
          <p:nvPr/>
        </p:nvSpPr>
        <p:spPr>
          <a:xfrm>
            <a:off x="323528" y="3429000"/>
            <a:ext cx="842493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 smtClean="0"/>
              <a:t>Gr1 : Le modèle espace d’état linéaire et E additive</a:t>
            </a:r>
            <a:endParaRPr lang="fr-FR" dirty="0"/>
          </a:p>
        </p:txBody>
      </p:sp>
      <p:sp>
        <p:nvSpPr>
          <p:cNvPr id="6" name="ZoneTexte 5"/>
          <p:cNvSpPr txBox="1"/>
          <p:nvPr/>
        </p:nvSpPr>
        <p:spPr>
          <a:xfrm>
            <a:off x="323528" y="3933056"/>
            <a:ext cx="835292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 smtClean="0"/>
              <a:t>Gr2 : Le modèle espace d’état linéaire et E multiplicative</a:t>
            </a:r>
            <a:endParaRPr lang="fr-FR" dirty="0"/>
          </a:p>
        </p:txBody>
      </p:sp>
      <p:sp>
        <p:nvSpPr>
          <p:cNvPr id="7" name="ZoneTexte 6"/>
          <p:cNvSpPr txBox="1"/>
          <p:nvPr/>
        </p:nvSpPr>
        <p:spPr>
          <a:xfrm>
            <a:off x="395536" y="4581128"/>
            <a:ext cx="712879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 smtClean="0"/>
              <a:t>Gr3 : MNM, MAM, </a:t>
            </a:r>
            <a:r>
              <a:rPr lang="fr-FR" dirty="0" err="1" smtClean="0"/>
              <a:t>MA</a:t>
            </a:r>
            <a:r>
              <a:rPr lang="fr-FR" baseline="-25000" dirty="0" err="1" smtClean="0"/>
              <a:t>d</a:t>
            </a:r>
            <a:r>
              <a:rPr lang="fr-FR" dirty="0" err="1" smtClean="0"/>
              <a:t>M</a:t>
            </a:r>
            <a:endParaRPr lang="fr-FR" dirty="0"/>
          </a:p>
        </p:txBody>
      </p:sp>
      <p:sp>
        <p:nvSpPr>
          <p:cNvPr id="8" name="ZoneTexte 7"/>
          <p:cNvSpPr txBox="1"/>
          <p:nvPr/>
        </p:nvSpPr>
        <p:spPr>
          <a:xfrm>
            <a:off x="395536" y="5157192"/>
            <a:ext cx="748883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 smtClean="0"/>
              <a:t>Gr4 : MMN, MMM, </a:t>
            </a:r>
            <a:r>
              <a:rPr lang="fr-FR" dirty="0" err="1" smtClean="0"/>
              <a:t>MM</a:t>
            </a:r>
            <a:r>
              <a:rPr lang="fr-FR" baseline="-25000" dirty="0" err="1" smtClean="0"/>
              <a:t>d</a:t>
            </a:r>
            <a:r>
              <a:rPr lang="fr-FR" dirty="0" err="1" smtClean="0"/>
              <a:t>N</a:t>
            </a:r>
            <a:r>
              <a:rPr lang="fr-FR" dirty="0" smtClean="0"/>
              <a:t>, </a:t>
            </a:r>
            <a:r>
              <a:rPr lang="fr-FR" dirty="0" err="1" smtClean="0"/>
              <a:t>MM</a:t>
            </a:r>
            <a:r>
              <a:rPr lang="fr-FR" baseline="-25000" dirty="0" err="1" smtClean="0"/>
              <a:t>d</a:t>
            </a:r>
            <a:r>
              <a:rPr lang="fr-FR" dirty="0" err="1" smtClean="0"/>
              <a:t>M</a:t>
            </a:r>
            <a:endParaRPr lang="fr-FR" dirty="0"/>
          </a:p>
        </p:txBody>
      </p:sp>
      <p:sp>
        <p:nvSpPr>
          <p:cNvPr id="9" name="ZoneTexte 8"/>
          <p:cNvSpPr txBox="1"/>
          <p:nvPr/>
        </p:nvSpPr>
        <p:spPr>
          <a:xfrm>
            <a:off x="395536" y="5805264"/>
            <a:ext cx="748883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 smtClean="0"/>
              <a:t>Gr5 : les autres modèles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676573487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1"/>
          <p:cNvSpPr txBox="1"/>
          <p:nvPr/>
        </p:nvSpPr>
        <p:spPr>
          <a:xfrm>
            <a:off x="467544" y="5301208"/>
            <a:ext cx="828092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 smtClean="0"/>
              <a:t>Classification des modèles ETS en groupes</a:t>
            </a:r>
            <a:endParaRPr lang="fr-FR" dirty="0"/>
          </a:p>
        </p:txBody>
      </p:sp>
      <p:pic>
        <p:nvPicPr>
          <p:cNvPr id="5" name="Imag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31640" y="1556792"/>
            <a:ext cx="6428556" cy="30544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5393109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1"/>
          <p:cNvSpPr txBox="1"/>
          <p:nvPr/>
        </p:nvSpPr>
        <p:spPr>
          <a:xfrm>
            <a:off x="323528" y="260648"/>
            <a:ext cx="849694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 smtClean="0"/>
              <a:t>Calculs des prévisions et intervalles de confiance</a:t>
            </a:r>
            <a:endParaRPr lang="fr-FR" b="1" dirty="0"/>
          </a:p>
        </p:txBody>
      </p:sp>
      <p:sp>
        <p:nvSpPr>
          <p:cNvPr id="3" name="ZoneTexte 2"/>
          <p:cNvSpPr txBox="1"/>
          <p:nvPr/>
        </p:nvSpPr>
        <p:spPr>
          <a:xfrm>
            <a:off x="251520" y="940658"/>
            <a:ext cx="864096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 smtClean="0"/>
              <a:t>Gr1 : Le modèle espace d’état linéaire </a:t>
            </a:r>
            <a:r>
              <a:rPr lang="fr-FR" dirty="0"/>
              <a:t>:</a:t>
            </a:r>
            <a:r>
              <a:rPr lang="fr-FR" dirty="0" smtClean="0"/>
              <a:t> E additive et S absente ou additive</a:t>
            </a:r>
            <a:endParaRPr lang="fr-FR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ZoneTexte 4"/>
              <p:cNvSpPr txBox="1"/>
              <p:nvPr/>
            </p:nvSpPr>
            <p:spPr>
              <a:xfrm>
                <a:off x="395536" y="1590337"/>
                <a:ext cx="2159776" cy="686535"/>
              </a:xfrm>
              <a:prstGeom prst="rect">
                <a:avLst/>
              </a:prstGeom>
              <a:noFill/>
            </p:spPr>
            <p:txBody>
              <a:bodyPr wrap="square" lIns="0" tIns="0" rIns="0" bIns="0" numCol="2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"/>
                          <m:ctrlPr>
                            <a:rPr lang="fr-FR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fr-FR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fr-FR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fr-FR" b="0" i="1" smtClean="0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  <m:sub>
                                    <m:r>
                                      <a:rPr lang="fr-FR" b="0" i="1" smtClean="0"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</m:sub>
                                </m:sSub>
                                <m:r>
                                  <m:rPr>
                                    <m:brk m:alnAt="7"/>
                                  </m:rPr>
                                  <a:rPr lang="fr-FR" b="0" i="1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sSup>
                                  <m:sSupPr>
                                    <m:ctrlPr>
                                      <a:rPr lang="fr-FR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fr-FR" b="0" i="1" smtClean="0">
                                        <a:latin typeface="Cambria Math" panose="02040503050406030204" pitchFamily="18" charset="0"/>
                                      </a:rPr>
                                      <m:t>𝑤</m:t>
                                    </m:r>
                                  </m:e>
                                  <m:sup>
                                    <m:r>
                                      <a:rPr lang="fr-FR" b="0" i="1" smtClean="0">
                                        <a:latin typeface="Cambria Math" panose="02040503050406030204" pitchFamily="18" charset="0"/>
                                      </a:rPr>
                                      <m:t>′  </m:t>
                                    </m:r>
                                  </m:sup>
                                </m:sSup>
                                <m:sSub>
                                  <m:sSubPr>
                                    <m:ctrlPr>
                                      <a:rPr lang="fr-FR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fr-FR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fr-FR" b="0" i="1" smtClean="0"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  <m:r>
                                      <a:rPr lang="fr-FR" b="0" i="1" smtClean="0">
                                        <a:latin typeface="Cambria Math" panose="02040503050406030204" pitchFamily="18" charset="0"/>
                                      </a:rPr>
                                      <m:t>−1</m:t>
                                    </m:r>
                                  </m:sub>
                                </m:sSub>
                                <m:r>
                                  <m:rPr>
                                    <m:brk m:alnAt="7"/>
                                  </m:rPr>
                                  <a:rPr lang="fr-FR" b="0" i="1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b>
                                  <m:sSubPr>
                                    <m:ctrlPr>
                                      <a:rPr lang="fr-FR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fr-FR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𝜀</m:t>
                                    </m:r>
                                  </m:e>
                                  <m:sub>
                                    <m:r>
                                      <a:rPr lang="fr-FR" b="0" i="1" smtClean="0"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</m:sub>
                                </m:sSub>
                                <m:r>
                                  <m:rPr>
                                    <m:brk m:alnAt="7"/>
                                  </m:rPr>
                                  <a:rPr lang="fr-FR" b="0" i="1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fr-FR" b="0" i="1" smtClean="0">
                                    <a:latin typeface="Cambria Math" panose="02040503050406030204" pitchFamily="18" charset="0"/>
                                  </a:rPr>
                                  <m:t>            </m:t>
                                </m:r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fr-FR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fr-FR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fr-FR" b="0" i="1" smtClean="0"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</m:sub>
                                </m:sSub>
                                <m:r>
                                  <a:rPr lang="fr-FR" b="0" i="1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fr-FR" b="0" i="1" smtClean="0">
                                    <a:latin typeface="Cambria Math" panose="02040503050406030204" pitchFamily="18" charset="0"/>
                                  </a:rPr>
                                  <m:t>𝐹</m:t>
                                </m:r>
                                <m:sSub>
                                  <m:sSubPr>
                                    <m:ctrlPr>
                                      <a:rPr lang="fr-FR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fr-FR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fr-FR" b="0" i="1" smtClean="0"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  <m:r>
                                      <a:rPr lang="fr-FR" b="0" i="1" smtClean="0">
                                        <a:latin typeface="Cambria Math" panose="02040503050406030204" pitchFamily="18" charset="0"/>
                                      </a:rPr>
                                      <m:t>−1</m:t>
                                    </m:r>
                                  </m:sub>
                                </m:sSub>
                                <m:r>
                                  <a:rPr lang="fr-FR" b="0" i="1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fr-FR" b="0" i="1" smtClean="0">
                                    <a:latin typeface="Cambria Math" panose="02040503050406030204" pitchFamily="18" charset="0"/>
                                  </a:rPr>
                                  <m:t>𝑔</m:t>
                                </m:r>
                                <m:sSub>
                                  <m:sSubPr>
                                    <m:ctrlPr>
                                      <a:rPr lang="fr-FR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fr-FR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𝜀</m:t>
                                    </m:r>
                                  </m:e>
                                  <m:sub>
                                    <m:r>
                                      <a:rPr lang="fr-FR" i="1"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</m:sub>
                                </m:sSub>
                                <m:r>
                                  <a:rPr lang="fr-FR" b="0" i="1" smtClean="0">
                                    <a:latin typeface="Cambria Math" panose="02040503050406030204" pitchFamily="18" charset="0"/>
                                  </a:rPr>
                                  <m:t>             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fr-FR" dirty="0"/>
              </a:p>
            </p:txBody>
          </p:sp>
        </mc:Choice>
        <mc:Fallback xmlns="">
          <p:sp>
            <p:nvSpPr>
              <p:cNvPr id="5" name="ZoneTexte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5536" y="1590337"/>
                <a:ext cx="2159776" cy="686535"/>
              </a:xfrm>
              <a:prstGeom prst="rect">
                <a:avLst/>
              </a:prstGeom>
              <a:blipFill rotWithShape="0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ZoneTexte 5"/>
          <p:cNvSpPr txBox="1"/>
          <p:nvPr/>
        </p:nvSpPr>
        <p:spPr>
          <a:xfrm>
            <a:off x="2843808" y="1628800"/>
            <a:ext cx="612068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 smtClean="0"/>
              <a:t>n étant le nombres de valeurs disponibles pour la série temporelle</a:t>
            </a:r>
            <a:endParaRPr lang="fr-FR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ZoneTexte 6"/>
              <p:cNvSpPr txBox="1"/>
              <p:nvPr/>
            </p:nvSpPr>
            <p:spPr>
              <a:xfrm>
                <a:off x="323528" y="2506116"/>
                <a:ext cx="8136904" cy="77886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fr-FR" dirty="0" smtClean="0"/>
                  <a:t>Pour un horizon h donné, on calcule  : 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"/>
                        <m:ctrlPr>
                          <a:rPr lang="fr-FR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fr-FR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sSub>
                                <m:sSubPr>
                                  <m:ctrlPr>
                                    <a:rPr lang="fr-FR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acc>
                                    <m:accPr>
                                      <m:chr m:val="̂"/>
                                      <m:ctrlPr>
                                        <a:rPr lang="fr-FR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fr-FR" i="1"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a:rPr lang="fr-FR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  <m:r>
                                    <a:rPr lang="fr-FR" i="1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r>
                                    <a:rPr lang="fr-FR" i="1">
                                      <a:latin typeface="Cambria Math" panose="02040503050406030204" pitchFamily="18" charset="0"/>
                                    </a:rPr>
                                    <m:t>h</m:t>
                                  </m:r>
                                </m:sub>
                              </m:sSub>
                              <m:r>
                                <a:rPr lang="fr-FR" i="1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fr-FR" i="1">
                                  <a:latin typeface="Cambria Math" panose="02040503050406030204" pitchFamily="18" charset="0"/>
                                </a:rPr>
                                <m:t>𝐸</m:t>
                              </m:r>
                              <m:d>
                                <m:dPr>
                                  <m:ctrlPr>
                                    <a:rPr lang="fr-FR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f>
                                    <m:fPr>
                                      <m:type m:val="lin"/>
                                      <m:ctrlPr>
                                        <a:rPr lang="fr-FR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sSub>
                                        <m:sSubPr>
                                          <m:ctrlPr>
                                            <a:rPr lang="fr-FR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fr-FR" i="1">
                                              <a:latin typeface="Cambria Math" panose="02040503050406030204" pitchFamily="18" charset="0"/>
                                            </a:rPr>
                                            <m:t>𝑦</m:t>
                                          </m:r>
                                        </m:e>
                                        <m:sub>
                                          <m:r>
                                            <a:rPr lang="fr-FR" i="1">
                                              <a:latin typeface="Cambria Math" panose="02040503050406030204" pitchFamily="18" charset="0"/>
                                            </a:rPr>
                                            <m:t>𝑛</m:t>
                                          </m:r>
                                          <m:r>
                                            <a:rPr lang="fr-FR" i="1">
                                              <a:latin typeface="Cambria Math" panose="02040503050406030204" pitchFamily="18" charset="0"/>
                                            </a:rPr>
                                            <m:t>+</m:t>
                                          </m:r>
                                          <m:r>
                                            <a:rPr lang="fr-FR" i="1">
                                              <a:latin typeface="Cambria Math" panose="02040503050406030204" pitchFamily="18" charset="0"/>
                                            </a:rPr>
                                            <m:t>h</m:t>
                                          </m:r>
                                        </m:sub>
                                      </m:sSub>
                                    </m:num>
                                    <m:den>
                                      <m:sSub>
                                        <m:sSubPr>
                                          <m:ctrlPr>
                                            <a:rPr lang="fr-FR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fr-FR" i="1"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  <m:sub>
                                          <m:r>
                                            <a:rPr lang="fr-FR" i="1">
                                              <a:latin typeface="Cambria Math" panose="02040503050406030204" pitchFamily="18" charset="0"/>
                                            </a:rPr>
                                            <m:t>𝑛</m:t>
                                          </m:r>
                                        </m:sub>
                                      </m:sSub>
                                    </m:den>
                                  </m:f>
                                </m:e>
                              </m:d>
                            </m:e>
                          </m:mr>
                          <m:mr>
                            <m:e>
                              <m:r>
                                <a:rPr lang="fr-FR" i="1"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  <m:d>
                                <m:dPr>
                                  <m:ctrlPr>
                                    <a:rPr lang="fr-FR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f>
                                    <m:fPr>
                                      <m:type m:val="lin"/>
                                      <m:ctrlPr>
                                        <a:rPr lang="fr-FR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sSub>
                                        <m:sSubPr>
                                          <m:ctrlPr>
                                            <a:rPr lang="fr-FR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fr-FR" i="1">
                                              <a:latin typeface="Cambria Math" panose="02040503050406030204" pitchFamily="18" charset="0"/>
                                            </a:rPr>
                                            <m:t>𝑦</m:t>
                                          </m:r>
                                        </m:e>
                                        <m:sub>
                                          <m:r>
                                            <a:rPr lang="fr-FR" i="1">
                                              <a:latin typeface="Cambria Math" panose="02040503050406030204" pitchFamily="18" charset="0"/>
                                            </a:rPr>
                                            <m:t>𝑛</m:t>
                                          </m:r>
                                          <m:r>
                                            <a:rPr lang="fr-FR" i="1">
                                              <a:latin typeface="Cambria Math" panose="02040503050406030204" pitchFamily="18" charset="0"/>
                                            </a:rPr>
                                            <m:t>+</m:t>
                                          </m:r>
                                          <m:r>
                                            <a:rPr lang="fr-FR" i="1">
                                              <a:latin typeface="Cambria Math" panose="02040503050406030204" pitchFamily="18" charset="0"/>
                                            </a:rPr>
                                            <m:t>h</m:t>
                                          </m:r>
                                        </m:sub>
                                      </m:sSub>
                                    </m:num>
                                    <m:den>
                                      <m:sSub>
                                        <m:sSubPr>
                                          <m:ctrlPr>
                                            <a:rPr lang="fr-FR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fr-FR" i="1"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  <m:sub>
                                          <m:r>
                                            <a:rPr lang="fr-FR" i="1">
                                              <a:latin typeface="Cambria Math" panose="02040503050406030204" pitchFamily="18" charset="0"/>
                                            </a:rPr>
                                            <m:t>𝑛</m:t>
                                          </m:r>
                                        </m:sub>
                                      </m:sSub>
                                    </m:den>
                                  </m:f>
                                </m:e>
                              </m:d>
                            </m:e>
                          </m:mr>
                        </m:m>
                      </m:e>
                    </m:d>
                  </m:oMath>
                </a14:m>
                <a:endParaRPr lang="fr-FR" dirty="0"/>
              </a:p>
            </p:txBody>
          </p:sp>
        </mc:Choice>
        <mc:Fallback xmlns="">
          <p:sp>
            <p:nvSpPr>
              <p:cNvPr id="7" name="ZoneTexte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3528" y="2506116"/>
                <a:ext cx="8136904" cy="778868"/>
              </a:xfrm>
              <a:prstGeom prst="rect">
                <a:avLst/>
              </a:prstGeom>
              <a:blipFill rotWithShape="0">
                <a:blip r:embed="rId3"/>
                <a:stretch>
                  <a:fillRect l="-749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ZoneTexte 9"/>
              <p:cNvSpPr txBox="1"/>
              <p:nvPr/>
            </p:nvSpPr>
            <p:spPr>
              <a:xfrm>
                <a:off x="323528" y="3460938"/>
                <a:ext cx="8208912" cy="4510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fr-FR" dirty="0" smtClean="0"/>
                  <a:t>Si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fr-FR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𝜀</m:t>
                        </m:r>
                      </m:e>
                      <m:sub>
                        <m:r>
                          <a:rPr lang="fr-FR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fr-FR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  <m:r>
                      <a:rPr lang="fr-F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𝑁</m:t>
                    </m:r>
                    <m:d>
                      <m:dPr>
                        <m:ctrlPr>
                          <a:rPr lang="fr-F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fr-F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0,</m:t>
                        </m:r>
                        <m:sSup>
                          <m:sSupPr>
                            <m:ctrlPr>
                              <a:rPr lang="fr-FR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fr-FR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𝜎</m:t>
                            </m:r>
                          </m:e>
                          <m:sup>
                            <m:r>
                              <a:rPr lang="fr-FR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</m:oMath>
                </a14:m>
                <a:r>
                  <a:rPr lang="fr-FR" dirty="0" smtClean="0"/>
                  <a:t>, alors  </a:t>
                </a:r>
                <a14:m>
                  <m:oMath xmlns:m="http://schemas.openxmlformats.org/officeDocument/2006/math">
                    <m:f>
                      <m:fPr>
                        <m:type m:val="lin"/>
                        <m:ctrlPr>
                          <a:rPr lang="fr-FR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fr-FR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fr-FR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fr-FR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fr-FR" i="1"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fr-FR" i="1">
                                <a:latin typeface="Cambria Math" panose="02040503050406030204" pitchFamily="18" charset="0"/>
                              </a:rPr>
                              <m:t>h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fr-FR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fr-FR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fr-FR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  <m:r>
                          <a:rPr lang="fr-F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→</m:t>
                        </m:r>
                        <m:r>
                          <a:rPr lang="fr-F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𝑁</m:t>
                        </m:r>
                        <m:d>
                          <m:dPr>
                            <m:ctrlPr>
                              <a:rPr lang="fr-FR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fr-FR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𝑤</m:t>
                            </m:r>
                            <m:r>
                              <a:rPr lang="fr-FR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′</m:t>
                            </m:r>
                            <m:sSup>
                              <m:sSupPr>
                                <m:ctrlPr>
                                  <a:rPr lang="fr-FR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fr-FR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𝐹</m:t>
                                </m:r>
                              </m:e>
                              <m:sup>
                                <m:r>
                                  <a:rPr lang="fr-FR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h</m:t>
                                </m:r>
                                <m:r>
                                  <a:rPr lang="fr-FR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−1</m:t>
                                </m:r>
                              </m:sup>
                            </m:sSup>
                            <m:sSub>
                              <m:sSubPr>
                                <m:ctrlPr>
                                  <a:rPr lang="fr-FR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fr-FR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fr-FR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𝑛</m:t>
                                </m:r>
                              </m:sub>
                            </m:sSub>
                            <m:r>
                              <a:rPr lang="fr-FR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,</m:t>
                            </m:r>
                            <m:sSup>
                              <m:sSupPr>
                                <m:ctrlPr>
                                  <a:rPr lang="fr-FR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fr-FR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𝐵</m:t>
                                </m:r>
                                <m:r>
                                  <a:rPr lang="fr-FR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𝜎</m:t>
                                </m:r>
                              </m:e>
                              <m:sup>
                                <m:r>
                                  <a:rPr lang="fr-FR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d>
                      </m:den>
                    </m:f>
                  </m:oMath>
                </a14:m>
                <a:endParaRPr lang="fr-FR" dirty="0"/>
              </a:p>
            </p:txBody>
          </p:sp>
        </mc:Choice>
        <mc:Fallback xmlns="">
          <p:sp>
            <p:nvSpPr>
              <p:cNvPr id="10" name="ZoneTexte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3528" y="3460938"/>
                <a:ext cx="8208912" cy="451086"/>
              </a:xfrm>
              <a:prstGeom prst="rect">
                <a:avLst/>
              </a:prstGeom>
              <a:blipFill rotWithShape="0">
                <a:blip r:embed="rId4"/>
                <a:stretch>
                  <a:fillRect l="-742" t="-98649" b="-152703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ZoneTexte 10"/>
              <p:cNvSpPr txBox="1"/>
              <p:nvPr/>
            </p:nvSpPr>
            <p:spPr>
              <a:xfrm>
                <a:off x="323528" y="4077072"/>
                <a:ext cx="8208912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fr-FR" dirty="0" smtClean="0"/>
                  <a:t>En effet : </a:t>
                </a:r>
                <a14:m>
                  <m:oMath xmlns:m="http://schemas.openxmlformats.org/officeDocument/2006/math">
                    <m:r>
                      <a:rPr lang="fr-FR" b="0" i="1" smtClean="0">
                        <a:latin typeface="Cambria Math" panose="02040503050406030204" pitchFamily="18" charset="0"/>
                      </a:rPr>
                      <m:t>𝐸</m:t>
                    </m:r>
                    <m:d>
                      <m:dPr>
                        <m:ctrlPr>
                          <a:rPr lang="fr-FR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lin"/>
                            <m:ctrlPr>
                              <a:rPr lang="fr-FR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b>
                              <m:sSubPr>
                                <m:ctrlPr>
                                  <a:rPr lang="fr-FR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fr-FR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fr-FR" b="0" i="1" smtClean="0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  <m:r>
                                  <a:rPr lang="fr-FR" b="0" i="1" smtClean="0">
                                    <a:latin typeface="Cambria Math" panose="02040503050406030204" pitchFamily="18" charset="0"/>
                                  </a:rPr>
                                  <m:t>+1</m:t>
                                </m:r>
                              </m:sub>
                            </m:sSub>
                          </m:num>
                          <m:den>
                            <m:sSub>
                              <m:sSubPr>
                                <m:ctrlPr>
                                  <a:rPr lang="fr-FR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fr-FR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fr-FR" b="0" i="1" smtClean="0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sub>
                            </m:sSub>
                          </m:den>
                        </m:f>
                      </m:e>
                    </m:d>
                    <m:r>
                      <a:rPr lang="fr-FR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fr-FR" b="0" i="1" smtClean="0">
                        <a:latin typeface="Cambria Math" panose="02040503050406030204" pitchFamily="18" charset="0"/>
                      </a:rPr>
                      <m:t>𝐸</m:t>
                    </m:r>
                    <m:d>
                      <m:dPr>
                        <m:ctrlPr>
                          <a:rPr lang="fr-FR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lin"/>
                            <m:ctrlPr>
                              <a:rPr lang="fr-FR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fr-FR" i="1">
                                <a:latin typeface="Cambria Math" panose="02040503050406030204" pitchFamily="18" charset="0"/>
                              </a:rPr>
                              <m:t>𝐹</m:t>
                            </m:r>
                            <m:sSub>
                              <m:sSubPr>
                                <m:ctrlPr>
                                  <a:rPr lang="fr-FR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fr-FR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fr-FR" b="0" i="1" smtClean="0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sub>
                            </m:sSub>
                            <m:r>
                              <a:rPr lang="fr-FR" i="1"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fr-FR" i="1">
                                <a:latin typeface="Cambria Math" panose="02040503050406030204" pitchFamily="18" charset="0"/>
                              </a:rPr>
                              <m:t>𝑔</m:t>
                            </m:r>
                            <m:sSub>
                              <m:sSubPr>
                                <m:ctrlPr>
                                  <a:rPr lang="fr-FR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fr-FR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𝜀</m:t>
                                </m:r>
                              </m:e>
                              <m:sub>
                                <m:r>
                                  <a:rPr lang="fr-FR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𝑛</m:t>
                                </m:r>
                                <m:r>
                                  <a:rPr lang="fr-FR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+1</m:t>
                                </m:r>
                              </m:sub>
                            </m:sSub>
                          </m:num>
                          <m:den>
                            <m:sSub>
                              <m:sSubPr>
                                <m:ctrlPr>
                                  <a:rPr lang="fr-FR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fr-FR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fr-FR" b="0" i="1" smtClean="0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sub>
                            </m:sSub>
                          </m:den>
                        </m:f>
                      </m:e>
                    </m:d>
                    <m:r>
                      <a:rPr lang="fr-FR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fr-FR" i="1">
                        <a:latin typeface="Cambria Math" panose="02040503050406030204" pitchFamily="18" charset="0"/>
                      </a:rPr>
                      <m:t>𝐹</m:t>
                    </m:r>
                    <m:sSub>
                      <m:sSubPr>
                        <m:ctrlPr>
                          <a:rPr lang="fr-F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fr-FR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endParaRPr lang="fr-FR" dirty="0"/>
              </a:p>
            </p:txBody>
          </p:sp>
        </mc:Choice>
        <mc:Fallback xmlns="">
          <p:sp>
            <p:nvSpPr>
              <p:cNvPr id="11" name="ZoneTexte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3528" y="4077072"/>
                <a:ext cx="8208912" cy="400110"/>
              </a:xfrm>
              <a:prstGeom prst="rect">
                <a:avLst/>
              </a:prstGeom>
              <a:blipFill rotWithShape="0">
                <a:blip r:embed="rId5"/>
                <a:stretch>
                  <a:fillRect l="-742" t="-115385" b="-184615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ZoneTexte 11"/>
              <p:cNvSpPr txBox="1"/>
              <p:nvPr/>
            </p:nvSpPr>
            <p:spPr>
              <a:xfrm>
                <a:off x="323528" y="4725144"/>
                <a:ext cx="9217024" cy="101566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fr-FR" dirty="0" smtClean="0"/>
                  <a:t>Puisque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fr-F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fr-FR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fr-FR" dirty="0"/>
                  <a:t> est une combinaison de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fr-F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fr-FR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fr-FR" dirty="0"/>
                  <a:t> et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fr-F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𝜀</m:t>
                        </m:r>
                      </m:e>
                      <m:sub>
                        <m:r>
                          <a:rPr lang="fr-FR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fr-FR" i="1">
                        <a:latin typeface="Cambria Math" panose="02040503050406030204" pitchFamily="18" charset="0"/>
                      </a:rPr>
                      <m:t>,…,</m:t>
                    </m:r>
                    <m:sSub>
                      <m:sSubPr>
                        <m:ctrlPr>
                          <a:rPr lang="fr-F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𝜀</m:t>
                        </m:r>
                      </m:e>
                      <m:sub>
                        <m:r>
                          <a:rPr lang="fr-F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fr-FR" dirty="0" smtClean="0"/>
                  <a:t>, alors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fr-FR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𝜀</m:t>
                        </m:r>
                      </m:e>
                      <m:sub>
                        <m:r>
                          <a:rPr lang="fr-FR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fr-FR" b="0" i="1" smtClean="0"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</m:sSub>
                  </m:oMath>
                </a14:m>
                <a:r>
                  <a:rPr lang="fr-FR" b="0" i="1" dirty="0" smtClean="0">
                    <a:latin typeface="Cambria Math" panose="02040503050406030204" pitchFamily="18" charset="0"/>
                  </a:rPr>
                  <a:t> </a:t>
                </a:r>
                <a:r>
                  <a:rPr lang="fr-FR" b="0" dirty="0" smtClean="0">
                    <a:latin typeface="Cambria Math" panose="02040503050406030204" pitchFamily="18" charset="0"/>
                  </a:rPr>
                  <a:t>et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fr-FR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fr-FR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fr-FR" b="0" i="1" dirty="0" smtClean="0">
                    <a:latin typeface="Cambria Math" panose="02040503050406030204" pitchFamily="18" charset="0"/>
                  </a:rPr>
                  <a:t> </a:t>
                </a:r>
                <a:r>
                  <a:rPr lang="fr-FR" b="0" dirty="0" smtClean="0">
                    <a:latin typeface="Cambria Math" panose="02040503050406030204" pitchFamily="18" charset="0"/>
                  </a:rPr>
                  <a:t>sont indépendants : </a:t>
                </a:r>
                <a14:m>
                  <m:oMath xmlns:m="http://schemas.openxmlformats.org/officeDocument/2006/math">
                    <m:r>
                      <a:rPr lang="fr-FR" i="1">
                        <a:latin typeface="Cambria Math" panose="02040503050406030204" pitchFamily="18" charset="0"/>
                      </a:rPr>
                      <m:t>𝐸</m:t>
                    </m:r>
                    <m:d>
                      <m:dPr>
                        <m:ctrlPr>
                          <a:rPr lang="fr-FR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lin"/>
                            <m:ctrlPr>
                              <a:rPr lang="fr-FR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b>
                              <m:sSubPr>
                                <m:ctrlPr>
                                  <a:rPr lang="fr-FR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fr-FR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𝜀</m:t>
                                </m:r>
                              </m:e>
                              <m:sub>
                                <m:r>
                                  <a:rPr lang="fr-FR" i="1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  <m:r>
                                  <a:rPr lang="fr-FR" i="1">
                                    <a:latin typeface="Cambria Math" panose="02040503050406030204" pitchFamily="18" charset="0"/>
                                  </a:rPr>
                                  <m:t>+1</m:t>
                                </m:r>
                              </m:sub>
                            </m:sSub>
                          </m:num>
                          <m:den>
                            <m:sSub>
                              <m:sSubPr>
                                <m:ctrlPr>
                                  <a:rPr lang="fr-FR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fr-FR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fr-FR" i="1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sub>
                            </m:sSub>
                          </m:den>
                        </m:f>
                      </m:e>
                    </m:d>
                    <m:r>
                      <a:rPr lang="fr-FR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fr-FR" i="1">
                        <a:latin typeface="Cambria Math" panose="02040503050406030204" pitchFamily="18" charset="0"/>
                      </a:rPr>
                      <m:t>𝐸</m:t>
                    </m:r>
                    <m:d>
                      <m:dPr>
                        <m:ctrlPr>
                          <a:rPr lang="fr-FR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fr-FR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fr-FR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𝜀</m:t>
                            </m:r>
                          </m:e>
                          <m:sub>
                            <m:r>
                              <a:rPr lang="fr-FR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fr-FR" i="1">
                                <a:latin typeface="Cambria Math" panose="02040503050406030204" pitchFamily="18" charset="0"/>
                              </a:rPr>
                              <m:t>+1</m:t>
                            </m:r>
                          </m:sub>
                        </m:sSub>
                      </m:e>
                    </m:d>
                    <m:r>
                      <a:rPr lang="fr-FR" i="1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endParaRPr lang="fr-FR" b="0" i="1" dirty="0" smtClean="0"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2" name="ZoneTexte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3528" y="4725144"/>
                <a:ext cx="9217024" cy="1015663"/>
              </a:xfrm>
              <a:prstGeom prst="rect">
                <a:avLst/>
              </a:prstGeom>
              <a:blipFill rotWithShape="0">
                <a:blip r:embed="rId6"/>
                <a:stretch>
                  <a:fillRect l="-661" b="-64671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ZoneTexte 12"/>
              <p:cNvSpPr txBox="1"/>
              <p:nvPr/>
            </p:nvSpPr>
            <p:spPr>
              <a:xfrm>
                <a:off x="323528" y="6049451"/>
                <a:ext cx="7992888" cy="40562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fr-FR" dirty="0" smtClean="0"/>
                  <a:t>De même on démontre que </a:t>
                </a:r>
                <a14:m>
                  <m:oMath xmlns:m="http://schemas.openxmlformats.org/officeDocument/2006/math">
                    <m:r>
                      <a:rPr lang="fr-FR" b="0" i="1" smtClean="0">
                        <a:latin typeface="Cambria Math" panose="02040503050406030204" pitchFamily="18" charset="0"/>
                      </a:rPr>
                      <m:t>𝐸</m:t>
                    </m:r>
                    <m:d>
                      <m:dPr>
                        <m:ctrlPr>
                          <a:rPr lang="fr-FR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lin"/>
                            <m:ctrlPr>
                              <a:rPr lang="fr-FR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b>
                              <m:sSubPr>
                                <m:ctrlPr>
                                  <a:rPr lang="fr-FR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fr-FR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fr-FR" b="0" i="1" smtClean="0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  <m:r>
                                  <a:rPr lang="fr-FR" b="0" i="1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fr-FR" b="0" i="1" smtClean="0">
                                    <a:latin typeface="Cambria Math" panose="02040503050406030204" pitchFamily="18" charset="0"/>
                                  </a:rPr>
                                  <m:t>h</m:t>
                                </m:r>
                              </m:sub>
                            </m:sSub>
                          </m:num>
                          <m:den>
                            <m:sSub>
                              <m:sSubPr>
                                <m:ctrlPr>
                                  <a:rPr lang="fr-FR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fr-FR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fr-FR" b="0" i="1" smtClean="0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sub>
                            </m:sSub>
                          </m:den>
                        </m:f>
                      </m:e>
                    </m:d>
                    <m:r>
                      <a:rPr lang="fr-FR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fr-FR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fr-FR" b="0" i="1" smtClean="0"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p>
                        <m:r>
                          <a:rPr lang="fr-FR" b="0" i="1" smtClean="0">
                            <a:latin typeface="Cambria Math" panose="02040503050406030204" pitchFamily="18" charset="0"/>
                          </a:rPr>
                          <m:t>h</m:t>
                        </m:r>
                      </m:sup>
                    </m:sSup>
                    <m:sSub>
                      <m:sSubPr>
                        <m:ctrlPr>
                          <a:rPr lang="fr-FR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fr-FR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endParaRPr lang="fr-FR" dirty="0"/>
              </a:p>
            </p:txBody>
          </p:sp>
        </mc:Choice>
        <mc:Fallback xmlns="">
          <p:sp>
            <p:nvSpPr>
              <p:cNvPr id="13" name="ZoneTexte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3528" y="6049451"/>
                <a:ext cx="7992888" cy="405624"/>
              </a:xfrm>
              <a:prstGeom prst="rect">
                <a:avLst/>
              </a:prstGeom>
              <a:blipFill rotWithShape="0">
                <a:blip r:embed="rId7"/>
                <a:stretch>
                  <a:fillRect l="-763" t="-111940" b="-176119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989066899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ZoneTexte 1"/>
              <p:cNvSpPr txBox="1"/>
              <p:nvPr/>
            </p:nvSpPr>
            <p:spPr>
              <a:xfrm>
                <a:off x="179512" y="260648"/>
                <a:ext cx="7776864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fr-FR" dirty="0" smtClean="0"/>
                  <a:t>Calcul de </a:t>
                </a:r>
                <a14:m>
                  <m:oMath xmlns:m="http://schemas.openxmlformats.org/officeDocument/2006/math">
                    <m:r>
                      <a:rPr lang="fr-FR" b="0" i="1" smtClean="0">
                        <a:latin typeface="Cambria Math" panose="02040503050406030204" pitchFamily="18" charset="0"/>
                      </a:rPr>
                      <m:t>𝑉</m:t>
                    </m:r>
                    <m:d>
                      <m:dPr>
                        <m:ctrlPr>
                          <a:rPr lang="fr-FR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lin"/>
                            <m:ctrlPr>
                              <a:rPr lang="fr-FR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b>
                              <m:sSubPr>
                                <m:ctrlPr>
                                  <a:rPr lang="fr-FR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fr-FR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fr-FR" b="0" i="1" smtClean="0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  <m:r>
                                  <a:rPr lang="fr-FR" b="0" i="1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fr-FR" b="0" i="1" smtClean="0">
                                    <a:latin typeface="Cambria Math" panose="02040503050406030204" pitchFamily="18" charset="0"/>
                                  </a:rPr>
                                  <m:t>h</m:t>
                                </m:r>
                              </m:sub>
                            </m:sSub>
                          </m:num>
                          <m:den>
                            <m:sSub>
                              <m:sSubPr>
                                <m:ctrlPr>
                                  <a:rPr lang="fr-FR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fr-FR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fr-FR" b="0" i="1" smtClean="0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sub>
                            </m:sSub>
                          </m:den>
                        </m:f>
                      </m:e>
                    </m:d>
                  </m:oMath>
                </a14:m>
                <a:endParaRPr lang="fr-FR" dirty="0"/>
              </a:p>
            </p:txBody>
          </p:sp>
        </mc:Choice>
        <mc:Fallback xmlns="">
          <p:sp>
            <p:nvSpPr>
              <p:cNvPr id="2" name="ZoneTexte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9512" y="260648"/>
                <a:ext cx="7776864" cy="400110"/>
              </a:xfrm>
              <a:prstGeom prst="rect">
                <a:avLst/>
              </a:prstGeom>
              <a:blipFill rotWithShape="0">
                <a:blip r:embed="rId2"/>
                <a:stretch>
                  <a:fillRect l="-784" t="-115385" b="-184615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ZoneTexte 2"/>
              <p:cNvSpPr txBox="1"/>
              <p:nvPr/>
            </p:nvSpPr>
            <p:spPr>
              <a:xfrm>
                <a:off x="107504" y="764704"/>
                <a:ext cx="9001000" cy="95866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fr-FR" b="0" i="1" smtClean="0">
                        <a:latin typeface="Cambria Math" panose="02040503050406030204" pitchFamily="18" charset="0"/>
                      </a:rPr>
                      <m:t>𝑉</m:t>
                    </m:r>
                    <m:d>
                      <m:dPr>
                        <m:ctrlPr>
                          <a:rPr lang="fr-FR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lin"/>
                            <m:ctrlPr>
                              <a:rPr lang="fr-FR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b>
                              <m:sSubPr>
                                <m:ctrlPr>
                                  <a:rPr lang="fr-FR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fr-FR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fr-FR" i="1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  <m:r>
                                  <a:rPr lang="fr-FR" i="1">
                                    <a:latin typeface="Cambria Math" panose="02040503050406030204" pitchFamily="18" charset="0"/>
                                  </a:rPr>
                                  <m:t>+1</m:t>
                                </m:r>
                              </m:sub>
                            </m:sSub>
                          </m:num>
                          <m:den>
                            <m:sSub>
                              <m:sSubPr>
                                <m:ctrlPr>
                                  <a:rPr lang="fr-FR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fr-FR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fr-FR" i="1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sub>
                            </m:sSub>
                          </m:den>
                        </m:f>
                      </m:e>
                    </m:d>
                    <m:r>
                      <a:rPr lang="fr-FR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fr-FR" b="0" i="1" smtClean="0">
                        <a:latin typeface="Cambria Math" panose="02040503050406030204" pitchFamily="18" charset="0"/>
                      </a:rPr>
                      <m:t>𝑉</m:t>
                    </m:r>
                    <m:d>
                      <m:dPr>
                        <m:ctrlPr>
                          <a:rPr lang="fr-FR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lin"/>
                            <m:ctrlPr>
                              <a:rPr lang="fr-FR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fr-FR" i="1">
                                <a:latin typeface="Cambria Math" panose="02040503050406030204" pitchFamily="18" charset="0"/>
                              </a:rPr>
                              <m:t>𝐹</m:t>
                            </m:r>
                            <m:sSub>
                              <m:sSubPr>
                                <m:ctrlPr>
                                  <a:rPr lang="fr-FR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fr-FR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fr-FR" i="1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sub>
                            </m:sSub>
                            <m:r>
                              <a:rPr lang="fr-FR" i="1"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fr-FR" i="1">
                                <a:latin typeface="Cambria Math" panose="02040503050406030204" pitchFamily="18" charset="0"/>
                              </a:rPr>
                              <m:t>𝑔</m:t>
                            </m:r>
                            <m:sSub>
                              <m:sSubPr>
                                <m:ctrlPr>
                                  <a:rPr lang="fr-FR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fr-FR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𝜀</m:t>
                                </m:r>
                              </m:e>
                              <m:sub>
                                <m:r>
                                  <a:rPr lang="fr-FR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𝑛</m:t>
                                </m:r>
                                <m:r>
                                  <a:rPr lang="fr-FR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+1</m:t>
                                </m:r>
                              </m:sub>
                            </m:sSub>
                          </m:num>
                          <m:den>
                            <m:sSub>
                              <m:sSubPr>
                                <m:ctrlPr>
                                  <a:rPr lang="fr-FR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fr-FR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fr-FR" i="1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sub>
                            </m:sSub>
                          </m:den>
                        </m:f>
                      </m:e>
                    </m:d>
                    <m:r>
                      <a:rPr lang="fr-FR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fr-FR" b="0" i="1" smtClean="0">
                        <a:latin typeface="Cambria Math" panose="02040503050406030204" pitchFamily="18" charset="0"/>
                      </a:rPr>
                      <m:t>𝑉</m:t>
                    </m:r>
                    <m:d>
                      <m:dPr>
                        <m:ctrlPr>
                          <a:rPr lang="fr-FR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lin"/>
                            <m:ctrlPr>
                              <a:rPr lang="fr-FR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fr-FR" i="1">
                                <a:latin typeface="Cambria Math" panose="02040503050406030204" pitchFamily="18" charset="0"/>
                              </a:rPr>
                              <m:t>𝑔</m:t>
                            </m:r>
                            <m:sSub>
                              <m:sSubPr>
                                <m:ctrlPr>
                                  <a:rPr lang="fr-FR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fr-FR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𝜀</m:t>
                                </m:r>
                              </m:e>
                              <m:sub>
                                <m:r>
                                  <a:rPr lang="fr-FR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𝑛</m:t>
                                </m:r>
                                <m:r>
                                  <a:rPr lang="fr-FR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+1</m:t>
                                </m:r>
                              </m:sub>
                            </m:sSub>
                          </m:num>
                          <m:den>
                            <m:sSub>
                              <m:sSubPr>
                                <m:ctrlPr>
                                  <a:rPr lang="fr-FR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fr-FR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fr-FR" i="1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sub>
                            </m:sSub>
                          </m:den>
                        </m:f>
                      </m:e>
                    </m:d>
                  </m:oMath>
                </a14:m>
                <a:r>
                  <a:rPr lang="fr-FR" dirty="0" smtClean="0"/>
                  <a:t> car </a:t>
                </a:r>
                <a14:m>
                  <m:oMath xmlns:m="http://schemas.openxmlformats.org/officeDocument/2006/math">
                    <m:r>
                      <a:rPr lang="fr-FR" b="0" i="1" smtClean="0">
                        <a:latin typeface="Cambria Math" panose="02040503050406030204" pitchFamily="18" charset="0"/>
                      </a:rPr>
                      <m:t>𝑉</m:t>
                    </m:r>
                    <m:d>
                      <m:dPr>
                        <m:ctrlPr>
                          <a:rPr lang="fr-FR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lin"/>
                            <m:ctrlPr>
                              <a:rPr lang="fr-FR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fr-FR" b="0" i="1" smtClean="0">
                                <a:latin typeface="Cambria Math" panose="02040503050406030204" pitchFamily="18" charset="0"/>
                              </a:rPr>
                              <m:t>𝐹</m:t>
                            </m:r>
                            <m:sSub>
                              <m:sSubPr>
                                <m:ctrlPr>
                                  <a:rPr lang="fr-FR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fr-FR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fr-FR" b="0" i="1" smtClean="0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sub>
                            </m:sSub>
                          </m:num>
                          <m:den>
                            <m:sSub>
                              <m:sSubPr>
                                <m:ctrlPr>
                                  <a:rPr lang="fr-FR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fr-FR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fr-FR" b="0" i="1" smtClean="0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sub>
                            </m:sSub>
                          </m:den>
                        </m:f>
                      </m:e>
                    </m:d>
                    <m:r>
                      <a:rPr lang="fr-FR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fr-FR" b="0" i="1" smtClean="0">
                        <a:latin typeface="Cambria Math" panose="02040503050406030204" pitchFamily="18" charset="0"/>
                      </a:rPr>
                      <m:t>𝑉</m:t>
                    </m:r>
                    <m:d>
                      <m:dPr>
                        <m:ctrlPr>
                          <a:rPr lang="fr-FR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fr-FR" b="0" i="1" smtClean="0">
                            <a:latin typeface="Cambria Math" panose="02040503050406030204" pitchFamily="18" charset="0"/>
                          </a:rPr>
                          <m:t>𝑐𝑠𝑡</m:t>
                        </m:r>
                      </m:e>
                    </m:d>
                    <m:r>
                      <a:rPr lang="fr-FR" b="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fr-FR" dirty="0" smtClean="0"/>
                  <a:t> et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fr-F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𝜀</m:t>
                        </m:r>
                      </m:e>
                      <m:sub>
                        <m:r>
                          <a:rPr lang="fr-FR" i="1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fr-FR" i="1"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</m:sSub>
                  </m:oMath>
                </a14:m>
                <a:r>
                  <a:rPr lang="fr-FR" i="1" dirty="0">
                    <a:latin typeface="Cambria Math" panose="02040503050406030204" pitchFamily="18" charset="0"/>
                  </a:rPr>
                  <a:t> </a:t>
                </a:r>
                <a:r>
                  <a:rPr lang="fr-FR" dirty="0">
                    <a:latin typeface="Cambria Math" panose="02040503050406030204" pitchFamily="18" charset="0"/>
                  </a:rPr>
                  <a:t>et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fr-F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fr-FR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fr-FR" i="1" dirty="0">
                    <a:latin typeface="Cambria Math" panose="02040503050406030204" pitchFamily="18" charset="0"/>
                  </a:rPr>
                  <a:t> </a:t>
                </a:r>
                <a:r>
                  <a:rPr lang="fr-FR" dirty="0">
                    <a:latin typeface="Cambria Math" panose="02040503050406030204" pitchFamily="18" charset="0"/>
                  </a:rPr>
                  <a:t>sont </a:t>
                </a:r>
                <a:r>
                  <a:rPr lang="fr-FR" dirty="0" smtClean="0">
                    <a:latin typeface="Cambria Math" panose="02040503050406030204" pitchFamily="18" charset="0"/>
                  </a:rPr>
                  <a:t>indépendants</a:t>
                </a:r>
                <a:endParaRPr lang="fr-FR" dirty="0"/>
              </a:p>
            </p:txBody>
          </p:sp>
        </mc:Choice>
        <mc:Fallback xmlns="">
          <p:sp>
            <p:nvSpPr>
              <p:cNvPr id="3" name="ZoneTexte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7504" y="764704"/>
                <a:ext cx="9001000" cy="958660"/>
              </a:xfrm>
              <a:prstGeom prst="rect">
                <a:avLst/>
              </a:prstGeom>
              <a:blipFill rotWithShape="0">
                <a:blip r:embed="rId3"/>
                <a:stretch>
                  <a:fillRect l="-745" t="-37975" b="-26582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ZoneTexte 3"/>
              <p:cNvSpPr txBox="1"/>
              <p:nvPr/>
            </p:nvSpPr>
            <p:spPr>
              <a:xfrm>
                <a:off x="179512" y="1844824"/>
                <a:ext cx="8352928" cy="95866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fr-FR" dirty="0" smtClean="0"/>
                  <a:t>Donc </a:t>
                </a:r>
                <a14:m>
                  <m:oMath xmlns:m="http://schemas.openxmlformats.org/officeDocument/2006/math">
                    <m:r>
                      <a:rPr lang="fr-FR" b="0" i="1" smtClean="0">
                        <a:latin typeface="Cambria Math" panose="02040503050406030204" pitchFamily="18" charset="0"/>
                      </a:rPr>
                      <m:t>𝑉</m:t>
                    </m:r>
                    <m:d>
                      <m:dPr>
                        <m:ctrlPr>
                          <a:rPr lang="fr-FR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lin"/>
                            <m:ctrlPr>
                              <a:rPr lang="fr-FR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fr-FR" i="1">
                                <a:latin typeface="Cambria Math" panose="02040503050406030204" pitchFamily="18" charset="0"/>
                              </a:rPr>
                              <m:t>𝑔</m:t>
                            </m:r>
                            <m:sSub>
                              <m:sSubPr>
                                <m:ctrlPr>
                                  <a:rPr lang="fr-FR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fr-FR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𝜀</m:t>
                                </m:r>
                              </m:e>
                              <m:sub>
                                <m:r>
                                  <a:rPr lang="fr-FR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𝑛</m:t>
                                </m:r>
                                <m:r>
                                  <a:rPr lang="fr-FR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+1</m:t>
                                </m:r>
                              </m:sub>
                            </m:sSub>
                          </m:num>
                          <m:den>
                            <m:sSub>
                              <m:sSubPr>
                                <m:ctrlPr>
                                  <a:rPr lang="fr-FR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fr-FR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fr-FR" i="1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sub>
                            </m:sSub>
                          </m:den>
                        </m:f>
                      </m:e>
                    </m:d>
                    <m:r>
                      <a:rPr lang="fr-FR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fr-FR" b="0" i="1" smtClean="0">
                        <a:latin typeface="Cambria Math" panose="02040503050406030204" pitchFamily="18" charset="0"/>
                      </a:rPr>
                      <m:t>𝑉</m:t>
                    </m:r>
                    <m:d>
                      <m:dPr>
                        <m:ctrlPr>
                          <a:rPr lang="fr-FR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fr-FR" i="1">
                            <a:latin typeface="Cambria Math" panose="02040503050406030204" pitchFamily="18" charset="0"/>
                          </a:rPr>
                          <m:t>𝑔</m:t>
                        </m:r>
                        <m:sSub>
                          <m:sSubPr>
                            <m:ctrlPr>
                              <a:rPr lang="fr-FR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fr-FR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𝜀</m:t>
                            </m:r>
                          </m:e>
                          <m:sub>
                            <m:r>
                              <a:rPr lang="fr-FR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fr-FR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+1</m:t>
                            </m:r>
                          </m:sub>
                        </m:sSub>
                      </m:e>
                    </m:d>
                    <m:r>
                      <a:rPr lang="fr-FR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fr-FR" b="0" i="1" smtClean="0">
                        <a:latin typeface="Cambria Math" panose="02040503050406030204" pitchFamily="18" charset="0"/>
                      </a:rPr>
                      <m:t>𝑔</m:t>
                    </m:r>
                    <m:sSup>
                      <m:sSupPr>
                        <m:ctrlPr>
                          <a:rPr lang="fr-FR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fr-FR" b="0" i="1" smtClean="0"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p>
                        <m:r>
                          <a:rPr lang="fr-FR" b="0" i="1" smtClean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fr-FR" b="0" i="1" smtClean="0">
                        <a:latin typeface="Cambria Math" panose="02040503050406030204" pitchFamily="18" charset="0"/>
                      </a:rPr>
                      <m:t>𝑉</m:t>
                    </m:r>
                    <m:d>
                      <m:dPr>
                        <m:ctrlPr>
                          <a:rPr lang="fr-FR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fr-FR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fr-FR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𝜀</m:t>
                            </m:r>
                          </m:e>
                          <m:sub>
                            <m:r>
                              <a:rPr lang="fr-FR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fr-FR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+1</m:t>
                            </m:r>
                          </m:sub>
                        </m:sSub>
                      </m:e>
                    </m:d>
                    <m:r>
                      <a:rPr lang="fr-FR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fr-FR" b="0" i="1" smtClean="0">
                        <a:latin typeface="Cambria Math" panose="02040503050406030204" pitchFamily="18" charset="0"/>
                      </a:rPr>
                      <m:t>𝑔𝑔</m:t>
                    </m:r>
                    <m:r>
                      <a:rPr lang="fr-FR" b="0" i="1" smtClean="0">
                        <a:latin typeface="Cambria Math" panose="02040503050406030204" pitchFamily="18" charset="0"/>
                      </a:rPr>
                      <m:t>′</m:t>
                    </m:r>
                    <m:sSup>
                      <m:sSupPr>
                        <m:ctrlPr>
                          <a:rPr lang="fr-FR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fr-F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𝜎</m:t>
                        </m:r>
                      </m:e>
                      <m:sup>
                        <m:r>
                          <a:rPr lang="fr-FR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fr-FR" dirty="0" smtClean="0"/>
                  <a:t>, </a:t>
                </a:r>
                <a:r>
                  <a:rPr lang="fr-FR" dirty="0" err="1" smtClean="0"/>
                  <a:t>gg</a:t>
                </a:r>
                <a:r>
                  <a:rPr lang="fr-FR" dirty="0" smtClean="0"/>
                  <a:t>’ étant une matrice carré d’ordre m</a:t>
                </a:r>
                <a:endParaRPr lang="fr-FR" dirty="0"/>
              </a:p>
            </p:txBody>
          </p:sp>
        </mc:Choice>
        <mc:Fallback xmlns="">
          <p:sp>
            <p:nvSpPr>
              <p:cNvPr id="4" name="ZoneTexte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9512" y="1844824"/>
                <a:ext cx="8352928" cy="958660"/>
              </a:xfrm>
              <a:prstGeom prst="rect">
                <a:avLst/>
              </a:prstGeom>
              <a:blipFill rotWithShape="0">
                <a:blip r:embed="rId4"/>
                <a:stretch>
                  <a:fillRect l="-729" t="-38217" b="-27389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ZoneTexte 4"/>
              <p:cNvSpPr txBox="1"/>
              <p:nvPr/>
            </p:nvSpPr>
            <p:spPr>
              <a:xfrm>
                <a:off x="251520" y="2924944"/>
                <a:ext cx="8136904" cy="9585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i="1" smtClean="0">
                          <a:latin typeface="Cambria Math" panose="02040503050406030204" pitchFamily="18" charset="0"/>
                        </a:rPr>
                        <m:t>𝑉</m:t>
                      </m:r>
                      <m:d>
                        <m:dPr>
                          <m:ctrlPr>
                            <a:rPr lang="fr-FR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type m:val="lin"/>
                              <m:ctrlPr>
                                <a:rPr lang="fr-FR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fr-FR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fr-FR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fr-FR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  <m:r>
                                    <a:rPr lang="fr-FR" i="1">
                                      <a:latin typeface="Cambria Math" panose="02040503050406030204" pitchFamily="18" charset="0"/>
                                    </a:rPr>
                                    <m:t>+2</m:t>
                                  </m:r>
                                </m:sub>
                              </m:sSub>
                            </m:num>
                            <m:den>
                              <m:sSub>
                                <m:sSubPr>
                                  <m:ctrlPr>
                                    <a:rPr lang="fr-FR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fr-FR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fr-FR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b>
                              </m:sSub>
                            </m:den>
                          </m:f>
                        </m:e>
                      </m:d>
                      <m:r>
                        <a:rPr lang="fr-FR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fr-FR" i="1">
                          <a:latin typeface="Cambria Math" panose="02040503050406030204" pitchFamily="18" charset="0"/>
                        </a:rPr>
                        <m:t>𝑉</m:t>
                      </m:r>
                      <m:d>
                        <m:dPr>
                          <m:ctrlPr>
                            <a:rPr lang="fr-FR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type m:val="lin"/>
                              <m:ctrlPr>
                                <a:rPr lang="fr-FR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fr-FR" i="1">
                                  <a:latin typeface="Cambria Math" panose="02040503050406030204" pitchFamily="18" charset="0"/>
                                </a:rPr>
                                <m:t>𝐹</m:t>
                              </m:r>
                              <m:sSub>
                                <m:sSubPr>
                                  <m:ctrlPr>
                                    <a:rPr lang="fr-FR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fr-FR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fr-FR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  <m:r>
                                    <a:rPr lang="fr-FR" b="0" i="1" smtClean="0">
                                      <a:latin typeface="Cambria Math" panose="02040503050406030204" pitchFamily="18" charset="0"/>
                                    </a:rPr>
                                    <m:t>+1</m:t>
                                  </m:r>
                                </m:sub>
                              </m:sSub>
                              <m:r>
                                <a:rPr lang="fr-FR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fr-FR" i="1">
                                  <a:latin typeface="Cambria Math" panose="02040503050406030204" pitchFamily="18" charset="0"/>
                                </a:rPr>
                                <m:t>𝑔</m:t>
                              </m:r>
                              <m:sSub>
                                <m:sSubPr>
                                  <m:ctrlPr>
                                    <a:rPr lang="fr-FR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fr-FR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𝜀</m:t>
                                  </m:r>
                                </m:e>
                                <m:sub>
                                  <m:r>
                                    <a:rPr lang="fr-FR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𝑛</m:t>
                                  </m:r>
                                  <m:r>
                                    <a:rPr lang="fr-FR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+2</m:t>
                                  </m:r>
                                </m:sub>
                              </m:sSub>
                            </m:num>
                            <m:den>
                              <m:sSub>
                                <m:sSubPr>
                                  <m:ctrlPr>
                                    <a:rPr lang="fr-FR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fr-FR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fr-FR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b>
                              </m:sSub>
                            </m:den>
                          </m:f>
                        </m:e>
                      </m:d>
                      <m:r>
                        <a:rPr lang="fr-FR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𝑉</m:t>
                      </m:r>
                      <m:d>
                        <m:dPr>
                          <m:ctrlPr>
                            <a:rPr lang="fr-FR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type m:val="lin"/>
                              <m:ctrlPr>
                                <a:rPr lang="fr-FR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fr-FR" i="1">
                                  <a:latin typeface="Cambria Math" panose="02040503050406030204" pitchFamily="18" charset="0"/>
                                </a:rPr>
                                <m:t>𝐹</m:t>
                              </m:r>
                              <m:sSub>
                                <m:sSubPr>
                                  <m:ctrlPr>
                                    <a:rPr lang="fr-FR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fr-FR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fr-FR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  <m:r>
                                    <a:rPr lang="fr-FR" i="1">
                                      <a:latin typeface="Cambria Math" panose="02040503050406030204" pitchFamily="18" charset="0"/>
                                    </a:rPr>
                                    <m:t>+1</m:t>
                                  </m:r>
                                </m:sub>
                              </m:sSub>
                            </m:num>
                            <m:den>
                              <m:sSub>
                                <m:sSubPr>
                                  <m:ctrlPr>
                                    <a:rPr lang="fr-FR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fr-FR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fr-FR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b>
                              </m:sSub>
                            </m:den>
                          </m:f>
                        </m:e>
                      </m:d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fr-FR" i="1">
                          <a:latin typeface="Cambria Math" panose="02040503050406030204" pitchFamily="18" charset="0"/>
                        </a:rPr>
                        <m:t>𝑉</m:t>
                      </m:r>
                      <m:d>
                        <m:dPr>
                          <m:ctrlPr>
                            <a:rPr lang="fr-FR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type m:val="lin"/>
                              <m:ctrlPr>
                                <a:rPr lang="fr-FR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fr-FR" i="1">
                                  <a:latin typeface="Cambria Math" panose="02040503050406030204" pitchFamily="18" charset="0"/>
                                </a:rPr>
                                <m:t>𝑔</m:t>
                              </m:r>
                              <m:sSub>
                                <m:sSubPr>
                                  <m:ctrlPr>
                                    <a:rPr lang="fr-FR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fr-FR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𝜀</m:t>
                                  </m:r>
                                </m:e>
                                <m:sub>
                                  <m:r>
                                    <a:rPr lang="fr-FR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𝑛</m:t>
                                  </m:r>
                                  <m:r>
                                    <a:rPr lang="fr-FR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+2</m:t>
                                  </m:r>
                                </m:sub>
                              </m:sSub>
                            </m:num>
                            <m:den>
                              <m:sSub>
                                <m:sSubPr>
                                  <m:ctrlPr>
                                    <a:rPr lang="fr-FR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fr-FR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fr-FR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b>
                              </m:sSub>
                            </m:den>
                          </m:f>
                        </m:e>
                      </m:d>
                    </m:oMath>
                  </m:oMathPara>
                </a14:m>
                <a:endParaRPr lang="fr-FR" dirty="0" smtClean="0"/>
              </a:p>
              <a:p>
                <a:pPr>
                  <a:lnSpc>
                    <a:spcPct val="150000"/>
                  </a:lnSpc>
                </a:pPr>
                <a:r>
                  <a:rPr lang="fr-FR" dirty="0" smtClean="0"/>
                  <a:t>                       </a:t>
                </a:r>
                <a14:m>
                  <m:oMath xmlns:m="http://schemas.openxmlformats.org/officeDocument/2006/math">
                    <m:r>
                      <a:rPr lang="fr-FR" b="0" i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fr-FR" b="0" i="1" smtClean="0">
                        <a:latin typeface="Cambria Math" panose="02040503050406030204" pitchFamily="18" charset="0"/>
                      </a:rPr>
                      <m:t>𝐹</m:t>
                    </m:r>
                    <m:r>
                      <a:rPr lang="fr-FR" i="1">
                        <a:latin typeface="Cambria Math" panose="02040503050406030204" pitchFamily="18" charset="0"/>
                      </a:rPr>
                      <m:t>𝑉</m:t>
                    </m:r>
                    <m:d>
                      <m:dPr>
                        <m:ctrlPr>
                          <a:rPr lang="fr-FR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lin"/>
                            <m:ctrlPr>
                              <a:rPr lang="fr-FR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b>
                              <m:sSubPr>
                                <m:ctrlPr>
                                  <a:rPr lang="fr-FR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fr-FR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fr-FR" i="1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  <m:r>
                                  <a:rPr lang="fr-FR" i="1">
                                    <a:latin typeface="Cambria Math" panose="02040503050406030204" pitchFamily="18" charset="0"/>
                                  </a:rPr>
                                  <m:t>+1</m:t>
                                </m:r>
                              </m:sub>
                            </m:sSub>
                          </m:num>
                          <m:den>
                            <m:sSub>
                              <m:sSubPr>
                                <m:ctrlPr>
                                  <a:rPr lang="fr-FR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fr-FR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fr-FR" i="1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sub>
                            </m:sSub>
                          </m:den>
                        </m:f>
                      </m:e>
                    </m:d>
                    <m:sSup>
                      <m:sSupPr>
                        <m:ctrlPr>
                          <a:rPr lang="fr-FR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fr-FR" b="0" i="1" smtClean="0"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p>
                        <m:r>
                          <a:rPr lang="fr-FR" b="0" i="1" smtClean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fr-FR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fr-FR" i="1">
                        <a:latin typeface="Cambria Math" panose="02040503050406030204" pitchFamily="18" charset="0"/>
                      </a:rPr>
                      <m:t>𝑔𝑔</m:t>
                    </m:r>
                    <m:r>
                      <a:rPr lang="fr-FR" i="1">
                        <a:latin typeface="Cambria Math" panose="02040503050406030204" pitchFamily="18" charset="0"/>
                      </a:rPr>
                      <m:t>′</m:t>
                    </m:r>
                    <m:sSup>
                      <m:sSupPr>
                        <m:ctrlPr>
                          <a:rPr lang="fr-FR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fr-F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𝜎</m:t>
                        </m:r>
                      </m:e>
                      <m:sup>
                        <m:r>
                          <a:rPr lang="fr-FR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fr-FR" dirty="0" smtClean="0"/>
                  <a:t> =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fr-FR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fr-FR" b="0" i="1" smtClean="0">
                            <a:latin typeface="Cambria Math" panose="02040503050406030204" pitchFamily="18" charset="0"/>
                          </a:rPr>
                          <m:t>𝐹𝑔</m:t>
                        </m:r>
                        <m:sSup>
                          <m:sSupPr>
                            <m:ctrlPr>
                              <a:rPr lang="fr-FR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fr-FR" b="0" i="1" smtClean="0">
                                <a:latin typeface="Cambria Math" panose="02040503050406030204" pitchFamily="18" charset="0"/>
                              </a:rPr>
                              <m:t>𝑔</m:t>
                            </m:r>
                          </m:e>
                          <m:sup>
                            <m:r>
                              <a:rPr lang="fr-FR" b="0" i="1" smtClean="0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  <m:sSup>
                          <m:sSupPr>
                            <m:ctrlPr>
                              <a:rPr lang="fr-FR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fr-FR" b="0" i="1" smtClean="0">
                                <a:latin typeface="Cambria Math" panose="02040503050406030204" pitchFamily="18" charset="0"/>
                              </a:rPr>
                              <m:t>𝐹</m:t>
                            </m:r>
                          </m:e>
                          <m:sup>
                            <m:r>
                              <a:rPr lang="fr-FR" b="0" i="1" smtClean="0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  <m:r>
                          <a:rPr lang="fr-FR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fr-FR" b="0" i="1" smtClean="0">
                            <a:latin typeface="Cambria Math" panose="02040503050406030204" pitchFamily="18" charset="0"/>
                          </a:rPr>
                          <m:t>𝑔𝑔</m:t>
                        </m:r>
                        <m:r>
                          <a:rPr lang="fr-FR" b="0" i="1" smtClean="0">
                            <a:latin typeface="Cambria Math" panose="02040503050406030204" pitchFamily="18" charset="0"/>
                          </a:rPr>
                          <m:t>′</m:t>
                        </m:r>
                      </m:e>
                    </m:d>
                    <m:sSup>
                      <m:sSupPr>
                        <m:ctrlPr>
                          <a:rPr lang="fr-FR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fr-F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𝜎</m:t>
                        </m:r>
                      </m:e>
                      <m:sup>
                        <m:r>
                          <a:rPr lang="fr-FR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lang="fr-FR" dirty="0"/>
              </a:p>
            </p:txBody>
          </p:sp>
        </mc:Choice>
        <mc:Fallback xmlns="">
          <p:sp>
            <p:nvSpPr>
              <p:cNvPr id="5" name="ZoneTexte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1520" y="2924944"/>
                <a:ext cx="8136904" cy="958532"/>
              </a:xfrm>
              <a:prstGeom prst="rect">
                <a:avLst/>
              </a:prstGeom>
              <a:blipFill rotWithShape="0">
                <a:blip r:embed="rId5"/>
                <a:stretch>
                  <a:fillRect b="-75159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ZoneTexte 6"/>
              <p:cNvSpPr txBox="1"/>
              <p:nvPr/>
            </p:nvSpPr>
            <p:spPr>
              <a:xfrm>
                <a:off x="107504" y="4077072"/>
                <a:ext cx="8892480" cy="75886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i="1" smtClean="0">
                          <a:latin typeface="Cambria Math" panose="02040503050406030204" pitchFamily="18" charset="0"/>
                        </a:rPr>
                        <m:t>𝑉</m:t>
                      </m:r>
                      <m:d>
                        <m:dPr>
                          <m:ctrlPr>
                            <a:rPr lang="fr-FR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type m:val="lin"/>
                              <m:ctrlPr>
                                <a:rPr lang="fr-FR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fr-FR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fr-FR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fr-FR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  <m:r>
                                    <a:rPr lang="fr-FR" i="1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r>
                                    <a:rPr lang="fr-FR" b="0" i="1" smtClean="0">
                                      <a:latin typeface="Cambria Math" panose="02040503050406030204" pitchFamily="18" charset="0"/>
                                    </a:rPr>
                                    <m:t>h</m:t>
                                  </m:r>
                                </m:sub>
                              </m:sSub>
                            </m:num>
                            <m:den>
                              <m:sSub>
                                <m:sSubPr>
                                  <m:ctrlPr>
                                    <a:rPr lang="fr-FR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fr-FR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fr-FR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b>
                              </m:sSub>
                            </m:den>
                          </m:f>
                        </m:e>
                      </m:d>
                      <m:r>
                        <a:rPr lang="fr-FR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fr-FR" i="1">
                          <a:latin typeface="Cambria Math" panose="02040503050406030204" pitchFamily="18" charset="0"/>
                        </a:rPr>
                        <m:t>𝑉</m:t>
                      </m:r>
                      <m:d>
                        <m:dPr>
                          <m:ctrlPr>
                            <a:rPr lang="fr-FR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type m:val="lin"/>
                              <m:ctrlPr>
                                <a:rPr lang="fr-FR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fr-FR" i="1">
                                  <a:latin typeface="Cambria Math" panose="02040503050406030204" pitchFamily="18" charset="0"/>
                                </a:rPr>
                                <m:t>𝐹</m:t>
                              </m:r>
                              <m:sSub>
                                <m:sSubPr>
                                  <m:ctrlPr>
                                    <a:rPr lang="fr-FR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fr-FR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fr-FR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  <m:r>
                                    <a:rPr lang="fr-FR" i="1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r>
                                    <a:rPr lang="fr-FR" b="0" i="1" smtClean="0">
                                      <a:latin typeface="Cambria Math" panose="02040503050406030204" pitchFamily="18" charset="0"/>
                                    </a:rPr>
                                    <m:t>h</m:t>
                                  </m:r>
                                  <m:r>
                                    <a:rPr lang="fr-FR" b="0" i="1" smtClean="0">
                                      <a:latin typeface="Cambria Math" panose="02040503050406030204" pitchFamily="18" charset="0"/>
                                    </a:rPr>
                                    <m:t>−1</m:t>
                                  </m:r>
                                </m:sub>
                              </m:sSub>
                              <m:r>
                                <a:rPr lang="fr-FR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fr-FR" i="1">
                                  <a:latin typeface="Cambria Math" panose="02040503050406030204" pitchFamily="18" charset="0"/>
                                </a:rPr>
                                <m:t>𝑔</m:t>
                              </m:r>
                              <m:sSub>
                                <m:sSubPr>
                                  <m:ctrlPr>
                                    <a:rPr lang="fr-FR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fr-FR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𝜀</m:t>
                                  </m:r>
                                </m:e>
                                <m:sub>
                                  <m:r>
                                    <a:rPr lang="fr-FR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𝑛</m:t>
                                  </m:r>
                                  <m:r>
                                    <a:rPr lang="fr-FR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+</m:t>
                                  </m:r>
                                  <m:r>
                                    <a:rPr lang="fr-FR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h</m:t>
                                  </m:r>
                                </m:sub>
                              </m:sSub>
                            </m:num>
                            <m:den>
                              <m:sSub>
                                <m:sSubPr>
                                  <m:ctrlPr>
                                    <a:rPr lang="fr-FR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fr-FR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fr-FR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b>
                              </m:sSub>
                            </m:den>
                          </m:f>
                        </m:e>
                      </m:d>
                      <m:r>
                        <a:rPr lang="fr-FR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fr-FR" i="1">
                          <a:latin typeface="Cambria Math" panose="02040503050406030204" pitchFamily="18" charset="0"/>
                        </a:rPr>
                        <m:t>𝑉</m:t>
                      </m:r>
                      <m:d>
                        <m:dPr>
                          <m:ctrlPr>
                            <a:rPr lang="fr-FR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type m:val="lin"/>
                              <m:ctrlPr>
                                <a:rPr lang="fr-FR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fr-FR" i="1">
                                  <a:latin typeface="Cambria Math" panose="02040503050406030204" pitchFamily="18" charset="0"/>
                                </a:rPr>
                                <m:t>𝐹</m:t>
                              </m:r>
                              <m:sSub>
                                <m:sSubPr>
                                  <m:ctrlPr>
                                    <a:rPr lang="fr-FR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fr-FR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fr-FR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  <m:r>
                                    <a:rPr lang="fr-FR" i="1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r>
                                    <a:rPr lang="fr-FR" b="0" i="1" smtClean="0">
                                      <a:latin typeface="Cambria Math" panose="02040503050406030204" pitchFamily="18" charset="0"/>
                                    </a:rPr>
                                    <m:t>h</m:t>
                                  </m:r>
                                  <m:r>
                                    <a:rPr lang="fr-FR" b="0" i="1" smtClean="0">
                                      <a:latin typeface="Cambria Math" panose="02040503050406030204" pitchFamily="18" charset="0"/>
                                    </a:rPr>
                                    <m:t>−1</m:t>
                                  </m:r>
                                </m:sub>
                              </m:sSub>
                            </m:num>
                            <m:den>
                              <m:sSub>
                                <m:sSubPr>
                                  <m:ctrlPr>
                                    <a:rPr lang="fr-FR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fr-FR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fr-FR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b>
                              </m:sSub>
                            </m:den>
                          </m:f>
                        </m:e>
                      </m:d>
                      <m:r>
                        <a:rPr lang="fr-FR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fr-FR" i="1">
                          <a:latin typeface="Cambria Math" panose="02040503050406030204" pitchFamily="18" charset="0"/>
                        </a:rPr>
                        <m:t>𝑉</m:t>
                      </m:r>
                      <m:d>
                        <m:dPr>
                          <m:ctrlPr>
                            <a:rPr lang="fr-FR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type m:val="lin"/>
                              <m:ctrlPr>
                                <a:rPr lang="fr-FR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fr-FR" i="1">
                                  <a:latin typeface="Cambria Math" panose="02040503050406030204" pitchFamily="18" charset="0"/>
                                </a:rPr>
                                <m:t>𝑔</m:t>
                              </m:r>
                              <m:sSub>
                                <m:sSubPr>
                                  <m:ctrlPr>
                                    <a:rPr lang="fr-FR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fr-FR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𝜀</m:t>
                                  </m:r>
                                </m:e>
                                <m:sub>
                                  <m:r>
                                    <a:rPr lang="fr-FR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𝑛</m:t>
                                  </m:r>
                                  <m:r>
                                    <a:rPr lang="fr-FR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+</m:t>
                                  </m:r>
                                  <m:r>
                                    <a:rPr lang="fr-FR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h</m:t>
                                  </m:r>
                                </m:sub>
                              </m:sSub>
                            </m:num>
                            <m:den>
                              <m:sSub>
                                <m:sSubPr>
                                  <m:ctrlPr>
                                    <a:rPr lang="fr-FR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fr-FR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fr-FR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b>
                              </m:sSub>
                            </m:den>
                          </m:f>
                        </m:e>
                      </m:d>
                    </m:oMath>
                  </m:oMathPara>
                </a14:m>
                <a:endParaRPr lang="fr-FR" dirty="0" smtClean="0"/>
              </a:p>
              <a:p>
                <a:r>
                  <a:rPr lang="fr-FR" dirty="0" smtClean="0"/>
                  <a:t>                        </a:t>
                </a:r>
                <a14:m>
                  <m:oMath xmlns:m="http://schemas.openxmlformats.org/officeDocument/2006/math">
                    <m:r>
                      <a:rPr lang="fr-FR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fr-FR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nary>
                          <m:naryPr>
                            <m:chr m:val="∑"/>
                            <m:ctrlPr>
                              <a:rPr lang="fr-FR" i="1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m:rPr>
                                <m:brk m:alnAt="23"/>
                              </m:rPr>
                              <a:rPr lang="fr-FR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fr-FR" i="1">
                                <a:latin typeface="Cambria Math" panose="02040503050406030204" pitchFamily="18" charset="0"/>
                              </a:rPr>
                              <m:t>=0</m:t>
                            </m:r>
                          </m:sub>
                          <m:sup>
                            <m:r>
                              <a:rPr lang="fr-FR" i="1">
                                <a:latin typeface="Cambria Math" panose="02040503050406030204" pitchFamily="18" charset="0"/>
                              </a:rPr>
                              <m:t>h</m:t>
                            </m:r>
                            <m:r>
                              <a:rPr lang="fr-FR" i="1">
                                <a:latin typeface="Cambria Math" panose="02040503050406030204" pitchFamily="18" charset="0"/>
                              </a:rPr>
                              <m:t>−1</m:t>
                            </m:r>
                          </m:sup>
                          <m:e>
                            <m:sSup>
                              <m:sSupPr>
                                <m:ctrlPr>
                                  <a:rPr lang="fr-FR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fr-FR" i="1">
                                    <a:latin typeface="Cambria Math" panose="02040503050406030204" pitchFamily="18" charset="0"/>
                                  </a:rPr>
                                  <m:t>𝐹</m:t>
                                </m:r>
                              </m:e>
                              <m:sup>
                                <m:r>
                                  <a:rPr lang="fr-FR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p>
                            </m:sSup>
                            <m:r>
                              <a:rPr lang="fr-FR" i="1">
                                <a:latin typeface="Cambria Math" panose="02040503050406030204" pitchFamily="18" charset="0"/>
                              </a:rPr>
                              <m:t>𝑔𝑔</m:t>
                            </m:r>
                            <m:r>
                              <a:rPr lang="fr-FR" i="1">
                                <a:latin typeface="Cambria Math" panose="02040503050406030204" pitchFamily="18" charset="0"/>
                              </a:rPr>
                              <m:t>′</m:t>
                            </m:r>
                            <m:sSup>
                              <m:sSupPr>
                                <m:ctrlPr>
                                  <a:rPr lang="fr-FR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fr-FR" i="1">
                                    <a:latin typeface="Cambria Math" panose="02040503050406030204" pitchFamily="18" charset="0"/>
                                  </a:rPr>
                                  <m:t>𝐹</m:t>
                                </m:r>
                              </m:e>
                              <m:sup>
                                <m:r>
                                  <a:rPr lang="fr-FR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p>
                            </m:sSup>
                            <m:r>
                              <a:rPr lang="fr-FR" i="1">
                                <a:latin typeface="Cambria Math" panose="02040503050406030204" pitchFamily="18" charset="0"/>
                              </a:rPr>
                              <m:t>′</m:t>
                            </m:r>
                          </m:e>
                        </m:nary>
                      </m:e>
                    </m:d>
                    <m:sSup>
                      <m:sSupPr>
                        <m:ctrlPr>
                          <a:rPr lang="fr-FR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fr-F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𝜎</m:t>
                        </m:r>
                      </m:e>
                      <m:sup>
                        <m:r>
                          <a:rPr lang="fr-FR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fr-FR" dirty="0" smtClean="0"/>
                  <a:t> si </a:t>
                </a:r>
                <a14:m>
                  <m:oMath xmlns:m="http://schemas.openxmlformats.org/officeDocument/2006/math">
                    <m:r>
                      <a:rPr lang="fr-FR" i="1">
                        <a:latin typeface="Cambria Math" panose="02040503050406030204" pitchFamily="18" charset="0"/>
                      </a:rPr>
                      <m:t>h</m:t>
                    </m:r>
                    <m:r>
                      <a:rPr lang="fr-FR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≥2</m:t>
                    </m:r>
                  </m:oMath>
                </a14:m>
                <a:endParaRPr lang="fr-FR" dirty="0"/>
              </a:p>
            </p:txBody>
          </p:sp>
        </mc:Choice>
        <mc:Fallback xmlns="">
          <p:sp>
            <p:nvSpPr>
              <p:cNvPr id="7" name="ZoneTexte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7504" y="4077072"/>
                <a:ext cx="8892480" cy="758862"/>
              </a:xfrm>
              <a:prstGeom prst="rect">
                <a:avLst/>
              </a:prstGeom>
              <a:blipFill rotWithShape="0">
                <a:blip r:embed="rId6"/>
                <a:stretch>
                  <a:fillRect t="-60484" r="-412" b="-93548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ZoneTexte 7"/>
              <p:cNvSpPr txBox="1"/>
              <p:nvPr/>
            </p:nvSpPr>
            <p:spPr>
              <a:xfrm>
                <a:off x="395536" y="5118410"/>
                <a:ext cx="8496944" cy="7773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𝑉</m:t>
                      </m:r>
                      <m:d>
                        <m:dPr>
                          <m:ctrlPr>
                            <a:rPr lang="fr-FR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type m:val="lin"/>
                              <m:ctrlPr>
                                <a:rPr lang="fr-FR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fr-FR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fr-FR" b="0" i="1" smtClean="0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fr-FR" b="0" i="1" smtClean="0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  <m:r>
                                    <a:rPr lang="fr-FR" b="0" i="1" smtClean="0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r>
                                    <a:rPr lang="fr-FR" b="0" i="1" smtClean="0">
                                      <a:latin typeface="Cambria Math" panose="02040503050406030204" pitchFamily="18" charset="0"/>
                                    </a:rPr>
                                    <m:t>h</m:t>
                                  </m:r>
                                </m:sub>
                              </m:sSub>
                            </m:num>
                            <m:den>
                              <m:sSub>
                                <m:sSubPr>
                                  <m:ctrlPr>
                                    <a:rPr lang="fr-FR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fr-FR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fr-FR" b="0" i="1" smtClean="0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b>
                              </m:sSub>
                            </m:den>
                          </m:f>
                        </m:e>
                      </m:d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𝑉</m:t>
                      </m:r>
                      <m:d>
                        <m:dPr>
                          <m:ctrlPr>
                            <a:rPr lang="fr-FR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type m:val="lin"/>
                              <m:ctrlPr>
                                <a:rPr lang="fr-FR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p>
                                <m:sSupPr>
                                  <m:ctrlPr>
                                    <a:rPr lang="fr-FR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fr-FR" i="1">
                                      <a:latin typeface="Cambria Math" panose="02040503050406030204" pitchFamily="18" charset="0"/>
                                    </a:rPr>
                                    <m:t>𝑤</m:t>
                                  </m:r>
                                </m:e>
                                <m:sup>
                                  <m:r>
                                    <a:rPr lang="fr-FR" i="1">
                                      <a:latin typeface="Cambria Math" panose="02040503050406030204" pitchFamily="18" charset="0"/>
                                    </a:rPr>
                                    <m:t>′</m:t>
                                  </m:r>
                                </m:sup>
                              </m:sSup>
                              <m:sSub>
                                <m:sSubPr>
                                  <m:ctrlPr>
                                    <a:rPr lang="fr-FR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fr-FR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fr-FR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  <m:r>
                                    <a:rPr lang="fr-FR" i="1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r>
                                    <a:rPr lang="fr-FR" i="1">
                                      <a:latin typeface="Cambria Math" panose="02040503050406030204" pitchFamily="18" charset="0"/>
                                    </a:rPr>
                                    <m:t>h</m:t>
                                  </m:r>
                                  <m:r>
                                    <a:rPr lang="fr-FR" i="1">
                                      <a:latin typeface="Cambria Math" panose="02040503050406030204" pitchFamily="18" charset="0"/>
                                    </a:rPr>
                                    <m:t>−1</m:t>
                                  </m:r>
                                </m:sub>
                              </m:sSub>
                              <m:r>
                                <a:rPr lang="fr-FR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fr-FR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fr-FR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𝜀</m:t>
                                  </m:r>
                                </m:e>
                                <m:sub>
                                  <m:r>
                                    <a:rPr lang="fr-FR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  <m:r>
                                    <a:rPr lang="fr-FR" i="1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r>
                                    <a:rPr lang="fr-FR" i="1">
                                      <a:latin typeface="Cambria Math" panose="02040503050406030204" pitchFamily="18" charset="0"/>
                                    </a:rPr>
                                    <m:t>h</m:t>
                                  </m:r>
                                </m:sub>
                              </m:sSub>
                            </m:num>
                            <m:den>
                              <m:sSub>
                                <m:sSubPr>
                                  <m:ctrlPr>
                                    <a:rPr lang="fr-FR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fr-FR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fr-FR" b="0" i="1" smtClean="0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b>
                              </m:sSub>
                            </m:den>
                          </m:f>
                        </m:e>
                      </m:d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fr-FR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p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𝑉</m:t>
                      </m:r>
                      <m:d>
                        <m:dPr>
                          <m:ctrlPr>
                            <a:rPr lang="fr-FR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type m:val="lin"/>
                              <m:ctrlPr>
                                <a:rPr lang="fr-FR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fr-FR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fr-FR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fr-FR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  <m:r>
                                    <a:rPr lang="fr-FR" i="1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r>
                                    <a:rPr lang="fr-FR" i="1">
                                      <a:latin typeface="Cambria Math" panose="02040503050406030204" pitchFamily="18" charset="0"/>
                                    </a:rPr>
                                    <m:t>h</m:t>
                                  </m:r>
                                  <m:r>
                                    <a:rPr lang="fr-FR" i="1">
                                      <a:latin typeface="Cambria Math" panose="02040503050406030204" pitchFamily="18" charset="0"/>
                                    </a:rPr>
                                    <m:t>−1</m:t>
                                  </m:r>
                                </m:sub>
                              </m:sSub>
                            </m:num>
                            <m:den>
                              <m:sSub>
                                <m:sSubPr>
                                  <m:ctrlPr>
                                    <a:rPr lang="fr-FR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fr-FR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fr-FR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b>
                              </m:sSub>
                            </m:den>
                          </m:f>
                        </m:e>
                      </m:d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𝑤</m:t>
                      </m:r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𝑉</m:t>
                      </m:r>
                      <m:d>
                        <m:dPr>
                          <m:ctrlPr>
                            <a:rPr lang="fr-FR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type m:val="lin"/>
                              <m:ctrlPr>
                                <a:rPr lang="fr-FR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fr-FR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fr-FR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𝜀</m:t>
                                  </m:r>
                                </m:e>
                                <m:sub>
                                  <m:r>
                                    <a:rPr lang="fr-FR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  <m:r>
                                    <a:rPr lang="fr-FR" i="1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r>
                                    <a:rPr lang="fr-FR" i="1">
                                      <a:latin typeface="Cambria Math" panose="02040503050406030204" pitchFamily="18" charset="0"/>
                                    </a:rPr>
                                    <m:t>h</m:t>
                                  </m:r>
                                </m:sub>
                              </m:sSub>
                            </m:num>
                            <m:den>
                              <m:sSub>
                                <m:sSubPr>
                                  <m:ctrlPr>
                                    <a:rPr lang="fr-FR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fr-FR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fr-FR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b>
                              </m:sSub>
                            </m:den>
                          </m:f>
                        </m:e>
                      </m:d>
                    </m:oMath>
                  </m:oMathPara>
                </a14:m>
                <a:endParaRPr lang="fr-FR" dirty="0" smtClean="0"/>
              </a:p>
              <a:p>
                <a:r>
                  <a:rPr lang="fr-FR" dirty="0"/>
                  <a:t> </a:t>
                </a:r>
                <a:r>
                  <a:rPr lang="fr-FR" dirty="0" smtClean="0"/>
                  <a:t>                    </a:t>
                </a:r>
                <a14:m>
                  <m:oMath xmlns:m="http://schemas.openxmlformats.org/officeDocument/2006/math">
                    <m:r>
                      <a:rPr lang="fr-FR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fr-FR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fr-FR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fr-FR" b="0" i="1" smtClean="0"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p>
                            <m:r>
                              <a:rPr lang="fr-FR" b="0" i="1" smtClean="0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  <m:d>
                          <m:dPr>
                            <m:ctrlPr>
                              <a:rPr lang="fr-FR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fr-FR" b="0" i="1" smtClean="0">
                                <a:latin typeface="Cambria Math" panose="02040503050406030204" pitchFamily="18" charset="0"/>
                              </a:rPr>
                              <m:t> </m:t>
                            </m:r>
                            <m:nary>
                              <m:naryPr>
                                <m:chr m:val="∑"/>
                                <m:ctrlPr>
                                  <a:rPr lang="fr-FR" b="0" i="1" smtClean="0">
                                    <a:latin typeface="Cambria Math" panose="02040503050406030204" pitchFamily="18" charset="0"/>
                                  </a:rPr>
                                </m:ctrlPr>
                              </m:naryPr>
                              <m:sub>
                                <m:r>
                                  <m:rPr>
                                    <m:brk m:alnAt="23"/>
                                  </m:rPr>
                                  <a:rPr lang="fr-FR" b="0" i="1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  <m:r>
                                  <a:rPr lang="fr-FR" b="0" i="1" smtClean="0">
                                    <a:latin typeface="Cambria Math" panose="02040503050406030204" pitchFamily="18" charset="0"/>
                                  </a:rPr>
                                  <m:t>=0</m:t>
                                </m:r>
                              </m:sub>
                              <m:sup>
                                <m:r>
                                  <a:rPr lang="fr-FR" b="0" i="1" smtClean="0">
                                    <a:latin typeface="Cambria Math" panose="02040503050406030204" pitchFamily="18" charset="0"/>
                                  </a:rPr>
                                  <m:t>h</m:t>
                                </m:r>
                                <m:r>
                                  <a:rPr lang="fr-FR" b="0" i="1" smtClean="0">
                                    <a:latin typeface="Cambria Math" panose="02040503050406030204" pitchFamily="18" charset="0"/>
                                  </a:rPr>
                                  <m:t>−2</m:t>
                                </m:r>
                              </m:sup>
                              <m:e>
                                <m:sSup>
                                  <m:sSupPr>
                                    <m:ctrlPr>
                                      <a:rPr lang="fr-FR" i="1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fr-FR" i="1">
                                        <a:latin typeface="Cambria Math" panose="02040503050406030204" pitchFamily="18" charset="0"/>
                                      </a:rPr>
                                      <m:t>𝐹</m:t>
                                    </m:r>
                                  </m:e>
                                  <m:sup>
                                    <m:r>
                                      <a:rPr lang="fr-FR" i="1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p>
                                </m:sSup>
                                <m:r>
                                  <a:rPr lang="fr-FR" i="1">
                                    <a:latin typeface="Cambria Math" panose="02040503050406030204" pitchFamily="18" charset="0"/>
                                  </a:rPr>
                                  <m:t>𝑔</m:t>
                                </m:r>
                                <m:sSup>
                                  <m:sSupPr>
                                    <m:ctrlPr>
                                      <a:rPr lang="fr-FR" i="1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fr-FR" i="1">
                                        <a:latin typeface="Cambria Math" panose="02040503050406030204" pitchFamily="18" charset="0"/>
                                      </a:rPr>
                                      <m:t>𝑔</m:t>
                                    </m:r>
                                  </m:e>
                                  <m:sup>
                                    <m:r>
                                      <a:rPr lang="fr-FR" i="1">
                                        <a:latin typeface="Cambria Math" panose="02040503050406030204" pitchFamily="18" charset="0"/>
                                      </a:rPr>
                                      <m:t>′</m:t>
                                    </m:r>
                                  </m:sup>
                                </m:sSup>
                                <m:r>
                                  <a:rPr lang="fr-FR" i="1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sSup>
                                  <m:sSupPr>
                                    <m:ctrlPr>
                                      <a:rPr lang="fr-FR" i="1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fr-FR" i="1">
                                        <a:latin typeface="Cambria Math" panose="02040503050406030204" pitchFamily="18" charset="0"/>
                                      </a:rPr>
                                      <m:t>𝐹</m:t>
                                    </m:r>
                                  </m:e>
                                  <m:sup>
                                    <m:r>
                                      <a:rPr lang="fr-FR" i="1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p>
                                </m:sSup>
                                <m:r>
                                  <a:rPr lang="fr-FR" i="1">
                                    <a:latin typeface="Cambria Math" panose="02040503050406030204" pitchFamily="18" charset="0"/>
                                  </a:rPr>
                                  <m:t>′</m:t>
                                </m:r>
                              </m:e>
                            </m:nary>
                          </m:e>
                        </m:d>
                        <m:r>
                          <a:rPr lang="fr-FR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  <m:r>
                          <a:rPr lang="fr-FR" b="0" i="1" smtClean="0">
                            <a:latin typeface="Cambria Math" panose="02040503050406030204" pitchFamily="18" charset="0"/>
                          </a:rPr>
                          <m:t>+1</m:t>
                        </m:r>
                      </m:e>
                    </m:d>
                    <m:sSup>
                      <m:sSupPr>
                        <m:ctrlPr>
                          <a:rPr lang="fr-FR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fr-F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𝜎</m:t>
                        </m:r>
                      </m:e>
                      <m:sup>
                        <m:r>
                          <a:rPr lang="fr-FR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fr-FR" dirty="0" smtClean="0"/>
                  <a:t>  si </a:t>
                </a:r>
                <a14:m>
                  <m:oMath xmlns:m="http://schemas.openxmlformats.org/officeDocument/2006/math">
                    <m:r>
                      <a:rPr lang="fr-FR" b="0" i="1" smtClean="0">
                        <a:latin typeface="Cambria Math" panose="02040503050406030204" pitchFamily="18" charset="0"/>
                      </a:rPr>
                      <m:t>h</m:t>
                    </m:r>
                    <m:r>
                      <a:rPr lang="fr-F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≥2</m:t>
                    </m:r>
                  </m:oMath>
                </a14:m>
                <a:endParaRPr lang="fr-FR" dirty="0"/>
              </a:p>
            </p:txBody>
          </p:sp>
        </mc:Choice>
        <mc:Fallback xmlns="">
          <p:sp>
            <p:nvSpPr>
              <p:cNvPr id="8" name="ZoneTexte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5536" y="5118410"/>
                <a:ext cx="8496944" cy="777329"/>
              </a:xfrm>
              <a:prstGeom prst="rect">
                <a:avLst/>
              </a:prstGeom>
              <a:blipFill rotWithShape="0">
                <a:blip r:embed="rId7"/>
                <a:stretch>
                  <a:fillRect t="-59055" r="-3372" b="-88976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ZoneTexte 8"/>
              <p:cNvSpPr txBox="1"/>
              <p:nvPr/>
            </p:nvSpPr>
            <p:spPr>
              <a:xfrm>
                <a:off x="251520" y="6237312"/>
                <a:ext cx="8136904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𝑉</m:t>
                      </m:r>
                      <m:d>
                        <m:dPr>
                          <m:ctrlPr>
                            <a:rPr lang="fr-FR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type m:val="lin"/>
                              <m:ctrlPr>
                                <a:rPr lang="fr-FR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fr-FR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fr-FR" b="0" i="1" smtClean="0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fr-FR" b="0" i="1" smtClean="0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  <m:r>
                                    <a:rPr lang="fr-FR" b="0" i="1" smtClean="0">
                                      <a:latin typeface="Cambria Math" panose="02040503050406030204" pitchFamily="18" charset="0"/>
                                    </a:rPr>
                                    <m:t>+1</m:t>
                                  </m:r>
                                </m:sub>
                              </m:sSub>
                            </m:num>
                            <m:den>
                              <m:sSub>
                                <m:sSubPr>
                                  <m:ctrlPr>
                                    <a:rPr lang="fr-FR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fr-FR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fr-FR" b="0" i="1" smtClean="0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b>
                              </m:sSub>
                            </m:den>
                          </m:f>
                        </m:e>
                      </m:d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𝑉</m:t>
                      </m:r>
                      <m:d>
                        <m:dPr>
                          <m:ctrlPr>
                            <a:rPr lang="fr-FR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type m:val="lin"/>
                              <m:ctrlPr>
                                <a:rPr lang="fr-FR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fr-FR" b="0" i="1" smtClean="0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  <m:r>
                                <a:rPr lang="fr-FR" b="0" i="1" smtClean="0"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  <m:sSub>
                                <m:sSubPr>
                                  <m:ctrlPr>
                                    <a:rPr lang="fr-FR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fr-FR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fr-FR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b>
                              </m:sSub>
                              <m:r>
                                <a:rPr lang="fr-FR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fr-FR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fr-FR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𝜀</m:t>
                                  </m:r>
                                </m:e>
                                <m:sub>
                                  <m:r>
                                    <a:rPr lang="fr-FR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𝑛</m:t>
                                  </m:r>
                                  <m:r>
                                    <a:rPr lang="fr-FR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+1</m:t>
                                  </m:r>
                                </m:sub>
                              </m:sSub>
                            </m:num>
                            <m:den>
                              <m:sSub>
                                <m:sSubPr>
                                  <m:ctrlPr>
                                    <a:rPr lang="fr-FR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fr-FR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fr-FR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b>
                              </m:sSub>
                            </m:den>
                          </m:f>
                        </m:e>
                      </m:d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𝑉</m:t>
                      </m:r>
                      <m:d>
                        <m:dPr>
                          <m:ctrlPr>
                            <a:rPr lang="fr-FR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type m:val="lin"/>
                              <m:ctrlPr>
                                <a:rPr lang="fr-FR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fr-FR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fr-FR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𝜀</m:t>
                                  </m:r>
                                </m:e>
                                <m:sub>
                                  <m:r>
                                    <a:rPr lang="fr-FR" b="0" i="1" smtClean="0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  <m:r>
                                    <a:rPr lang="fr-FR" b="0" i="1" smtClean="0">
                                      <a:latin typeface="Cambria Math" panose="02040503050406030204" pitchFamily="18" charset="0"/>
                                    </a:rPr>
                                    <m:t>+1 </m:t>
                                  </m:r>
                                </m:sub>
                              </m:sSub>
                            </m:num>
                            <m:den>
                              <m:sSub>
                                <m:sSubPr>
                                  <m:ctrlPr>
                                    <a:rPr lang="fr-FR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fr-FR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fr-FR" b="0" i="1" smtClean="0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b>
                              </m:sSub>
                            </m:den>
                          </m:f>
                        </m:e>
                      </m:d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fr-FR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fr-F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𝜎</m:t>
                          </m:r>
                        </m:e>
                        <m:sup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fr-FR" dirty="0"/>
              </a:p>
            </p:txBody>
          </p:sp>
        </mc:Choice>
        <mc:Fallback xmlns="">
          <p:sp>
            <p:nvSpPr>
              <p:cNvPr id="9" name="ZoneTexte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1520" y="6237312"/>
                <a:ext cx="8136904" cy="400110"/>
              </a:xfrm>
              <a:prstGeom prst="rect">
                <a:avLst/>
              </a:prstGeom>
              <a:blipFill rotWithShape="0">
                <a:blip r:embed="rId8"/>
                <a:stretch>
                  <a:fillRect t="-113636" b="-180303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38985961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ZoneTexte 1"/>
              <p:cNvSpPr txBox="1"/>
              <p:nvPr/>
            </p:nvSpPr>
            <p:spPr>
              <a:xfrm>
                <a:off x="179512" y="332656"/>
                <a:ext cx="8280920" cy="75886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fr-FR" dirty="0" smtClean="0"/>
                  <a:t>Pour un horizon h donné, la loi de </a:t>
                </a:r>
                <a14:m>
                  <m:oMath xmlns:m="http://schemas.openxmlformats.org/officeDocument/2006/math">
                    <m:f>
                      <m:fPr>
                        <m:type m:val="lin"/>
                        <m:ctrlPr>
                          <a:rPr lang="fr-FR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fr-FR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fr-FR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fr-FR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fr-FR" b="0" i="1" smtClean="0"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fr-FR" b="0" i="1" smtClean="0">
                                <a:latin typeface="Cambria Math" panose="02040503050406030204" pitchFamily="18" charset="0"/>
                              </a:rPr>
                              <m:t>h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fr-FR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fr-FR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fr-FR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</m:den>
                    </m:f>
                  </m:oMath>
                </a14:m>
                <a:r>
                  <a:rPr lang="fr-FR" dirty="0" smtClean="0"/>
                  <a:t> suit une loi normale </a:t>
                </a:r>
                <a14:m>
                  <m:oMath xmlns:m="http://schemas.openxmlformats.org/officeDocument/2006/math">
                    <m:r>
                      <a:rPr lang="fr-FR" b="0" i="1" smtClean="0">
                        <a:latin typeface="Cambria Math" panose="02040503050406030204" pitchFamily="18" charset="0"/>
                      </a:rPr>
                      <m:t>𝑁</m:t>
                    </m:r>
                    <m:d>
                      <m:dPr>
                        <m:ctrlPr>
                          <a:rPr lang="fr-FR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fr-FR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fr-FR" b="0" i="1" smtClean="0">
                                <a:latin typeface="Cambria Math" panose="02040503050406030204" pitchFamily="18" charset="0"/>
                              </a:rPr>
                              <m:t>𝑤</m:t>
                            </m:r>
                            <m:r>
                              <a:rPr lang="fr-FR" b="0" i="1" smtClean="0">
                                <a:latin typeface="Cambria Math" panose="02040503050406030204" pitchFamily="18" charset="0"/>
                              </a:rPr>
                              <m:t>′</m:t>
                            </m:r>
                            <m:r>
                              <a:rPr lang="fr-FR" b="0" i="1" smtClean="0">
                                <a:latin typeface="Cambria Math" panose="02040503050406030204" pitchFamily="18" charset="0"/>
                              </a:rPr>
                              <m:t>𝐹</m:t>
                            </m:r>
                          </m:e>
                          <m:sup>
                            <m:r>
                              <a:rPr lang="fr-FR" b="0" i="1" smtClean="0">
                                <a:latin typeface="Cambria Math" panose="02040503050406030204" pitchFamily="18" charset="0"/>
                              </a:rPr>
                              <m:t>h</m:t>
                            </m:r>
                            <m:r>
                              <a:rPr lang="fr-FR" b="0" i="1" smtClean="0">
                                <a:latin typeface="Cambria Math" panose="02040503050406030204" pitchFamily="18" charset="0"/>
                              </a:rPr>
                              <m:t>−1</m:t>
                            </m:r>
                          </m:sup>
                        </m:sSup>
                        <m:sSub>
                          <m:sSubPr>
                            <m:ctrlPr>
                              <a:rPr lang="fr-FR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fr-FR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fr-FR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  <m:r>
                          <a:rPr lang="fr-FR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fr-FR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  <m:sSup>
                          <m:sSupPr>
                            <m:ctrlPr>
                              <a:rPr lang="fr-FR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fr-FR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𝜎</m:t>
                            </m:r>
                          </m:e>
                          <m:sup>
                            <m:r>
                              <a:rPr lang="fr-FR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</m:oMath>
                </a14:m>
                <a:r>
                  <a:rPr lang="fr-FR" dirty="0" smtClean="0"/>
                  <a:t> </a:t>
                </a:r>
                <a:endParaRPr lang="fr-FR" dirty="0"/>
              </a:p>
            </p:txBody>
          </p:sp>
        </mc:Choice>
        <mc:Fallback xmlns="">
          <p:sp>
            <p:nvSpPr>
              <p:cNvPr id="2" name="ZoneTexte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9512" y="332656"/>
                <a:ext cx="8280920" cy="758862"/>
              </a:xfrm>
              <a:prstGeom prst="rect">
                <a:avLst/>
              </a:prstGeom>
              <a:blipFill rotWithShape="0">
                <a:blip r:embed="rId3"/>
                <a:stretch>
                  <a:fillRect l="-736" t="-60484" b="-49194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ZoneTexte 2"/>
              <p:cNvSpPr txBox="1"/>
              <p:nvPr/>
            </p:nvSpPr>
            <p:spPr>
              <a:xfrm>
                <a:off x="827584" y="1124744"/>
                <a:ext cx="7416824" cy="77886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𝐵</m:t>
                      </m:r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"/>
                          <m:ctrlPr>
                            <a:rPr lang="fr-FR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fr-FR" b="0" i="1" smtClean="0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fr-FR" b="0" i="1" smtClean="0">
                                  <a:latin typeface="Cambria Math" panose="02040503050406030204" pitchFamily="18" charset="0"/>
                                </a:rPr>
                                <m:t>1    </m:t>
                              </m:r>
                              <m:r>
                                <a:rPr lang="fr-FR" b="0" i="1" smtClean="0">
                                  <a:latin typeface="Cambria Math" panose="02040503050406030204" pitchFamily="18" charset="0"/>
                                </a:rPr>
                                <m:t>𝑠𝑖</m:t>
                              </m:r>
                              <m:r>
                                <a:rPr lang="fr-FR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fr-FR" b="0" i="1" smtClean="0"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  <m:r>
                                <a:rPr lang="fr-FR" b="0" i="1" smtClean="0"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e>
                            <m:e>
                              <m:sSup>
                                <m:sSupPr>
                                  <m:ctrlPr>
                                    <a:rPr lang="fr-FR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fr-FR" b="0" i="1" smtClean="0">
                                      <a:latin typeface="Cambria Math" panose="02040503050406030204" pitchFamily="18" charset="0"/>
                                    </a:rPr>
                                    <m:t>𝑤</m:t>
                                  </m:r>
                                </m:e>
                                <m:sup>
                                  <m:r>
                                    <a:rPr lang="fr-FR" b="0" i="1" smtClean="0">
                                      <a:latin typeface="Cambria Math" panose="02040503050406030204" pitchFamily="18" charset="0"/>
                                    </a:rPr>
                                    <m:t>′</m:t>
                                  </m:r>
                                </m:sup>
                              </m:sSup>
                              <m:sSup>
                                <m:sSupPr>
                                  <m:ctrlPr>
                                    <a:rPr lang="fr-FR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fr-FR" i="1">
                                      <a:latin typeface="Cambria Math" panose="02040503050406030204" pitchFamily="18" charset="0"/>
                                    </a:rPr>
                                    <m:t>𝐹</m:t>
                                  </m:r>
                                </m:e>
                                <m:sup>
                                  <m:r>
                                    <a:rPr lang="fr-FR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p>
                              </m:sSup>
                              <m:r>
                                <a:rPr lang="fr-FR" i="1">
                                  <a:latin typeface="Cambria Math" panose="02040503050406030204" pitchFamily="18" charset="0"/>
                                </a:rPr>
                                <m:t>𝑔</m:t>
                              </m:r>
                              <m:sSup>
                                <m:sSupPr>
                                  <m:ctrlPr>
                                    <a:rPr lang="fr-FR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fr-FR" i="1">
                                      <a:latin typeface="Cambria Math" panose="02040503050406030204" pitchFamily="18" charset="0"/>
                                    </a:rPr>
                                    <m:t>𝑔</m:t>
                                  </m:r>
                                </m:e>
                                <m:sup>
                                  <m:r>
                                    <a:rPr lang="fr-FR" i="1">
                                      <a:latin typeface="Cambria Math" panose="02040503050406030204" pitchFamily="18" charset="0"/>
                                    </a:rPr>
                                    <m:t>′</m:t>
                                  </m:r>
                                </m:sup>
                              </m:sSup>
                              <m:r>
                                <a:rPr lang="fr-FR" i="1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sSup>
                                <m:sSupPr>
                                  <m:ctrlPr>
                                    <a:rPr lang="fr-FR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sSup>
                                    <m:sSupPr>
                                      <m:ctrlPr>
                                        <a:rPr lang="fr-FR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fr-FR" i="1">
                                          <a:latin typeface="Cambria Math" panose="02040503050406030204" pitchFamily="18" charset="0"/>
                                        </a:rPr>
                                        <m:t>𝐹</m:t>
                                      </m:r>
                                    </m:e>
                                    <m:sup>
                                      <m:r>
                                        <a:rPr lang="fr-FR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p>
                                  </m:sSup>
                                </m:e>
                                <m:sup>
                                  <m:r>
                                    <a:rPr lang="fr-FR" i="1">
                                      <a:latin typeface="Cambria Math" panose="02040503050406030204" pitchFamily="18" charset="0"/>
                                    </a:rPr>
                                    <m:t>′</m:t>
                                  </m:r>
                                </m:sup>
                              </m:sSup>
                              <m:r>
                                <a:rPr lang="fr-FR" b="0" i="1" smtClean="0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  <m:r>
                                <a:rPr lang="fr-FR" b="0" i="1" smtClean="0">
                                  <a:latin typeface="Cambria Math" panose="02040503050406030204" pitchFamily="18" charset="0"/>
                                </a:rPr>
                                <m:t>+1           </m:t>
                              </m:r>
                              <m:r>
                                <a:rPr lang="fr-FR" b="0" i="1" smtClean="0">
                                  <a:latin typeface="Cambria Math" panose="02040503050406030204" pitchFamily="18" charset="0"/>
                                </a:rPr>
                                <m:t>𝑠𝑖</m:t>
                              </m:r>
                              <m:r>
                                <a:rPr lang="fr-FR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fr-FR" b="0" i="1" smtClean="0"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  <m:r>
                                <a:rPr lang="fr-FR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≥2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fr-FR" dirty="0"/>
              </a:p>
            </p:txBody>
          </p:sp>
        </mc:Choice>
        <mc:Fallback xmlns="">
          <p:sp>
            <p:nvSpPr>
              <p:cNvPr id="3" name="ZoneTexte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7584" y="1124744"/>
                <a:ext cx="7416824" cy="778868"/>
              </a:xfrm>
              <a:prstGeom prst="rect">
                <a:avLst/>
              </a:prstGeom>
              <a:blipFill rotWithShape="0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ZoneTexte 3"/>
              <p:cNvSpPr txBox="1"/>
              <p:nvPr/>
            </p:nvSpPr>
            <p:spPr>
              <a:xfrm>
                <a:off x="179512" y="2276872"/>
                <a:ext cx="8856984" cy="81035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fr-FR" dirty="0" smtClean="0"/>
                  <a:t>Connaissant la loi de </a:t>
                </a:r>
                <a14:m>
                  <m:oMath xmlns:m="http://schemas.openxmlformats.org/officeDocument/2006/math">
                    <m:f>
                      <m:fPr>
                        <m:type m:val="lin"/>
                        <m:ctrlPr>
                          <a:rPr lang="fr-FR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fr-FR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fr-FR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fr-FR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fr-FR" i="1"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fr-FR" i="1">
                                <a:latin typeface="Cambria Math" panose="02040503050406030204" pitchFamily="18" charset="0"/>
                              </a:rPr>
                              <m:t>h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fr-FR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fr-FR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fr-FR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</m:den>
                    </m:f>
                  </m:oMath>
                </a14:m>
                <a:r>
                  <a:rPr lang="fr-FR" dirty="0" smtClean="0"/>
                  <a:t>, on détermine un intervalle de confiance de niveau </a:t>
                </a:r>
                <a14:m>
                  <m:oMath xmlns:m="http://schemas.openxmlformats.org/officeDocument/2006/math">
                    <m:r>
                      <a:rPr lang="fr-FR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𝛼</m:t>
                    </m:r>
                  </m:oMath>
                </a14:m>
                <a:r>
                  <a:rPr lang="fr-FR" dirty="0" smtClean="0"/>
                  <a:t> 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fr-FR" b="0" i="0" smtClean="0">
                        <a:latin typeface="Cambria Math" panose="02040503050406030204" pitchFamily="18" charset="0"/>
                      </a:rPr>
                      <m:t>w</m:t>
                    </m:r>
                    <m:r>
                      <a:rPr lang="fr-FR" b="0" i="0" smtClean="0">
                        <a:latin typeface="Cambria Math" panose="02040503050406030204" pitchFamily="18" charset="0"/>
                      </a:rPr>
                      <m:t>′</m:t>
                    </m:r>
                    <m:sSup>
                      <m:sSupPr>
                        <m:ctrlPr>
                          <a:rPr lang="fr-FR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fr-FR" i="1"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p>
                        <m:r>
                          <a:rPr lang="fr-FR" i="1">
                            <a:latin typeface="Cambria Math" panose="02040503050406030204" pitchFamily="18" charset="0"/>
                          </a:rPr>
                          <m:t>h</m:t>
                        </m:r>
                        <m:r>
                          <a:rPr lang="fr-FR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  <m:sSub>
                      <m:sSubPr>
                        <m:ctrlPr>
                          <a:rPr lang="fr-F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fr-FR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fr-FR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±</m:t>
                    </m:r>
                    <m:sSub>
                      <m:sSubPr>
                        <m:ctrlPr>
                          <a:rPr lang="fr-FR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fr-FR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𝛼</m:t>
                        </m:r>
                      </m:sub>
                    </m:sSub>
                    <m:rad>
                      <m:radPr>
                        <m:degHide m:val="on"/>
                        <m:ctrlPr>
                          <a:rPr lang="fr-FR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fr-F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𝐵</m:t>
                        </m:r>
                      </m:e>
                    </m:rad>
                    <m:r>
                      <a:rPr lang="fr-FR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𝜎</m:t>
                    </m:r>
                  </m:oMath>
                </a14:m>
                <a:r>
                  <a:rPr lang="fr-FR" dirty="0" smtClean="0"/>
                  <a:t>  avec </a:t>
                </a:r>
                <a14:m>
                  <m:oMath xmlns:m="http://schemas.openxmlformats.org/officeDocument/2006/math">
                    <m:r>
                      <a:rPr lang="fr-FR" b="0" i="1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fr-FR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fr-FR" b="0" i="1" smtClean="0">
                            <a:latin typeface="Cambria Math" panose="02040503050406030204" pitchFamily="18" charset="0"/>
                          </a:rPr>
                          <m:t>𝑈</m:t>
                        </m:r>
                        <m:r>
                          <a:rPr lang="fr-FR" b="0" i="1" smtClean="0">
                            <a:latin typeface="Cambria Math" panose="02040503050406030204" pitchFamily="18" charset="0"/>
                          </a:rPr>
                          <m:t>&gt;</m:t>
                        </m:r>
                        <m:sSub>
                          <m:sSubPr>
                            <m:ctrlPr>
                              <a:rPr lang="fr-FR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fr-FR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fr-FR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𝛼</m:t>
                            </m:r>
                          </m:sub>
                        </m:sSub>
                      </m:e>
                    </m:d>
                    <m:r>
                      <a:rPr lang="fr-FR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fr-F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fr-F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𝛼</m:t>
                        </m:r>
                      </m:num>
                      <m:den>
                        <m:r>
                          <a:rPr lang="fr-F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lang="fr-FR" dirty="0" smtClean="0"/>
                  <a:t>  et  </a:t>
                </a:r>
                <a14:m>
                  <m:oMath xmlns:m="http://schemas.openxmlformats.org/officeDocument/2006/math">
                    <m:r>
                      <a:rPr lang="fr-FR" b="0" i="1" smtClean="0">
                        <a:latin typeface="Cambria Math" panose="02040503050406030204" pitchFamily="18" charset="0"/>
                      </a:rPr>
                      <m:t>𝑈</m:t>
                    </m:r>
                    <m:r>
                      <a:rPr lang="fr-F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  <m:r>
                      <a:rPr lang="fr-F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𝑁</m:t>
                    </m:r>
                    <m:d>
                      <m:dPr>
                        <m:ctrlPr>
                          <a:rPr lang="fr-F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fr-F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0,1</m:t>
                        </m:r>
                      </m:e>
                    </m:d>
                  </m:oMath>
                </a14:m>
                <a:endParaRPr lang="fr-FR" dirty="0"/>
              </a:p>
            </p:txBody>
          </p:sp>
        </mc:Choice>
        <mc:Fallback xmlns="">
          <p:sp>
            <p:nvSpPr>
              <p:cNvPr id="4" name="ZoneTexte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9512" y="2276872"/>
                <a:ext cx="8856984" cy="810350"/>
              </a:xfrm>
              <a:prstGeom prst="rect">
                <a:avLst/>
              </a:prstGeom>
              <a:blipFill>
                <a:blip r:embed="rId5"/>
                <a:stretch>
                  <a:fillRect l="-688" t="-56818" b="-4015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ZoneTexte 4"/>
          <p:cNvSpPr txBox="1"/>
          <p:nvPr/>
        </p:nvSpPr>
        <p:spPr>
          <a:xfrm>
            <a:off x="467544" y="3212976"/>
            <a:ext cx="8352928" cy="958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fr-FR" dirty="0" smtClean="0"/>
              <a:t>Gr2 : Le modèle espace d’état linéaire avec E multiplicative et S absente ou additive</a:t>
            </a:r>
            <a:endParaRPr lang="fr-FR" dirty="0"/>
          </a:p>
        </p:txBody>
      </p:sp>
      <p:sp>
        <p:nvSpPr>
          <p:cNvPr id="6" name="ZoneTexte 5"/>
          <p:cNvSpPr txBox="1"/>
          <p:nvPr/>
        </p:nvSpPr>
        <p:spPr>
          <a:xfrm>
            <a:off x="179512" y="4325034"/>
            <a:ext cx="864096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 smtClean="0"/>
              <a:t>Le modèle espace d’état de ce groupe a la forme suivante :</a:t>
            </a:r>
            <a:endParaRPr lang="fr-FR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ZoneTexte 8"/>
              <p:cNvSpPr txBox="1"/>
              <p:nvPr/>
            </p:nvSpPr>
            <p:spPr>
              <a:xfrm>
                <a:off x="1259632" y="5026396"/>
                <a:ext cx="6768752" cy="77886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"/>
                          <m:ctrlPr>
                            <a:rPr lang="fr-FR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fr-FR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fr-FR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fr-FR" b="0" i="1" smtClean="0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  <m:sub>
                                    <m:r>
                                      <a:rPr lang="fr-FR" b="0" i="1" smtClean="0"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</m:sub>
                                </m:sSub>
                                <m:r>
                                  <m:rPr>
                                    <m:brk m:alnAt="7"/>
                                  </m:rPr>
                                  <a:rPr lang="fr-FR" b="0" i="1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sSup>
                                  <m:sSupPr>
                                    <m:ctrlPr>
                                      <a:rPr lang="fr-FR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fr-FR" b="0" i="1" smtClean="0">
                                        <a:latin typeface="Cambria Math" panose="02040503050406030204" pitchFamily="18" charset="0"/>
                                      </a:rPr>
                                      <m:t>𝑤</m:t>
                                    </m:r>
                                  </m:e>
                                  <m:sup>
                                    <m:r>
                                      <a:rPr lang="fr-FR" b="0" i="1" smtClean="0">
                                        <a:latin typeface="Cambria Math" panose="02040503050406030204" pitchFamily="18" charset="0"/>
                                      </a:rPr>
                                      <m:t>′</m:t>
                                    </m:r>
                                  </m:sup>
                                </m:sSup>
                                <m:sSub>
                                  <m:sSubPr>
                                    <m:ctrlPr>
                                      <a:rPr lang="fr-FR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fr-FR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fr-FR" b="0" i="1" smtClean="0"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  <m:r>
                                      <a:rPr lang="fr-FR" b="0" i="1" smtClean="0">
                                        <a:latin typeface="Cambria Math" panose="02040503050406030204" pitchFamily="18" charset="0"/>
                                      </a:rPr>
                                      <m:t>−1</m:t>
                                    </m:r>
                                  </m:sub>
                                </m:sSub>
                                <m:d>
                                  <m:dPr>
                                    <m:ctrlPr>
                                      <a:rPr lang="fr-FR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fr-FR" b="0" i="1" smtClean="0">
                                        <a:latin typeface="Cambria Math" panose="02040503050406030204" pitchFamily="18" charset="0"/>
                                      </a:rPr>
                                      <m:t>1+</m:t>
                                    </m:r>
                                    <m:sSub>
                                      <m:sSubPr>
                                        <m:ctrlPr>
                                          <a:rPr lang="fr-FR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fr-FR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𝜀</m:t>
                                        </m:r>
                                      </m:e>
                                      <m:sub>
                                        <m:r>
                                          <a:rPr lang="fr-FR" b="0" i="1" smtClean="0">
                                            <a:latin typeface="Cambria Math" panose="02040503050406030204" pitchFamily="18" charset="0"/>
                                          </a:rPr>
                                          <m:t>𝑡</m:t>
                                        </m:r>
                                      </m:sub>
                                    </m:sSub>
                                  </m:e>
                                </m:d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fr-FR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fr-FR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fr-FR" b="0" i="1" smtClean="0"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</m:sub>
                                </m:sSub>
                                <m:r>
                                  <a:rPr lang="fr-FR" b="0" i="1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d>
                                  <m:dPr>
                                    <m:ctrlPr>
                                      <a:rPr lang="fr-FR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fr-FR" b="0" i="1" smtClean="0">
                                        <a:latin typeface="Cambria Math" panose="02040503050406030204" pitchFamily="18" charset="0"/>
                                      </a:rPr>
                                      <m:t>𝐹</m:t>
                                    </m:r>
                                    <m:r>
                                      <a:rPr lang="fr-FR" b="0" i="1" smtClean="0"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r>
                                      <a:rPr lang="fr-FR" b="0" i="1" smtClean="0">
                                        <a:latin typeface="Cambria Math" panose="02040503050406030204" pitchFamily="18" charset="0"/>
                                      </a:rPr>
                                      <m:t>𝑔𝑤</m:t>
                                    </m:r>
                                    <m:r>
                                      <a:rPr lang="fr-FR" b="0" i="1" smtClean="0">
                                        <a:latin typeface="Cambria Math" panose="02040503050406030204" pitchFamily="18" charset="0"/>
                                      </a:rPr>
                                      <m:t>′</m:t>
                                    </m:r>
                                    <m:sSub>
                                      <m:sSubPr>
                                        <m:ctrlPr>
                                          <a:rPr lang="fr-FR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fr-FR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𝜀</m:t>
                                        </m:r>
                                      </m:e>
                                      <m:sub>
                                        <m:r>
                                          <a:rPr lang="fr-FR" b="0" i="1" smtClean="0">
                                            <a:latin typeface="Cambria Math" panose="02040503050406030204" pitchFamily="18" charset="0"/>
                                          </a:rPr>
                                          <m:t>𝑡</m:t>
                                        </m:r>
                                      </m:sub>
                                    </m:sSub>
                                  </m:e>
                                </m:d>
                                <m:sSub>
                                  <m:sSubPr>
                                    <m:ctrlPr>
                                      <a:rPr lang="fr-FR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fr-FR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fr-FR" b="0" i="1" smtClean="0"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  <m:r>
                                      <a:rPr lang="fr-FR" b="0" i="1" smtClean="0">
                                        <a:latin typeface="Cambria Math" panose="02040503050406030204" pitchFamily="18" charset="0"/>
                                      </a:rPr>
                                      <m:t>−1</m:t>
                                    </m:r>
                                  </m:sub>
                                </m:sSub>
                              </m:e>
                            </m:mr>
                          </m:m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d>
                    </m:oMath>
                  </m:oMathPara>
                </a14:m>
                <a:endParaRPr lang="fr-FR" dirty="0"/>
              </a:p>
            </p:txBody>
          </p:sp>
        </mc:Choice>
        <mc:Fallback xmlns="">
          <p:sp>
            <p:nvSpPr>
              <p:cNvPr id="9" name="ZoneTexte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59632" y="5026396"/>
                <a:ext cx="6768752" cy="778868"/>
              </a:xfrm>
              <a:prstGeom prst="rect">
                <a:avLst/>
              </a:prstGeom>
              <a:blipFill rotWithShape="0"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ZoneTexte 6"/>
              <p:cNvSpPr txBox="1"/>
              <p:nvPr/>
            </p:nvSpPr>
            <p:spPr>
              <a:xfrm>
                <a:off x="683568" y="6125234"/>
                <a:ext cx="7776864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fr-FR" dirty="0" smtClean="0"/>
                  <a:t>On a pour un horizon h,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fr-F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fr-FR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fr-FR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</m:acc>
                      </m:e>
                      <m:sub>
                        <m:r>
                          <a:rPr lang="fr-FR" i="1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fr-FR" i="1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fr-FR" i="1">
                            <a:latin typeface="Cambria Math" panose="02040503050406030204" pitchFamily="18" charset="0"/>
                          </a:rPr>
                          <m:t>h</m:t>
                        </m:r>
                      </m:sub>
                    </m:sSub>
                    <m:r>
                      <a:rPr lang="fr-FR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fr-FR" i="1">
                        <a:latin typeface="Cambria Math" panose="02040503050406030204" pitchFamily="18" charset="0"/>
                      </a:rPr>
                      <m:t>𝐸</m:t>
                    </m:r>
                    <m:d>
                      <m:dPr>
                        <m:ctrlPr>
                          <a:rPr lang="fr-FR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lin"/>
                            <m:ctrlPr>
                              <a:rPr lang="fr-FR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b>
                              <m:sSubPr>
                                <m:ctrlPr>
                                  <a:rPr lang="fr-FR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fr-FR" i="1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  <m:sub>
                                <m:r>
                                  <a:rPr lang="fr-FR" i="1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  <m:r>
                                  <a:rPr lang="fr-FR" i="1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fr-FR" i="1">
                                    <a:latin typeface="Cambria Math" panose="02040503050406030204" pitchFamily="18" charset="0"/>
                                  </a:rPr>
                                  <m:t>h</m:t>
                                </m:r>
                              </m:sub>
                            </m:sSub>
                          </m:num>
                          <m:den>
                            <m:sSub>
                              <m:sSubPr>
                                <m:ctrlPr>
                                  <a:rPr lang="fr-FR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fr-FR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fr-FR" i="1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sub>
                            </m:sSub>
                          </m:den>
                        </m:f>
                      </m:e>
                    </m:d>
                  </m:oMath>
                </a14:m>
                <a:r>
                  <a:rPr lang="fr-FR" dirty="0" smtClean="0"/>
                  <a:t> </a:t>
                </a:r>
                <a:endParaRPr lang="fr-FR" dirty="0"/>
              </a:p>
            </p:txBody>
          </p:sp>
        </mc:Choice>
        <mc:Fallback xmlns="">
          <p:sp>
            <p:nvSpPr>
              <p:cNvPr id="7" name="ZoneTexte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3568" y="6125234"/>
                <a:ext cx="7776864" cy="400110"/>
              </a:xfrm>
              <a:prstGeom prst="rect">
                <a:avLst/>
              </a:prstGeom>
              <a:blipFill rotWithShape="0">
                <a:blip r:embed="rId7"/>
                <a:stretch>
                  <a:fillRect l="-784" t="-115385" b="-184615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7177905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ZoneTexte 1"/>
              <p:cNvSpPr txBox="1"/>
              <p:nvPr/>
            </p:nvSpPr>
            <p:spPr>
              <a:xfrm>
                <a:off x="360040" y="-34935"/>
                <a:ext cx="9036496" cy="101566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fr-FR" b="0" i="1" smtClean="0">
                        <a:latin typeface="Cambria Math" panose="02040503050406030204" pitchFamily="18" charset="0"/>
                      </a:rPr>
                      <m:t>𝐸</m:t>
                    </m:r>
                    <m:d>
                      <m:dPr>
                        <m:ctrlPr>
                          <a:rPr lang="fr-FR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lin"/>
                            <m:ctrlPr>
                              <a:rPr lang="fr-FR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b>
                              <m:sSubPr>
                                <m:ctrlPr>
                                  <a:rPr lang="fr-FR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fr-FR" i="1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  <m:sub>
                                <m:r>
                                  <a:rPr lang="fr-FR" i="1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  <m:r>
                                  <a:rPr lang="fr-FR" i="1">
                                    <a:latin typeface="Cambria Math" panose="02040503050406030204" pitchFamily="18" charset="0"/>
                                  </a:rPr>
                                  <m:t>+1</m:t>
                                </m:r>
                              </m:sub>
                            </m:sSub>
                          </m:num>
                          <m:den>
                            <m:sSub>
                              <m:sSubPr>
                                <m:ctrlPr>
                                  <a:rPr lang="fr-FR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fr-FR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fr-FR" b="0" i="1" smtClean="0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sub>
                            </m:sSub>
                          </m:den>
                        </m:f>
                      </m:e>
                    </m:d>
                    <m:r>
                      <a:rPr lang="fr-FR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fr-FR" b="0" i="0" smtClean="0">
                        <a:latin typeface="Cambria Math" panose="02040503050406030204" pitchFamily="18" charset="0"/>
                      </a:rPr>
                      <m:t>E</m:t>
                    </m:r>
                    <m:d>
                      <m:dPr>
                        <m:ctrlPr>
                          <a:rPr lang="fr-FR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lin"/>
                            <m:ctrlPr>
                              <a:rPr lang="fr-FR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p>
                              <m:sSupPr>
                                <m:ctrlPr>
                                  <a:rPr lang="fr-FR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m:rPr>
                                    <m:brk m:alnAt="7"/>
                                  </m:rPr>
                                  <a:rPr lang="fr-FR" i="1">
                                    <a:latin typeface="Cambria Math" panose="02040503050406030204" pitchFamily="18" charset="0"/>
                                  </a:rPr>
                                  <m:t>𝑤</m:t>
                                </m:r>
                              </m:e>
                              <m:sup>
                                <m:r>
                                  <a:rPr lang="fr-FR" i="1">
                                    <a:latin typeface="Cambria Math" panose="02040503050406030204" pitchFamily="18" charset="0"/>
                                  </a:rPr>
                                  <m:t>′</m:t>
                                </m:r>
                              </m:sup>
                            </m:sSup>
                            <m:sSub>
                              <m:sSubPr>
                                <m:ctrlPr>
                                  <a:rPr lang="fr-FR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fr-FR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fr-FR" i="1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sub>
                            </m:sSub>
                            <m:d>
                              <m:dPr>
                                <m:ctrlPr>
                                  <a:rPr lang="fr-FR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fr-FR" i="1">
                                    <a:latin typeface="Cambria Math" panose="02040503050406030204" pitchFamily="18" charset="0"/>
                                  </a:rPr>
                                  <m:t>1+</m:t>
                                </m:r>
                                <m:sSub>
                                  <m:sSubPr>
                                    <m:ctrlPr>
                                      <a:rPr lang="fr-FR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fr-FR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𝜀</m:t>
                                    </m:r>
                                  </m:e>
                                  <m:sub>
                                    <m:r>
                                      <a:rPr lang="fr-FR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𝑛</m:t>
                                    </m:r>
                                    <m:r>
                                      <a:rPr lang="fr-FR" i="1">
                                        <a:latin typeface="Cambria Math" panose="02040503050406030204" pitchFamily="18" charset="0"/>
                                      </a:rPr>
                                      <m:t>+1</m:t>
                                    </m:r>
                                  </m:sub>
                                </m:sSub>
                              </m:e>
                            </m:d>
                          </m:num>
                          <m:den>
                            <m:sSub>
                              <m:sSubPr>
                                <m:ctrlPr>
                                  <a:rPr lang="fr-FR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fr-FR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fr-FR" b="0" i="1" smtClean="0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sub>
                            </m:sSub>
                          </m:den>
                        </m:f>
                      </m:e>
                    </m:d>
                    <m:r>
                      <a:rPr lang="fr-FR" b="0" i="0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fr-FR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brk m:alnAt="7"/>
                          </m:rPr>
                          <a:rPr lang="fr-FR" i="1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p>
                        <m:r>
                          <a:rPr lang="fr-FR" i="1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sSub>
                      <m:sSubPr>
                        <m:ctrlPr>
                          <a:rPr lang="fr-F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fr-FR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fr-FR" dirty="0" smtClean="0"/>
                  <a:t>, car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fr-F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fr-FR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fr-FR" dirty="0" smtClean="0"/>
                  <a:t> et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fr-F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𝜀</m:t>
                        </m:r>
                      </m:e>
                      <m:sub>
                        <m:r>
                          <a:rPr lang="fr-F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  <m:r>
                          <a:rPr lang="fr-FR" i="1"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</m:sSub>
                  </m:oMath>
                </a14:m>
                <a:r>
                  <a:rPr lang="fr-FR" dirty="0" smtClean="0"/>
                  <a:t> sont  indépendantes</a:t>
                </a:r>
                <a:endParaRPr lang="fr-FR" dirty="0"/>
              </a:p>
            </p:txBody>
          </p:sp>
        </mc:Choice>
        <mc:Fallback xmlns="">
          <p:sp>
            <p:nvSpPr>
              <p:cNvPr id="2" name="ZoneTexte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0040" y="-34935"/>
                <a:ext cx="9036496" cy="1015663"/>
              </a:xfrm>
              <a:prstGeom prst="rect">
                <a:avLst/>
              </a:prstGeom>
              <a:blipFill rotWithShape="0">
                <a:blip r:embed="rId2"/>
                <a:stretch>
                  <a:fillRect l="-675" t="-35928" b="-19760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ZoneTexte 2"/>
          <p:cNvSpPr txBox="1"/>
          <p:nvPr/>
        </p:nvSpPr>
        <p:spPr>
          <a:xfrm>
            <a:off x="331912" y="1052736"/>
            <a:ext cx="835292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fr-FR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3" name="ZoneTexte 22"/>
              <p:cNvSpPr txBox="1"/>
              <p:nvPr/>
            </p:nvSpPr>
            <p:spPr>
              <a:xfrm>
                <a:off x="251520" y="1156682"/>
                <a:ext cx="8433320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i="1" smtClean="0">
                          <a:latin typeface="Cambria Math" panose="02040503050406030204" pitchFamily="18" charset="0"/>
                        </a:rPr>
                        <m:t>𝐸</m:t>
                      </m:r>
                      <m:d>
                        <m:dPr>
                          <m:ctrlPr>
                            <a:rPr lang="fr-FR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type m:val="lin"/>
                              <m:ctrlPr>
                                <a:rPr lang="fr-FR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fr-FR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fr-FR" i="1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fr-FR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  <m:r>
                                    <a:rPr lang="fr-FR" i="1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r>
                                    <a:rPr lang="fr-FR" b="0" i="1" smtClean="0">
                                      <a:latin typeface="Cambria Math" panose="02040503050406030204" pitchFamily="18" charset="0"/>
                                    </a:rPr>
                                    <m:t>h</m:t>
                                  </m:r>
                                </m:sub>
                              </m:sSub>
                            </m:num>
                            <m:den>
                              <m:sSub>
                                <m:sSubPr>
                                  <m:ctrlPr>
                                    <a:rPr lang="fr-FR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fr-FR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fr-FR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b>
                              </m:sSub>
                            </m:den>
                          </m:f>
                        </m:e>
                      </m:d>
                      <m:r>
                        <a:rPr lang="fr-FR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fr-FR">
                          <a:latin typeface="Cambria Math" panose="02040503050406030204" pitchFamily="18" charset="0"/>
                        </a:rPr>
                        <m:t>E</m:t>
                      </m:r>
                      <m:d>
                        <m:dPr>
                          <m:ctrlPr>
                            <a:rPr lang="fr-FR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type m:val="lin"/>
                              <m:ctrlPr>
                                <a:rPr lang="fr-FR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d>
                                <m:dPr>
                                  <m:ctrlPr>
                                    <a:rPr lang="fr-FR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lang="fr-FR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lang="fr-FR" i="1">
                                          <a:latin typeface="Cambria Math" panose="02040503050406030204" pitchFamily="18" charset="0"/>
                                        </a:rPr>
                                        <m:t>𝑤</m:t>
                                      </m:r>
                                    </m:e>
                                    <m:sup>
                                      <m:r>
                                        <a:rPr lang="fr-FR" i="1">
                                          <a:latin typeface="Cambria Math" panose="02040503050406030204" pitchFamily="18" charset="0"/>
                                        </a:rPr>
                                        <m:t>′</m:t>
                                      </m:r>
                                    </m:sup>
                                  </m:sSup>
                                  <m:sSub>
                                    <m:sSubPr>
                                      <m:ctrlPr>
                                        <a:rPr lang="fr-FR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fr-FR" i="1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fr-FR" i="1">
                                          <a:latin typeface="Cambria Math" panose="02040503050406030204" pitchFamily="18" charset="0"/>
                                        </a:rPr>
                                        <m:t>𝑛</m:t>
                                      </m:r>
                                      <m:r>
                                        <a:rPr lang="fr-FR" i="1">
                                          <a:latin typeface="Cambria Math" panose="02040503050406030204" pitchFamily="18" charset="0"/>
                                        </a:rPr>
                                        <m:t>+</m:t>
                                      </m:r>
                                      <m:r>
                                        <a:rPr lang="fr-FR" i="1">
                                          <a:latin typeface="Cambria Math" panose="02040503050406030204" pitchFamily="18" charset="0"/>
                                        </a:rPr>
                                        <m:t>h</m:t>
                                      </m:r>
                                      <m:r>
                                        <a:rPr lang="fr-FR" i="1">
                                          <a:latin typeface="Cambria Math" panose="02040503050406030204" pitchFamily="18" charset="0"/>
                                        </a:rPr>
                                        <m:t>−1</m:t>
                                      </m:r>
                                    </m:sub>
                                  </m:sSub>
                                  <m:r>
                                    <a:rPr lang="fr-FR" i="1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sSub>
                                    <m:sSubPr>
                                      <m:ctrlPr>
                                        <a:rPr lang="fr-FR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sSup>
                                        <m:sSupPr>
                                          <m:ctrlPr>
                                            <a:rPr lang="fr-FR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m:rPr>
                                              <m:brk m:alnAt="7"/>
                                            </m:rPr>
                                            <a:rPr lang="fr-FR" i="1">
                                              <a:latin typeface="Cambria Math" panose="02040503050406030204" pitchFamily="18" charset="0"/>
                                            </a:rPr>
                                            <m:t>𝑤</m:t>
                                          </m:r>
                                        </m:e>
                                        <m:sup>
                                          <m:r>
                                            <a:rPr lang="fr-FR" i="1">
                                              <a:latin typeface="Cambria Math" panose="02040503050406030204" pitchFamily="18" charset="0"/>
                                            </a:rPr>
                                            <m:t>′</m:t>
                                          </m:r>
                                        </m:sup>
                                      </m:sSup>
                                      <m:sSub>
                                        <m:sSubPr>
                                          <m:ctrlPr>
                                            <a:rPr lang="fr-FR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fr-FR" i="1"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  <m:sub>
                                          <m:r>
                                            <a:rPr lang="fr-FR" i="1">
                                              <a:latin typeface="Cambria Math" panose="02040503050406030204" pitchFamily="18" charset="0"/>
                                            </a:rPr>
                                            <m:t>𝑛</m:t>
                                          </m:r>
                                          <m:r>
                                            <a:rPr lang="fr-FR" i="1">
                                              <a:latin typeface="Cambria Math" panose="02040503050406030204" pitchFamily="18" charset="0"/>
                                            </a:rPr>
                                            <m:t>+</m:t>
                                          </m:r>
                                          <m:r>
                                            <a:rPr lang="fr-FR" i="1">
                                              <a:latin typeface="Cambria Math" panose="02040503050406030204" pitchFamily="18" charset="0"/>
                                            </a:rPr>
                                            <m:t>h</m:t>
                                          </m:r>
                                          <m:r>
                                            <a:rPr lang="fr-FR" i="1">
                                              <a:latin typeface="Cambria Math" panose="02040503050406030204" pitchFamily="18" charset="0"/>
                                            </a:rPr>
                                            <m:t>−1</m:t>
                                          </m:r>
                                        </m:sub>
                                      </m:sSub>
                                      <m:r>
                                        <a:rPr lang="fr-FR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𝜀</m:t>
                                      </m:r>
                                    </m:e>
                                    <m:sub>
                                      <m:r>
                                        <a:rPr lang="fr-FR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𝑛</m:t>
                                      </m:r>
                                      <m:r>
                                        <a:rPr lang="fr-FR" i="1">
                                          <a:latin typeface="Cambria Math" panose="02040503050406030204" pitchFamily="18" charset="0"/>
                                        </a:rPr>
                                        <m:t>+</m:t>
                                      </m:r>
                                      <m:r>
                                        <a:rPr lang="fr-FR" i="1">
                                          <a:latin typeface="Cambria Math" panose="02040503050406030204" pitchFamily="18" charset="0"/>
                                        </a:rPr>
                                        <m:t>h</m:t>
                                      </m:r>
                                    </m:sub>
                                  </m:sSub>
                                </m:e>
                              </m:d>
                            </m:num>
                            <m:den>
                              <m:sSub>
                                <m:sSubPr>
                                  <m:ctrlPr>
                                    <a:rPr lang="fr-FR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fr-FR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fr-FR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b>
                              </m:sSub>
                            </m:den>
                          </m:f>
                        </m:e>
                      </m:d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𝐸</m:t>
                      </m:r>
                      <m:d>
                        <m:dPr>
                          <m:ctrlPr>
                            <a:rPr lang="fr-FR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type m:val="lin"/>
                              <m:ctrlPr>
                                <a:rPr lang="fr-FR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p>
                                <m:sSupPr>
                                  <m:ctrlPr>
                                    <a:rPr lang="fr-FR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m:rPr>
                                      <m:brk m:alnAt="7"/>
                                    </m:rPr>
                                    <a:rPr lang="fr-FR" i="1">
                                      <a:latin typeface="Cambria Math" panose="02040503050406030204" pitchFamily="18" charset="0"/>
                                    </a:rPr>
                                    <m:t>𝑤</m:t>
                                  </m:r>
                                </m:e>
                                <m:sup>
                                  <m:r>
                                    <a:rPr lang="fr-FR" i="1">
                                      <a:latin typeface="Cambria Math" panose="02040503050406030204" pitchFamily="18" charset="0"/>
                                    </a:rPr>
                                    <m:t>′</m:t>
                                  </m:r>
                                </m:sup>
                              </m:sSup>
                              <m:sSub>
                                <m:sSubPr>
                                  <m:ctrlPr>
                                    <a:rPr lang="fr-FR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fr-FR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fr-FR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  <m:r>
                                    <a:rPr lang="fr-FR" i="1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r>
                                    <a:rPr lang="fr-FR" i="1">
                                      <a:latin typeface="Cambria Math" panose="02040503050406030204" pitchFamily="18" charset="0"/>
                                    </a:rPr>
                                    <m:t>h</m:t>
                                  </m:r>
                                  <m:r>
                                    <a:rPr lang="fr-FR" i="1">
                                      <a:latin typeface="Cambria Math" panose="02040503050406030204" pitchFamily="18" charset="0"/>
                                    </a:rPr>
                                    <m:t>−1</m:t>
                                  </m:r>
                                </m:sub>
                              </m:sSub>
                            </m:num>
                            <m:den>
                              <m:sSub>
                                <m:sSubPr>
                                  <m:ctrlPr>
                                    <a:rPr lang="fr-FR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fr-FR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fr-FR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b>
                              </m:sSub>
                            </m:den>
                          </m:f>
                        </m:e>
                      </m:d>
                    </m:oMath>
                  </m:oMathPara>
                </a14:m>
                <a:endParaRPr lang="fr-FR" dirty="0"/>
              </a:p>
            </p:txBody>
          </p:sp>
        </mc:Choice>
        <mc:Fallback xmlns="">
          <p:sp>
            <p:nvSpPr>
              <p:cNvPr id="23" name="ZoneTexte 2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1520" y="1156682"/>
                <a:ext cx="8433320" cy="400110"/>
              </a:xfrm>
              <a:prstGeom prst="rect">
                <a:avLst/>
              </a:prstGeom>
              <a:blipFill rotWithShape="0">
                <a:blip r:embed="rId3"/>
                <a:stretch>
                  <a:fillRect t="-115385" r="-578" b="-184615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ZoneTexte 3"/>
              <p:cNvSpPr txBox="1"/>
              <p:nvPr/>
            </p:nvSpPr>
            <p:spPr>
              <a:xfrm>
                <a:off x="331912" y="3244914"/>
                <a:ext cx="8056512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fr-FR" u="sng" dirty="0" smtClean="0"/>
                  <a:t>Calcul de </a:t>
                </a:r>
                <a14:m>
                  <m:oMath xmlns:m="http://schemas.openxmlformats.org/officeDocument/2006/math">
                    <m:r>
                      <a:rPr lang="fr-FR" b="0" i="1" u="sng" smtClean="0">
                        <a:latin typeface="Cambria Math" panose="02040503050406030204" pitchFamily="18" charset="0"/>
                      </a:rPr>
                      <m:t>𝑉</m:t>
                    </m:r>
                    <m:d>
                      <m:dPr>
                        <m:ctrlPr>
                          <a:rPr lang="fr-FR" i="1" u="sng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lin"/>
                            <m:ctrlPr>
                              <a:rPr lang="fr-FR" i="1" u="sng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b>
                              <m:sSubPr>
                                <m:ctrlPr>
                                  <a:rPr lang="fr-FR" i="1" u="sng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fr-FR" i="1" u="sng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  <m:sub>
                                <m:r>
                                  <a:rPr lang="fr-FR" i="1" u="sng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  <m:r>
                                  <a:rPr lang="fr-FR" i="1" u="sng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fr-FR" b="0" i="1" u="sng" smtClean="0">
                                    <a:latin typeface="Cambria Math" panose="02040503050406030204" pitchFamily="18" charset="0"/>
                                  </a:rPr>
                                  <m:t>h</m:t>
                                </m:r>
                              </m:sub>
                            </m:sSub>
                          </m:num>
                          <m:den>
                            <m:sSub>
                              <m:sSubPr>
                                <m:ctrlPr>
                                  <a:rPr lang="fr-FR" i="1" u="sng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fr-FR" i="1" u="sng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fr-FR" i="1" u="sng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sub>
                            </m:sSub>
                          </m:den>
                        </m:f>
                      </m:e>
                    </m:d>
                  </m:oMath>
                </a14:m>
                <a:endParaRPr lang="fr-FR" u="sng" dirty="0"/>
              </a:p>
            </p:txBody>
          </p:sp>
        </mc:Choice>
        <mc:Fallback xmlns="">
          <p:sp>
            <p:nvSpPr>
              <p:cNvPr id="4" name="ZoneTexte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1912" y="3244914"/>
                <a:ext cx="8056512" cy="400110"/>
              </a:xfrm>
              <a:prstGeom prst="rect">
                <a:avLst/>
              </a:prstGeom>
              <a:blipFill rotWithShape="0">
                <a:blip r:embed="rId4"/>
                <a:stretch>
                  <a:fillRect l="-756" t="-113636" b="-180303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ZoneTexte 4"/>
              <p:cNvSpPr txBox="1"/>
              <p:nvPr/>
            </p:nvSpPr>
            <p:spPr>
              <a:xfrm>
                <a:off x="251520" y="3861048"/>
                <a:ext cx="6696744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𝑉</m:t>
                      </m:r>
                      <m:d>
                        <m:dPr>
                          <m:ctrlPr>
                            <a:rPr lang="fr-FR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type m:val="lin"/>
                              <m:ctrlPr>
                                <a:rPr lang="fr-FR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fr-FR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fr-FR" i="1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fr-FR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  <m:r>
                                    <a:rPr lang="fr-FR" i="1">
                                      <a:latin typeface="Cambria Math" panose="02040503050406030204" pitchFamily="18" charset="0"/>
                                    </a:rPr>
                                    <m:t>+1</m:t>
                                  </m:r>
                                </m:sub>
                              </m:sSub>
                            </m:num>
                            <m:den>
                              <m:sSub>
                                <m:sSubPr>
                                  <m:ctrlPr>
                                    <a:rPr lang="fr-FR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fr-FR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fr-FR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b>
                              </m:sSub>
                            </m:den>
                          </m:f>
                        </m:e>
                      </m:d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𝑉</m:t>
                      </m:r>
                      <m:d>
                        <m:dPr>
                          <m:ctrlPr>
                            <a:rPr lang="fr-FR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type m:val="lin"/>
                              <m:ctrlPr>
                                <a:rPr lang="fr-FR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p>
                                <m:sSupPr>
                                  <m:ctrlPr>
                                    <a:rPr lang="fr-FR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m:rPr>
                                      <m:brk m:alnAt="7"/>
                                    </m:rPr>
                                    <a:rPr lang="fr-FR" i="1">
                                      <a:latin typeface="Cambria Math" panose="02040503050406030204" pitchFamily="18" charset="0"/>
                                    </a:rPr>
                                    <m:t>𝑤</m:t>
                                  </m:r>
                                </m:e>
                                <m:sup>
                                  <m:r>
                                    <a:rPr lang="fr-FR" i="1">
                                      <a:latin typeface="Cambria Math" panose="02040503050406030204" pitchFamily="18" charset="0"/>
                                    </a:rPr>
                                    <m:t>′</m:t>
                                  </m:r>
                                </m:sup>
                              </m:sSup>
                              <m:sSub>
                                <m:sSubPr>
                                  <m:ctrlPr>
                                    <a:rPr lang="fr-FR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fr-FR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fr-FR" b="0" i="1" smtClean="0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fr-FR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fr-FR" i="1">
                                      <a:latin typeface="Cambria Math" panose="02040503050406030204" pitchFamily="18" charset="0"/>
                                    </a:rPr>
                                    <m:t>1+</m:t>
                                  </m:r>
                                  <m:sSub>
                                    <m:sSubPr>
                                      <m:ctrlPr>
                                        <a:rPr lang="fr-FR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fr-FR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𝜀</m:t>
                                      </m:r>
                                    </m:e>
                                    <m:sub>
                                      <m:r>
                                        <a:rPr lang="fr-FR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𝑛</m:t>
                                      </m:r>
                                      <m:r>
                                        <a:rPr lang="fr-FR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+1</m:t>
                                      </m:r>
                                    </m:sub>
                                  </m:sSub>
                                </m:e>
                              </m:d>
                            </m:num>
                            <m:den>
                              <m:sSub>
                                <m:sSubPr>
                                  <m:ctrlPr>
                                    <a:rPr lang="fr-FR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fr-FR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fr-FR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b>
                              </m:sSub>
                            </m:den>
                          </m:f>
                        </m:e>
                      </m:d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fr-FR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p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sSub>
                        <m:sSubPr>
                          <m:ctrlPr>
                            <a:rPr lang="fr-FR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fr-FR" i="1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sSubSup>
                        <m:sSubSupPr>
                          <m:ctrlPr>
                            <a:rPr lang="fr-FR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fr-FR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fr-FR" i="1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  <m:sup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bSup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𝑤</m:t>
                      </m:r>
                      <m:sSup>
                        <m:sSupPr>
                          <m:ctrlPr>
                            <a:rPr lang="fr-FR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fr-F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𝜎</m:t>
                          </m:r>
                        </m:e>
                        <m:sup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fr-FR" dirty="0"/>
              </a:p>
            </p:txBody>
          </p:sp>
        </mc:Choice>
        <mc:Fallback xmlns="">
          <p:sp>
            <p:nvSpPr>
              <p:cNvPr id="5" name="ZoneTexte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1520" y="3861048"/>
                <a:ext cx="6696744" cy="400110"/>
              </a:xfrm>
              <a:prstGeom prst="rect">
                <a:avLst/>
              </a:prstGeom>
              <a:blipFill rotWithShape="0">
                <a:blip r:embed="rId5"/>
                <a:stretch>
                  <a:fillRect t="-113636" b="-180303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ZoneTexte 5"/>
              <p:cNvSpPr txBox="1"/>
              <p:nvPr/>
            </p:nvSpPr>
            <p:spPr>
              <a:xfrm>
                <a:off x="-36512" y="4469050"/>
                <a:ext cx="9361040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fr-FR" dirty="0" smtClean="0"/>
                  <a:t>Si on suppose que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fr-FR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𝜀</m:t>
                        </m:r>
                      </m:e>
                      <m:sub>
                        <m:r>
                          <a:rPr lang="fr-FR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fr-FR" b="0" i="1" smtClean="0">
                        <a:latin typeface="Cambria Math" panose="02040503050406030204" pitchFamily="18" charset="0"/>
                      </a:rPr>
                      <m:t>,</m:t>
                    </m:r>
                  </m:oMath>
                </a14:m>
                <a:r>
                  <a:rPr lang="fr-FR" dirty="0" smtClean="0"/>
                  <a:t> i = 1,…,n </a:t>
                </a:r>
                <a14:m>
                  <m:oMath xmlns:m="http://schemas.openxmlformats.org/officeDocument/2006/math">
                    <m:r>
                      <a:rPr lang="fr-FR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  <m:r>
                      <a:rPr lang="fr-F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𝑁</m:t>
                    </m:r>
                    <m:d>
                      <m:dPr>
                        <m:ctrlPr>
                          <a:rPr lang="fr-F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fr-F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0,</m:t>
                        </m:r>
                        <m:r>
                          <a:rPr lang="fr-F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𝜎</m:t>
                        </m:r>
                      </m:e>
                    </m:d>
                  </m:oMath>
                </a14:m>
                <a:r>
                  <a:rPr lang="fr-FR" dirty="0" smtClean="0"/>
                  <a:t> alors </a:t>
                </a:r>
                <a14:m>
                  <m:oMath xmlns:m="http://schemas.openxmlformats.org/officeDocument/2006/math">
                    <m:f>
                      <m:fPr>
                        <m:type m:val="lin"/>
                        <m:ctrlPr>
                          <a:rPr lang="fr-FR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fr-FR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fr-FR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fr-FR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fr-FR" i="1">
                                <a:latin typeface="Cambria Math" panose="02040503050406030204" pitchFamily="18" charset="0"/>
                              </a:rPr>
                              <m:t>+1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fr-FR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fr-FR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fr-FR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</m:den>
                    </m:f>
                    <m:r>
                      <a:rPr lang="fr-FR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  <m:r>
                      <a:rPr lang="fr-F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𝑁</m:t>
                    </m:r>
                    <m:d>
                      <m:dPr>
                        <m:ctrlPr>
                          <a:rPr lang="fr-F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fr-F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𝑤</m:t>
                        </m:r>
                        <m:r>
                          <a:rPr lang="fr-F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′</m:t>
                        </m:r>
                        <m:sSub>
                          <m:sSubPr>
                            <m:ctrlPr>
                              <a:rPr lang="fr-FR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fr-FR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fr-FR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  <m:r>
                          <a:rPr lang="fr-F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</m:t>
                        </m:r>
                        <m:sSup>
                          <m:sSupPr>
                            <m:ctrlPr>
                              <a:rPr lang="fr-FR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fr-FR" i="1"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p>
                            <m:r>
                              <a:rPr lang="fr-FR" i="1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  <m:sSub>
                          <m:sSubPr>
                            <m:ctrlPr>
                              <a:rPr lang="fr-FR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fr-FR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fr-FR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  <m:sSubSup>
                          <m:sSubSupPr>
                            <m:ctrlPr>
                              <a:rPr lang="fr-FR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fr-FR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fr-FR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  <m:sup>
                            <m:r>
                              <a:rPr lang="fr-FR" i="1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bSup>
                        <m:r>
                          <a:rPr lang="fr-FR" i="1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fr-FR" i="1">
                            <a:latin typeface="Cambria Math" panose="02040503050406030204" pitchFamily="18" charset="0"/>
                          </a:rPr>
                          <m:t>𝑤</m:t>
                        </m:r>
                        <m:sSup>
                          <m:sSupPr>
                            <m:ctrlPr>
                              <a:rPr lang="fr-FR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fr-FR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𝜎</m:t>
                            </m:r>
                          </m:e>
                          <m:sup>
                            <m:r>
                              <a:rPr lang="fr-FR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</m:oMath>
                </a14:m>
                <a:r>
                  <a:rPr lang="fr-FR" dirty="0" smtClean="0"/>
                  <a:t> </a:t>
                </a:r>
                <a:endParaRPr lang="fr-FR" dirty="0"/>
              </a:p>
            </p:txBody>
          </p:sp>
        </mc:Choice>
        <mc:Fallback xmlns="">
          <p:sp>
            <p:nvSpPr>
              <p:cNvPr id="6" name="ZoneTexte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36512" y="4469050"/>
                <a:ext cx="9361040" cy="400110"/>
              </a:xfrm>
              <a:prstGeom prst="rect">
                <a:avLst/>
              </a:prstGeom>
              <a:blipFill>
                <a:blip r:embed="rId6"/>
                <a:stretch>
                  <a:fillRect l="-651" t="-113636" b="-180303"/>
                </a:stretch>
              </a:blipFill>
            </p:spPr>
            <p:txBody>
              <a:bodyPr/>
              <a:lstStyle/>
              <a:p>
                <a:r>
                  <a:rPr lang="ar-MA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ZoneTexte 6"/>
              <p:cNvSpPr txBox="1"/>
              <p:nvPr/>
            </p:nvSpPr>
            <p:spPr>
              <a:xfrm>
                <a:off x="179512" y="5725705"/>
                <a:ext cx="8505328" cy="101566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fr-FR" dirty="0" smtClean="0"/>
                  <a:t>On remarque que </a:t>
                </a:r>
                <a14:m>
                  <m:oMath xmlns:m="http://schemas.openxmlformats.org/officeDocument/2006/math">
                    <m:f>
                      <m:fPr>
                        <m:type m:val="lin"/>
                        <m:ctrlPr>
                          <a:rPr lang="fr-FR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fr-FR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fr-FR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fr-FR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fr-FR" i="1"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fr-FR" b="0" i="1" smtClean="0">
                                <a:latin typeface="Cambria Math" panose="02040503050406030204" pitchFamily="18" charset="0"/>
                              </a:rPr>
                              <m:t>h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fr-FR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fr-FR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fr-FR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</m:den>
                    </m:f>
                  </m:oMath>
                </a14:m>
                <a:r>
                  <a:rPr lang="fr-FR" dirty="0" smtClean="0"/>
                  <a:t> n’est pas une loi normale car c’est le produit de 2 fonctions de lois normales  indépendantes</a:t>
                </a:r>
                <a:endParaRPr lang="fr-FR" dirty="0"/>
              </a:p>
            </p:txBody>
          </p:sp>
        </mc:Choice>
        <mc:Fallback xmlns="">
          <p:sp>
            <p:nvSpPr>
              <p:cNvPr id="7" name="ZoneTexte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9512" y="5725705"/>
                <a:ext cx="8505328" cy="1015663"/>
              </a:xfrm>
              <a:prstGeom prst="rect">
                <a:avLst/>
              </a:prstGeom>
              <a:blipFill rotWithShape="0">
                <a:blip r:embed="rId7"/>
                <a:stretch>
                  <a:fillRect l="-716" t="-35928" b="-19760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ZoneTexte 8"/>
              <p:cNvSpPr txBox="1"/>
              <p:nvPr/>
            </p:nvSpPr>
            <p:spPr>
              <a:xfrm>
                <a:off x="251520" y="5142836"/>
                <a:ext cx="8433320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type m:val="lin"/>
                          <m:ctrlPr>
                            <a:rPr lang="fr-FR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fr-FR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fr-FR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fr-FR" b="0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fr-FR" b="0" i="1" smtClean="0"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fr-FR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fr-FR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f>
                            <m:fPr>
                              <m:type m:val="lin"/>
                              <m:ctrlPr>
                                <a:rPr lang="fr-FR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p>
                                <m:sSupPr>
                                  <m:ctrlPr>
                                    <a:rPr lang="fr-FR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fr-FR" i="1">
                                      <a:latin typeface="Cambria Math" panose="02040503050406030204" pitchFamily="18" charset="0"/>
                                    </a:rPr>
                                    <m:t>𝑤</m:t>
                                  </m:r>
                                </m:e>
                                <m:sup>
                                  <m:r>
                                    <a:rPr lang="fr-FR" i="1">
                                      <a:latin typeface="Cambria Math" panose="02040503050406030204" pitchFamily="18" charset="0"/>
                                    </a:rPr>
                                    <m:t>′</m:t>
                                  </m:r>
                                </m:sup>
                              </m:sSup>
                              <m:sSub>
                                <m:sSubPr>
                                  <m:ctrlPr>
                                    <a:rPr lang="fr-FR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fr-FR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fr-FR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  <m:r>
                                    <a:rPr lang="fr-FR" i="1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r>
                                    <a:rPr lang="fr-FR" i="1">
                                      <a:latin typeface="Cambria Math" panose="02040503050406030204" pitchFamily="18" charset="0"/>
                                    </a:rPr>
                                    <m:t>h</m:t>
                                  </m:r>
                                  <m:r>
                                    <a:rPr lang="fr-FR" i="1">
                                      <a:latin typeface="Cambria Math" panose="02040503050406030204" pitchFamily="18" charset="0"/>
                                    </a:rPr>
                                    <m:t>−1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fr-FR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fr-FR" i="1">
                                      <a:latin typeface="Cambria Math" panose="02040503050406030204" pitchFamily="18" charset="0"/>
                                    </a:rPr>
                                    <m:t>1+</m:t>
                                  </m:r>
                                  <m:sSub>
                                    <m:sSubPr>
                                      <m:ctrlPr>
                                        <a:rPr lang="fr-FR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fr-FR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𝜀</m:t>
                                      </m:r>
                                    </m:e>
                                    <m:sub>
                                      <m:r>
                                        <a:rPr lang="fr-FR" i="1">
                                          <a:latin typeface="Cambria Math" panose="02040503050406030204" pitchFamily="18" charset="0"/>
                                        </a:rPr>
                                        <m:t>𝑛</m:t>
                                      </m:r>
                                      <m:r>
                                        <a:rPr lang="fr-FR" i="1">
                                          <a:latin typeface="Cambria Math" panose="02040503050406030204" pitchFamily="18" charset="0"/>
                                        </a:rPr>
                                        <m:t>+</m:t>
                                      </m:r>
                                      <m:r>
                                        <a:rPr lang="fr-FR" b="0" i="1" smtClean="0">
                                          <a:latin typeface="Cambria Math" panose="02040503050406030204" pitchFamily="18" charset="0"/>
                                        </a:rPr>
                                        <m:t>h</m:t>
                                      </m:r>
                                    </m:sub>
                                  </m:sSub>
                                </m:e>
                              </m:d>
                            </m:num>
                            <m:den>
                              <m:sSub>
                                <m:sSubPr>
                                  <m:ctrlPr>
                                    <a:rPr lang="fr-FR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fr-FR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fr-FR" b="0" i="1" smtClean="0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b>
                              </m:sSub>
                            </m:den>
                          </m:f>
                        </m:den>
                      </m:f>
                    </m:oMath>
                  </m:oMathPara>
                </a14:m>
                <a:endParaRPr lang="fr-FR" dirty="0"/>
              </a:p>
            </p:txBody>
          </p:sp>
        </mc:Choice>
        <mc:Fallback xmlns="">
          <p:sp>
            <p:nvSpPr>
              <p:cNvPr id="9" name="ZoneTexte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1520" y="5142836"/>
                <a:ext cx="8433320" cy="400110"/>
              </a:xfrm>
              <a:prstGeom prst="rect">
                <a:avLst/>
              </a:prstGeom>
              <a:blipFill>
                <a:blip r:embed="rId8"/>
                <a:stretch>
                  <a:fillRect t="-115385" b="-18461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ZoneTexte 9"/>
              <p:cNvSpPr txBox="1"/>
              <p:nvPr/>
            </p:nvSpPr>
            <p:spPr>
              <a:xfrm>
                <a:off x="0" y="1799240"/>
                <a:ext cx="9180512" cy="40562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𝐸</m:t>
                      </m:r>
                      <m:d>
                        <m:dPr>
                          <m:ctrlPr>
                            <a:rPr lang="fr-FR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type m:val="lin"/>
                              <m:ctrlPr>
                                <a:rPr lang="fr-FR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fr-FR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fr-FR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fr-FR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  <m:r>
                                    <a:rPr lang="fr-FR" i="1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r>
                                    <a:rPr lang="fr-FR" i="1">
                                      <a:latin typeface="Cambria Math" panose="02040503050406030204" pitchFamily="18" charset="0"/>
                                    </a:rPr>
                                    <m:t>h</m:t>
                                  </m:r>
                                </m:sub>
                              </m:sSub>
                            </m:num>
                            <m:den>
                              <m:sSub>
                                <m:sSubPr>
                                  <m:ctrlPr>
                                    <a:rPr lang="fr-FR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fr-FR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fr-FR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b>
                              </m:sSub>
                            </m:den>
                          </m:f>
                        </m:e>
                      </m:d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𝐸</m:t>
                      </m:r>
                      <m:d>
                        <m:dPr>
                          <m:ctrlPr>
                            <a:rPr lang="fr-FR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type m:val="lin"/>
                              <m:ctrlPr>
                                <a:rPr lang="fr-FR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fr-FR" b="0" i="1" smtClean="0">
                                  <a:latin typeface="Cambria Math" panose="02040503050406030204" pitchFamily="18" charset="0"/>
                                </a:rPr>
                                <m:t>𝐹</m:t>
                              </m:r>
                              <m:sSub>
                                <m:sSubPr>
                                  <m:ctrlPr>
                                    <a:rPr lang="fr-FR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fr-FR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fr-FR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  <m:r>
                                    <a:rPr lang="fr-FR" i="1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r>
                                    <a:rPr lang="fr-FR" i="1">
                                      <a:latin typeface="Cambria Math" panose="02040503050406030204" pitchFamily="18" charset="0"/>
                                    </a:rPr>
                                    <m:t>h</m:t>
                                  </m:r>
                                  <m:r>
                                    <a:rPr lang="fr-FR" b="0" i="1" smtClean="0">
                                      <a:latin typeface="Cambria Math" panose="02040503050406030204" pitchFamily="18" charset="0"/>
                                    </a:rPr>
                                    <m:t>−1</m:t>
                                  </m:r>
                                </m:sub>
                              </m:sSub>
                              <m:r>
                                <a:rPr lang="fr-FR" b="0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fr-FR" b="0" i="1" smtClean="0">
                                  <a:latin typeface="Cambria Math" panose="02040503050406030204" pitchFamily="18" charset="0"/>
                                </a:rPr>
                                <m:t>𝑔</m:t>
                              </m:r>
                              <m:sSup>
                                <m:sSupPr>
                                  <m:ctrlPr>
                                    <a:rPr lang="fr-FR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fr-FR" b="0" i="1" smtClean="0">
                                      <a:latin typeface="Cambria Math" panose="02040503050406030204" pitchFamily="18" charset="0"/>
                                    </a:rPr>
                                    <m:t>𝑤</m:t>
                                  </m:r>
                                </m:e>
                                <m:sup>
                                  <m:r>
                                    <a:rPr lang="fr-FR" b="0" i="1" smtClean="0">
                                      <a:latin typeface="Cambria Math" panose="02040503050406030204" pitchFamily="18" charset="0"/>
                                    </a:rPr>
                                    <m:t>′</m:t>
                                  </m:r>
                                </m:sup>
                              </m:sSup>
                              <m:sSub>
                                <m:sSubPr>
                                  <m:ctrlPr>
                                    <a:rPr lang="fr-FR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fr-FR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fr-FR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  <m:r>
                                    <a:rPr lang="fr-FR" i="1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r>
                                    <a:rPr lang="fr-FR" i="1">
                                      <a:latin typeface="Cambria Math" panose="02040503050406030204" pitchFamily="18" charset="0"/>
                                    </a:rPr>
                                    <m:t>h</m:t>
                                  </m:r>
                                  <m:r>
                                    <a:rPr lang="fr-FR" b="0" i="1" smtClean="0">
                                      <a:latin typeface="Cambria Math" panose="02040503050406030204" pitchFamily="18" charset="0"/>
                                    </a:rPr>
                                    <m:t>−1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fr-FR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fr-FR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𝜀</m:t>
                                  </m:r>
                                </m:e>
                                <m:sub>
                                  <m:r>
                                    <a:rPr lang="fr-FR" b="0" i="1" smtClean="0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  <m:r>
                                    <a:rPr lang="fr-FR" b="0" i="1" smtClean="0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r>
                                    <a:rPr lang="fr-FR" b="0" i="1" smtClean="0">
                                      <a:latin typeface="Cambria Math" panose="02040503050406030204" pitchFamily="18" charset="0"/>
                                    </a:rPr>
                                    <m:t>h</m:t>
                                  </m:r>
                                </m:sub>
                              </m:sSub>
                            </m:num>
                            <m:den>
                              <m:sSub>
                                <m:sSubPr>
                                  <m:ctrlPr>
                                    <a:rPr lang="fr-FR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fr-FR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fr-FR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b>
                              </m:sSub>
                            </m:den>
                          </m:f>
                        </m:e>
                      </m:d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𝐹𝐸</m:t>
                      </m:r>
                      <m:d>
                        <m:dPr>
                          <m:ctrlPr>
                            <a:rPr lang="fr-FR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type m:val="lin"/>
                              <m:ctrlPr>
                                <a:rPr lang="fr-FR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fr-FR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fr-FR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fr-FR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  <m:r>
                                    <a:rPr lang="fr-FR" i="1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r>
                                    <a:rPr lang="fr-FR" i="1">
                                      <a:latin typeface="Cambria Math" panose="02040503050406030204" pitchFamily="18" charset="0"/>
                                    </a:rPr>
                                    <m:t>h</m:t>
                                  </m:r>
                                  <m:r>
                                    <a:rPr lang="fr-FR" b="0" i="1" smtClean="0">
                                      <a:latin typeface="Cambria Math" panose="02040503050406030204" pitchFamily="18" charset="0"/>
                                    </a:rPr>
                                    <m:t>−1</m:t>
                                  </m:r>
                                </m:sub>
                              </m:sSub>
                            </m:num>
                            <m:den>
                              <m:sSub>
                                <m:sSubPr>
                                  <m:ctrlPr>
                                    <a:rPr lang="fr-FR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fr-FR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fr-FR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b>
                              </m:sSub>
                            </m:den>
                          </m:f>
                        </m:e>
                      </m:d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fr-FR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p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sup>
                      </m:sSup>
                      <m:sSub>
                        <m:sSubPr>
                          <m:ctrlPr>
                            <a:rPr lang="fr-FR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fr-FR" i="1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</m:oMath>
                  </m:oMathPara>
                </a14:m>
                <a:endParaRPr lang="fr-FR" dirty="0"/>
              </a:p>
            </p:txBody>
          </p:sp>
        </mc:Choice>
        <mc:Fallback xmlns="">
          <p:sp>
            <p:nvSpPr>
              <p:cNvPr id="10" name="ZoneTexte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1799240"/>
                <a:ext cx="9180512" cy="405624"/>
              </a:xfrm>
              <a:prstGeom prst="rect">
                <a:avLst/>
              </a:prstGeom>
              <a:blipFill rotWithShape="0">
                <a:blip r:embed="rId9"/>
                <a:stretch>
                  <a:fillRect t="-111940" b="-176119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ZoneTexte 11"/>
              <p:cNvSpPr txBox="1"/>
              <p:nvPr/>
            </p:nvSpPr>
            <p:spPr>
              <a:xfrm>
                <a:off x="323528" y="2519320"/>
                <a:ext cx="8433320" cy="40562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i="1" smtClean="0">
                          <a:latin typeface="Cambria Math" panose="02040503050406030204" pitchFamily="18" charset="0"/>
                        </a:rPr>
                        <m:t>𝐸</m:t>
                      </m:r>
                      <m:d>
                        <m:dPr>
                          <m:ctrlPr>
                            <a:rPr lang="fr-FR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type m:val="lin"/>
                              <m:ctrlPr>
                                <a:rPr lang="fr-FR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fr-FR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fr-FR" i="1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fr-FR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  <m:r>
                                    <a:rPr lang="fr-FR" i="1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r>
                                    <a:rPr lang="fr-FR" b="0" i="1" smtClean="0">
                                      <a:latin typeface="Cambria Math" panose="02040503050406030204" pitchFamily="18" charset="0"/>
                                    </a:rPr>
                                    <m:t>h</m:t>
                                  </m:r>
                                </m:sub>
                              </m:sSub>
                            </m:num>
                            <m:den>
                              <m:sSub>
                                <m:sSubPr>
                                  <m:ctrlPr>
                                    <a:rPr lang="fr-FR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fr-FR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fr-FR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b>
                              </m:sSub>
                            </m:den>
                          </m:f>
                        </m:e>
                      </m:d>
                      <m:r>
                        <a:rPr lang="fr-FR" i="1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fr-FR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fr-FR" b="0" i="0" smtClean="0">
                              <a:latin typeface="Cambria Math" panose="02040503050406030204" pitchFamily="18" charset="0"/>
                            </a:rPr>
                            <m:t>w</m:t>
                          </m:r>
                        </m:e>
                        <m:sup>
                          <m:r>
                            <a:rPr lang="fr-FR" b="0" i="0" smtClean="0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r>
                        <m:rPr>
                          <m:sty m:val="p"/>
                        </m:rPr>
                        <a:rPr lang="fr-FR">
                          <a:latin typeface="Cambria Math" panose="02040503050406030204" pitchFamily="18" charset="0"/>
                        </a:rPr>
                        <m:t>E</m:t>
                      </m:r>
                      <m:d>
                        <m:dPr>
                          <m:ctrlPr>
                            <a:rPr lang="fr-FR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type m:val="lin"/>
                              <m:ctrlPr>
                                <a:rPr lang="fr-FR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fr-FR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fr-FR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fr-FR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  <m:r>
                                    <a:rPr lang="fr-FR" i="1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r>
                                    <a:rPr lang="fr-FR" i="1">
                                      <a:latin typeface="Cambria Math" panose="02040503050406030204" pitchFamily="18" charset="0"/>
                                    </a:rPr>
                                    <m:t>h</m:t>
                                  </m:r>
                                  <m:r>
                                    <a:rPr lang="fr-FR" i="1">
                                      <a:latin typeface="Cambria Math" panose="02040503050406030204" pitchFamily="18" charset="0"/>
                                    </a:rPr>
                                    <m:t>−1</m:t>
                                  </m:r>
                                </m:sub>
                              </m:sSub>
                            </m:num>
                            <m:den>
                              <m:sSub>
                                <m:sSubPr>
                                  <m:ctrlPr>
                                    <a:rPr lang="fr-FR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fr-FR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fr-FR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b>
                              </m:sSub>
                            </m:den>
                          </m:f>
                        </m:e>
                      </m:d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fr-FR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p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sSup>
                        <m:sSupPr>
                          <m:ctrlPr>
                            <a:rPr lang="fr-FR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fr-FR" i="1"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p>
                          <m:r>
                            <a:rPr lang="fr-FR" i="1">
                              <a:latin typeface="Cambria Math" panose="02040503050406030204" pitchFamily="18" charset="0"/>
                            </a:rPr>
                            <m:t>h</m:t>
                          </m:r>
                          <m:r>
                            <a:rPr lang="fr-FR" i="1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p>
                      <m:sSub>
                        <m:sSubPr>
                          <m:ctrlPr>
                            <a:rPr lang="fr-FR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fr-FR" i="1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</m:oMath>
                  </m:oMathPara>
                </a14:m>
                <a:endParaRPr lang="fr-FR" dirty="0"/>
              </a:p>
            </p:txBody>
          </p:sp>
        </mc:Choice>
        <mc:Fallback xmlns="">
          <p:sp>
            <p:nvSpPr>
              <p:cNvPr id="12" name="ZoneTexte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3528" y="2519320"/>
                <a:ext cx="8433320" cy="405624"/>
              </a:xfrm>
              <a:prstGeom prst="rect">
                <a:avLst/>
              </a:prstGeom>
              <a:blipFill rotWithShape="0">
                <a:blip r:embed="rId10"/>
                <a:stretch>
                  <a:fillRect t="-111940" b="-176119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3288683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ZoneTexte 2"/>
              <p:cNvSpPr txBox="1"/>
              <p:nvPr/>
            </p:nvSpPr>
            <p:spPr>
              <a:xfrm>
                <a:off x="251520" y="188640"/>
                <a:ext cx="8496944" cy="94801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fr-FR" b="0" i="1" smtClean="0">
                        <a:latin typeface="Cambria Math" panose="02040503050406030204" pitchFamily="18" charset="0"/>
                      </a:rPr>
                      <m:t>𝑉</m:t>
                    </m:r>
                    <m:d>
                      <m:dPr>
                        <m:ctrlPr>
                          <a:rPr lang="fr-FR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lin"/>
                            <m:ctrlPr>
                              <a:rPr lang="fr-FR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b>
                              <m:sSubPr>
                                <m:ctrlPr>
                                  <a:rPr lang="fr-FR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fr-FR" b="0" i="1" smtClean="0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  <m:sub>
                                <m:r>
                                  <a:rPr lang="fr-FR" b="0" i="1" smtClean="0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  <m:r>
                                  <a:rPr lang="fr-FR" b="0" i="1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fr-FR" b="0" i="1" smtClean="0">
                                    <a:latin typeface="Cambria Math" panose="02040503050406030204" pitchFamily="18" charset="0"/>
                                  </a:rPr>
                                  <m:t>h</m:t>
                                </m:r>
                              </m:sub>
                            </m:sSub>
                          </m:num>
                          <m:den>
                            <m:sSub>
                              <m:sSubPr>
                                <m:ctrlPr>
                                  <a:rPr lang="fr-FR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fr-FR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fr-FR" b="0" i="1" smtClean="0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sub>
                            </m:sSub>
                          </m:den>
                        </m:f>
                      </m:e>
                    </m:d>
                    <m:r>
                      <a:rPr lang="fr-FR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fr-FR" b="0" i="1" smtClean="0">
                        <a:latin typeface="Cambria Math" panose="02040503050406030204" pitchFamily="18" charset="0"/>
                      </a:rPr>
                      <m:t>𝑉</m:t>
                    </m:r>
                    <m:d>
                      <m:dPr>
                        <m:ctrlPr>
                          <a:rPr lang="fr-FR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lin"/>
                            <m:ctrlPr>
                              <a:rPr lang="fr-FR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p>
                              <m:sSupPr>
                                <m:ctrlPr>
                                  <a:rPr lang="fr-FR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fr-FR" b="0" i="1" smtClean="0">
                                    <a:latin typeface="Cambria Math" panose="02040503050406030204" pitchFamily="18" charset="0"/>
                                  </a:rPr>
                                  <m:t>𝑤</m:t>
                                </m:r>
                              </m:e>
                              <m:sup>
                                <m:r>
                                  <a:rPr lang="fr-FR" b="0" i="1" smtClean="0">
                                    <a:latin typeface="Cambria Math" panose="02040503050406030204" pitchFamily="18" charset="0"/>
                                  </a:rPr>
                                  <m:t>′</m:t>
                                </m:r>
                              </m:sup>
                            </m:sSup>
                            <m:sSub>
                              <m:sSubPr>
                                <m:ctrlPr>
                                  <a:rPr lang="fr-FR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fr-FR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fr-FR" b="0" i="1" smtClean="0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  <m:r>
                                  <a:rPr lang="fr-FR" b="0" i="1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fr-FR" b="0" i="1" smtClean="0">
                                    <a:latin typeface="Cambria Math" panose="02040503050406030204" pitchFamily="18" charset="0"/>
                                  </a:rPr>
                                  <m:t>h</m:t>
                                </m:r>
                                <m:r>
                                  <a:rPr lang="fr-FR" b="0" i="1" smtClean="0">
                                    <a:latin typeface="Cambria Math" panose="02040503050406030204" pitchFamily="18" charset="0"/>
                                  </a:rPr>
                                  <m:t>−1</m:t>
                                </m:r>
                              </m:sub>
                            </m:sSub>
                          </m:num>
                          <m:den>
                            <m:sSub>
                              <m:sSubPr>
                                <m:ctrlPr>
                                  <a:rPr lang="fr-FR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fr-FR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fr-FR" b="0" i="1" smtClean="0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sub>
                            </m:sSub>
                          </m:den>
                        </m:f>
                      </m:e>
                    </m:d>
                    <m:r>
                      <a:rPr lang="fr-FR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fr-FR" b="0" i="1" smtClean="0">
                        <a:latin typeface="Cambria Math" panose="02040503050406030204" pitchFamily="18" charset="0"/>
                      </a:rPr>
                      <m:t>𝑉</m:t>
                    </m:r>
                    <m:d>
                      <m:dPr>
                        <m:ctrlPr>
                          <a:rPr lang="fr-FR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lin"/>
                            <m:ctrlPr>
                              <a:rPr lang="fr-FR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p>
                              <m:sSupPr>
                                <m:ctrlPr>
                                  <a:rPr lang="fr-FR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fr-FR" i="1">
                                    <a:latin typeface="Cambria Math" panose="02040503050406030204" pitchFamily="18" charset="0"/>
                                  </a:rPr>
                                  <m:t>𝑤</m:t>
                                </m:r>
                              </m:e>
                              <m:sup>
                                <m:r>
                                  <a:rPr lang="fr-FR" i="1">
                                    <a:latin typeface="Cambria Math" panose="02040503050406030204" pitchFamily="18" charset="0"/>
                                  </a:rPr>
                                  <m:t>′</m:t>
                                </m:r>
                              </m:sup>
                            </m:sSup>
                            <m:sSub>
                              <m:sSubPr>
                                <m:ctrlPr>
                                  <a:rPr lang="fr-FR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fr-FR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fr-FR" i="1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  <m:r>
                                  <a:rPr lang="fr-FR" i="1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fr-FR" i="1">
                                    <a:latin typeface="Cambria Math" panose="02040503050406030204" pitchFamily="18" charset="0"/>
                                  </a:rPr>
                                  <m:t>h</m:t>
                                </m:r>
                                <m:r>
                                  <a:rPr lang="fr-FR" i="1">
                                    <a:latin typeface="Cambria Math" panose="02040503050406030204" pitchFamily="18" charset="0"/>
                                  </a:rPr>
                                  <m:t>−1</m:t>
                                </m:r>
                              </m:sub>
                            </m:sSub>
                            <m:sSub>
                              <m:sSubPr>
                                <m:ctrlPr>
                                  <a:rPr lang="fr-FR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fr-FR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𝜀</m:t>
                                </m:r>
                              </m:e>
                              <m:sub>
                                <m:r>
                                  <a:rPr lang="fr-FR" b="0" i="1" smtClean="0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  <m:r>
                                  <a:rPr lang="fr-FR" b="0" i="1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fr-FR" b="0" i="1" smtClean="0">
                                    <a:latin typeface="Cambria Math" panose="02040503050406030204" pitchFamily="18" charset="0"/>
                                  </a:rPr>
                                  <m:t>h</m:t>
                                </m:r>
                              </m:sub>
                            </m:sSub>
                          </m:num>
                          <m:den>
                            <m:sSub>
                              <m:sSubPr>
                                <m:ctrlPr>
                                  <a:rPr lang="fr-FR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fr-FR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fr-FR" b="0" i="1" smtClean="0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sub>
                            </m:sSub>
                          </m:den>
                        </m:f>
                      </m:e>
                    </m:d>
                    <m:r>
                      <a:rPr lang="fr-FR" b="0" i="1" smtClean="0">
                        <a:latin typeface="Cambria Math" panose="02040503050406030204" pitchFamily="18" charset="0"/>
                      </a:rPr>
                      <m:t>+2</m:t>
                    </m:r>
                    <m:r>
                      <a:rPr lang="fr-FR" b="0" i="1" smtClean="0">
                        <a:latin typeface="Cambria Math" panose="02040503050406030204" pitchFamily="18" charset="0"/>
                      </a:rPr>
                      <m:t>𝐶𝑂𝑉</m:t>
                    </m:r>
                    <m:d>
                      <m:dPr>
                        <m:ctrlPr>
                          <a:rPr lang="fr-FR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lin"/>
                            <m:ctrlPr>
                              <a:rPr lang="fr-FR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p>
                              <m:sSupPr>
                                <m:ctrlPr>
                                  <a:rPr lang="fr-FR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fr-FR" i="1">
                                    <a:latin typeface="Cambria Math" panose="02040503050406030204" pitchFamily="18" charset="0"/>
                                  </a:rPr>
                                  <m:t>𝑤</m:t>
                                </m:r>
                              </m:e>
                              <m:sup>
                                <m:r>
                                  <a:rPr lang="fr-FR" i="1">
                                    <a:latin typeface="Cambria Math" panose="02040503050406030204" pitchFamily="18" charset="0"/>
                                  </a:rPr>
                                  <m:t>′</m:t>
                                </m:r>
                              </m:sup>
                            </m:sSup>
                            <m:sSub>
                              <m:sSubPr>
                                <m:ctrlPr>
                                  <a:rPr lang="fr-FR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fr-FR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fr-FR" i="1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  <m:r>
                                  <a:rPr lang="fr-FR" i="1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fr-FR" i="1">
                                    <a:latin typeface="Cambria Math" panose="02040503050406030204" pitchFamily="18" charset="0"/>
                                  </a:rPr>
                                  <m:t>h</m:t>
                                </m:r>
                                <m:r>
                                  <a:rPr lang="fr-FR" i="1">
                                    <a:latin typeface="Cambria Math" panose="02040503050406030204" pitchFamily="18" charset="0"/>
                                  </a:rPr>
                                  <m:t>−1</m:t>
                                </m:r>
                              </m:sub>
                            </m:sSub>
                            <m:r>
                              <a:rPr lang="fr-FR" b="0" i="1" smtClean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sSup>
                              <m:sSupPr>
                                <m:ctrlPr>
                                  <a:rPr lang="fr-FR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fr-FR" i="1">
                                    <a:latin typeface="Cambria Math" panose="02040503050406030204" pitchFamily="18" charset="0"/>
                                  </a:rPr>
                                  <m:t>𝑤</m:t>
                                </m:r>
                              </m:e>
                              <m:sup>
                                <m:r>
                                  <a:rPr lang="fr-FR" i="1">
                                    <a:latin typeface="Cambria Math" panose="02040503050406030204" pitchFamily="18" charset="0"/>
                                  </a:rPr>
                                  <m:t>′</m:t>
                                </m:r>
                              </m:sup>
                            </m:sSup>
                            <m:sSub>
                              <m:sSubPr>
                                <m:ctrlPr>
                                  <a:rPr lang="fr-FR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fr-FR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fr-FR" i="1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  <m:r>
                                  <a:rPr lang="fr-FR" i="1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fr-FR" i="1">
                                    <a:latin typeface="Cambria Math" panose="02040503050406030204" pitchFamily="18" charset="0"/>
                                  </a:rPr>
                                  <m:t>h</m:t>
                                </m:r>
                                <m:r>
                                  <a:rPr lang="fr-FR" i="1">
                                    <a:latin typeface="Cambria Math" panose="02040503050406030204" pitchFamily="18" charset="0"/>
                                  </a:rPr>
                                  <m:t>−1</m:t>
                                </m:r>
                              </m:sub>
                            </m:sSub>
                            <m:sSub>
                              <m:sSubPr>
                                <m:ctrlPr>
                                  <a:rPr lang="fr-FR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fr-FR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𝜀</m:t>
                                </m:r>
                              </m:e>
                              <m:sub>
                                <m:r>
                                  <a:rPr lang="fr-FR" i="1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  <m:r>
                                  <a:rPr lang="fr-FR" i="1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fr-FR" i="1">
                                    <a:latin typeface="Cambria Math" panose="02040503050406030204" pitchFamily="18" charset="0"/>
                                  </a:rPr>
                                  <m:t>h</m:t>
                                </m:r>
                              </m:sub>
                            </m:sSub>
                          </m:num>
                          <m:den>
                            <m:sSub>
                              <m:sSubPr>
                                <m:ctrlPr>
                                  <a:rPr lang="fr-FR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fr-FR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fr-FR" i="1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sub>
                            </m:sSub>
                          </m:den>
                        </m:f>
                      </m:e>
                    </m:d>
                  </m:oMath>
                </a14:m>
                <a:r>
                  <a:rPr lang="fr-FR" dirty="0" smtClean="0"/>
                  <a:t> </a:t>
                </a:r>
                <a:endParaRPr lang="fr-FR" dirty="0"/>
              </a:p>
            </p:txBody>
          </p:sp>
        </mc:Choice>
        <mc:Fallback xmlns="">
          <p:sp>
            <p:nvSpPr>
              <p:cNvPr id="3" name="ZoneTexte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1520" y="188640"/>
                <a:ext cx="8496944" cy="948016"/>
              </a:xfrm>
              <a:prstGeom prst="rect">
                <a:avLst/>
              </a:prstGeom>
              <a:blipFill rotWithShape="0">
                <a:blip r:embed="rId3"/>
                <a:stretch>
                  <a:fillRect t="-39355" b="-76774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ZoneTexte 3"/>
              <p:cNvSpPr txBox="1"/>
              <p:nvPr/>
            </p:nvSpPr>
            <p:spPr>
              <a:xfrm>
                <a:off x="179512" y="1412776"/>
                <a:ext cx="8784976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i="1" smtClean="0">
                          <a:latin typeface="Cambria Math" panose="02040503050406030204" pitchFamily="18" charset="0"/>
                        </a:rPr>
                        <m:t>𝐶𝑂𝑉</m:t>
                      </m:r>
                      <m:d>
                        <m:dPr>
                          <m:ctrlPr>
                            <a:rPr lang="fr-FR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type m:val="lin"/>
                              <m:ctrlPr>
                                <a:rPr lang="fr-FR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p>
                                <m:sSupPr>
                                  <m:ctrlPr>
                                    <a:rPr lang="fr-FR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fr-FR" i="1">
                                      <a:latin typeface="Cambria Math" panose="02040503050406030204" pitchFamily="18" charset="0"/>
                                    </a:rPr>
                                    <m:t>𝑤</m:t>
                                  </m:r>
                                </m:e>
                                <m:sup>
                                  <m:r>
                                    <a:rPr lang="fr-FR" i="1">
                                      <a:latin typeface="Cambria Math" panose="02040503050406030204" pitchFamily="18" charset="0"/>
                                    </a:rPr>
                                    <m:t>′</m:t>
                                  </m:r>
                                </m:sup>
                              </m:sSup>
                              <m:sSub>
                                <m:sSubPr>
                                  <m:ctrlPr>
                                    <a:rPr lang="fr-FR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fr-FR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fr-FR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  <m:r>
                                    <a:rPr lang="fr-FR" i="1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r>
                                    <a:rPr lang="fr-FR" i="1">
                                      <a:latin typeface="Cambria Math" panose="02040503050406030204" pitchFamily="18" charset="0"/>
                                    </a:rPr>
                                    <m:t>h</m:t>
                                  </m:r>
                                  <m:r>
                                    <a:rPr lang="fr-FR" i="1">
                                      <a:latin typeface="Cambria Math" panose="02040503050406030204" pitchFamily="18" charset="0"/>
                                    </a:rPr>
                                    <m:t>−1</m:t>
                                  </m:r>
                                </m:sub>
                              </m:sSub>
                              <m:r>
                                <a:rPr lang="fr-FR" i="1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sSup>
                                <m:sSupPr>
                                  <m:ctrlPr>
                                    <a:rPr lang="fr-FR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fr-FR" i="1">
                                      <a:latin typeface="Cambria Math" panose="02040503050406030204" pitchFamily="18" charset="0"/>
                                    </a:rPr>
                                    <m:t>𝑤</m:t>
                                  </m:r>
                                </m:e>
                                <m:sup>
                                  <m:r>
                                    <a:rPr lang="fr-FR" i="1">
                                      <a:latin typeface="Cambria Math" panose="02040503050406030204" pitchFamily="18" charset="0"/>
                                    </a:rPr>
                                    <m:t>′</m:t>
                                  </m:r>
                                </m:sup>
                              </m:sSup>
                              <m:sSub>
                                <m:sSubPr>
                                  <m:ctrlPr>
                                    <a:rPr lang="fr-FR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fr-FR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fr-FR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  <m:r>
                                    <a:rPr lang="fr-FR" i="1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r>
                                    <a:rPr lang="fr-FR" i="1">
                                      <a:latin typeface="Cambria Math" panose="02040503050406030204" pitchFamily="18" charset="0"/>
                                    </a:rPr>
                                    <m:t>h</m:t>
                                  </m:r>
                                  <m:r>
                                    <a:rPr lang="fr-FR" i="1">
                                      <a:latin typeface="Cambria Math" panose="02040503050406030204" pitchFamily="18" charset="0"/>
                                    </a:rPr>
                                    <m:t>−1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fr-FR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fr-FR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𝜀</m:t>
                                  </m:r>
                                </m:e>
                                <m:sub>
                                  <m:r>
                                    <a:rPr lang="fr-FR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  <m:r>
                                    <a:rPr lang="fr-FR" i="1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r>
                                    <a:rPr lang="fr-FR" i="1">
                                      <a:latin typeface="Cambria Math" panose="02040503050406030204" pitchFamily="18" charset="0"/>
                                    </a:rPr>
                                    <m:t>h</m:t>
                                  </m:r>
                                </m:sub>
                              </m:sSub>
                            </m:num>
                            <m:den>
                              <m:sSub>
                                <m:sSubPr>
                                  <m:ctrlPr>
                                    <a:rPr lang="fr-FR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fr-FR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fr-FR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b>
                              </m:sSub>
                            </m:den>
                          </m:f>
                        </m:e>
                      </m:d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fr-FR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p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r>
                        <a:rPr lang="fr-FR" i="1">
                          <a:latin typeface="Cambria Math" panose="02040503050406030204" pitchFamily="18" charset="0"/>
                        </a:rPr>
                        <m:t>𝐶𝑂𝑉</m:t>
                      </m:r>
                      <m:d>
                        <m:dPr>
                          <m:ctrlPr>
                            <a:rPr lang="fr-FR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type m:val="lin"/>
                              <m:ctrlPr>
                                <a:rPr lang="fr-FR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fr-FR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fr-FR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fr-FR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  <m:r>
                                    <a:rPr lang="fr-FR" i="1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r>
                                    <a:rPr lang="fr-FR" i="1">
                                      <a:latin typeface="Cambria Math" panose="02040503050406030204" pitchFamily="18" charset="0"/>
                                    </a:rPr>
                                    <m:t>h</m:t>
                                  </m:r>
                                  <m:r>
                                    <a:rPr lang="fr-FR" i="1">
                                      <a:latin typeface="Cambria Math" panose="02040503050406030204" pitchFamily="18" charset="0"/>
                                    </a:rPr>
                                    <m:t>−1</m:t>
                                  </m:r>
                                </m:sub>
                              </m:sSub>
                              <m:r>
                                <a:rPr lang="fr-FR" i="1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fr-FR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sSub>
                                <m:sSubPr>
                                  <m:ctrlPr>
                                    <a:rPr lang="fr-FR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fr-FR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fr-FR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  <m:r>
                                    <a:rPr lang="fr-FR" i="1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r>
                                    <a:rPr lang="fr-FR" i="1">
                                      <a:latin typeface="Cambria Math" panose="02040503050406030204" pitchFamily="18" charset="0"/>
                                    </a:rPr>
                                    <m:t>h</m:t>
                                  </m:r>
                                  <m:r>
                                    <a:rPr lang="fr-FR" i="1">
                                      <a:latin typeface="Cambria Math" panose="02040503050406030204" pitchFamily="18" charset="0"/>
                                    </a:rPr>
                                    <m:t>−1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fr-FR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fr-FR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𝜀</m:t>
                                  </m:r>
                                </m:e>
                                <m:sub>
                                  <m:r>
                                    <a:rPr lang="fr-FR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  <m:r>
                                    <a:rPr lang="fr-FR" i="1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r>
                                    <a:rPr lang="fr-FR" i="1">
                                      <a:latin typeface="Cambria Math" panose="02040503050406030204" pitchFamily="18" charset="0"/>
                                    </a:rPr>
                                    <m:t>h</m:t>
                                  </m:r>
                                </m:sub>
                              </m:sSub>
                            </m:num>
                            <m:den>
                              <m:sSub>
                                <m:sSubPr>
                                  <m:ctrlPr>
                                    <a:rPr lang="fr-FR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fr-FR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fr-FR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b>
                              </m:sSub>
                            </m:den>
                          </m:f>
                        </m:e>
                      </m:d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𝑤</m:t>
                      </m:r>
                    </m:oMath>
                  </m:oMathPara>
                </a14:m>
                <a:endParaRPr lang="fr-FR" dirty="0"/>
              </a:p>
            </p:txBody>
          </p:sp>
        </mc:Choice>
        <mc:Fallback xmlns="">
          <p:sp>
            <p:nvSpPr>
              <p:cNvPr id="4" name="ZoneTexte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9512" y="1412776"/>
                <a:ext cx="8784976" cy="400110"/>
              </a:xfrm>
              <a:prstGeom prst="rect">
                <a:avLst/>
              </a:prstGeom>
              <a:blipFill rotWithShape="0">
                <a:blip r:embed="rId4"/>
                <a:stretch>
                  <a:fillRect t="-115385" b="-184615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ZoneTexte 4"/>
              <p:cNvSpPr txBox="1"/>
              <p:nvPr/>
            </p:nvSpPr>
            <p:spPr>
              <a:xfrm>
                <a:off x="575048" y="1867737"/>
                <a:ext cx="8568952" cy="141724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fr-FR" i="1" smtClean="0">
                        <a:latin typeface="Cambria Math" panose="02040503050406030204" pitchFamily="18" charset="0"/>
                      </a:rPr>
                      <m:t>𝐶𝑂𝑉</m:t>
                    </m:r>
                    <m:d>
                      <m:dPr>
                        <m:ctrlPr>
                          <a:rPr lang="fr-FR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lin"/>
                            <m:ctrlPr>
                              <a:rPr lang="fr-FR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b>
                              <m:sSubPr>
                                <m:ctrlPr>
                                  <a:rPr lang="fr-FR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fr-FR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fr-FR" i="1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  <m:r>
                                  <a:rPr lang="fr-FR" i="1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fr-FR" i="1">
                                    <a:latin typeface="Cambria Math" panose="02040503050406030204" pitchFamily="18" charset="0"/>
                                  </a:rPr>
                                  <m:t>h</m:t>
                                </m:r>
                                <m:r>
                                  <a:rPr lang="fr-FR" i="1">
                                    <a:latin typeface="Cambria Math" panose="02040503050406030204" pitchFamily="18" charset="0"/>
                                  </a:rPr>
                                  <m:t>−1</m:t>
                                </m:r>
                              </m:sub>
                            </m:sSub>
                            <m:r>
                              <a:rPr lang="fr-FR" i="1">
                                <a:latin typeface="Cambria Math" panose="02040503050406030204" pitchFamily="18" charset="0"/>
                              </a:rPr>
                              <m:t>, </m:t>
                            </m:r>
                            <m:sSub>
                              <m:sSubPr>
                                <m:ctrlPr>
                                  <a:rPr lang="fr-FR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fr-FR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fr-FR" i="1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  <m:r>
                                  <a:rPr lang="fr-FR" i="1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fr-FR" i="1">
                                    <a:latin typeface="Cambria Math" panose="02040503050406030204" pitchFamily="18" charset="0"/>
                                  </a:rPr>
                                  <m:t>h</m:t>
                                </m:r>
                                <m:r>
                                  <a:rPr lang="fr-FR" i="1">
                                    <a:latin typeface="Cambria Math" panose="02040503050406030204" pitchFamily="18" charset="0"/>
                                  </a:rPr>
                                  <m:t>−1</m:t>
                                </m:r>
                              </m:sub>
                            </m:sSub>
                            <m:sSub>
                              <m:sSubPr>
                                <m:ctrlPr>
                                  <a:rPr lang="fr-FR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fr-FR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𝜀</m:t>
                                </m:r>
                              </m:e>
                              <m:sub>
                                <m:r>
                                  <a:rPr lang="fr-FR" i="1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  <m:r>
                                  <a:rPr lang="fr-FR" i="1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fr-FR" i="1">
                                    <a:latin typeface="Cambria Math" panose="02040503050406030204" pitchFamily="18" charset="0"/>
                                  </a:rPr>
                                  <m:t>h</m:t>
                                </m:r>
                              </m:sub>
                            </m:sSub>
                          </m:num>
                          <m:den>
                            <m:sSub>
                              <m:sSubPr>
                                <m:ctrlPr>
                                  <a:rPr lang="fr-FR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fr-FR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fr-FR" i="1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sub>
                            </m:sSub>
                          </m:den>
                        </m:f>
                      </m:e>
                    </m:d>
                    <m:r>
                      <a:rPr lang="fr-FR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fr-FR" b="0" i="1" smtClean="0">
                        <a:latin typeface="Cambria Math" panose="02040503050406030204" pitchFamily="18" charset="0"/>
                      </a:rPr>
                      <m:t>𝐸</m:t>
                    </m:r>
                    <m:d>
                      <m:dPr>
                        <m:ctrlPr>
                          <a:rPr lang="fr-FR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lin"/>
                            <m:ctrlPr>
                              <a:rPr lang="fr-FR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b>
                              <m:sSubPr>
                                <m:ctrlPr>
                                  <a:rPr lang="fr-FR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fr-FR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fr-FR" i="1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  <m:r>
                                  <a:rPr lang="fr-FR" i="1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fr-FR" i="1">
                                    <a:latin typeface="Cambria Math" panose="02040503050406030204" pitchFamily="18" charset="0"/>
                                  </a:rPr>
                                  <m:t>h</m:t>
                                </m:r>
                                <m:r>
                                  <a:rPr lang="fr-FR" i="1">
                                    <a:latin typeface="Cambria Math" panose="02040503050406030204" pitchFamily="18" charset="0"/>
                                  </a:rPr>
                                  <m:t>−1</m:t>
                                </m:r>
                              </m:sub>
                            </m:sSub>
                            <m:sSubSup>
                              <m:sSubSupPr>
                                <m:ctrlPr>
                                  <a:rPr lang="fr-FR" i="1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fr-FR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fr-FR" i="1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  <m:r>
                                  <a:rPr lang="fr-FR" i="1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fr-FR" i="1">
                                    <a:latin typeface="Cambria Math" panose="02040503050406030204" pitchFamily="18" charset="0"/>
                                  </a:rPr>
                                  <m:t>h</m:t>
                                </m:r>
                                <m:r>
                                  <a:rPr lang="fr-FR" i="1">
                                    <a:latin typeface="Cambria Math" panose="02040503050406030204" pitchFamily="18" charset="0"/>
                                  </a:rPr>
                                  <m:t>−1</m:t>
                                </m:r>
                              </m:sub>
                              <m:sup>
                                <m:r>
                                  <a:rPr lang="fr-FR" i="1">
                                    <a:latin typeface="Cambria Math" panose="02040503050406030204" pitchFamily="18" charset="0"/>
                                  </a:rPr>
                                  <m:t>′</m:t>
                                </m:r>
                              </m:sup>
                            </m:sSubSup>
                            <m:sSub>
                              <m:sSubPr>
                                <m:ctrlPr>
                                  <a:rPr lang="fr-FR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fr-FR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𝜀</m:t>
                                </m:r>
                              </m:e>
                              <m:sub>
                                <m:r>
                                  <a:rPr lang="fr-FR" i="1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  <m:r>
                                  <a:rPr lang="fr-FR" i="1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fr-FR" i="1">
                                    <a:latin typeface="Cambria Math" panose="02040503050406030204" pitchFamily="18" charset="0"/>
                                  </a:rPr>
                                  <m:t>h</m:t>
                                </m:r>
                              </m:sub>
                            </m:sSub>
                          </m:num>
                          <m:den>
                            <m:sSub>
                              <m:sSubPr>
                                <m:ctrlPr>
                                  <a:rPr lang="fr-FR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fr-FR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fr-FR" b="0" i="1" smtClean="0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sub>
                            </m:sSub>
                          </m:den>
                        </m:f>
                      </m:e>
                    </m:d>
                    <m:r>
                      <a:rPr lang="fr-FR" b="0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fr-FR" b="0" i="1" smtClean="0">
                        <a:latin typeface="Cambria Math" panose="02040503050406030204" pitchFamily="18" charset="0"/>
                      </a:rPr>
                      <m:t>𝐸</m:t>
                    </m:r>
                    <m:d>
                      <m:dPr>
                        <m:ctrlPr>
                          <a:rPr lang="fr-FR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lin"/>
                            <m:ctrlPr>
                              <a:rPr lang="fr-FR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b>
                              <m:sSubPr>
                                <m:ctrlPr>
                                  <a:rPr lang="fr-FR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fr-FR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fr-FR" i="1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  <m:r>
                                  <a:rPr lang="fr-FR" i="1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fr-FR" i="1">
                                    <a:latin typeface="Cambria Math" panose="02040503050406030204" pitchFamily="18" charset="0"/>
                                  </a:rPr>
                                  <m:t>h</m:t>
                                </m:r>
                                <m:r>
                                  <a:rPr lang="fr-FR" i="1">
                                    <a:latin typeface="Cambria Math" panose="02040503050406030204" pitchFamily="18" charset="0"/>
                                  </a:rPr>
                                  <m:t>−1</m:t>
                                </m:r>
                              </m:sub>
                            </m:sSub>
                          </m:num>
                          <m:den>
                            <m:sSub>
                              <m:sSubPr>
                                <m:ctrlPr>
                                  <a:rPr lang="fr-FR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fr-FR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fr-FR" b="0" i="1" smtClean="0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sub>
                            </m:sSub>
                          </m:den>
                        </m:f>
                      </m:e>
                    </m:d>
                    <m:r>
                      <a:rPr lang="fr-FR" i="1">
                        <a:latin typeface="Cambria Math" panose="02040503050406030204" pitchFamily="18" charset="0"/>
                      </a:rPr>
                      <m:t>𝐸</m:t>
                    </m:r>
                    <m:sSup>
                      <m:sSupPr>
                        <m:ctrlPr>
                          <a:rPr lang="fr-FR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fr-FR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lin"/>
                                <m:ctrlPr>
                                  <a:rPr lang="fr-FR" i="1" smtClean="0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sSub>
                                  <m:sSubPr>
                                    <m:ctrlPr>
                                      <a:rPr lang="fr-FR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fr-FR" i="1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fr-FR" i="1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  <m:r>
                                      <a:rPr lang="fr-FR" i="1"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r>
                                      <a:rPr lang="fr-FR" i="1">
                                        <a:latin typeface="Cambria Math" panose="02040503050406030204" pitchFamily="18" charset="0"/>
                                      </a:rPr>
                                      <m:t>h</m:t>
                                    </m:r>
                                    <m:r>
                                      <a:rPr lang="fr-FR" i="1">
                                        <a:latin typeface="Cambria Math" panose="02040503050406030204" pitchFamily="18" charset="0"/>
                                      </a:rPr>
                                      <m:t>−1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fr-FR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fr-FR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𝜀</m:t>
                                    </m:r>
                                  </m:e>
                                  <m:sub>
                                    <m:r>
                                      <a:rPr lang="fr-FR" i="1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  <m:r>
                                      <a:rPr lang="fr-FR" i="1"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r>
                                      <a:rPr lang="fr-FR" i="1">
                                        <a:latin typeface="Cambria Math" panose="02040503050406030204" pitchFamily="18" charset="0"/>
                                      </a:rPr>
                                      <m:t>h</m:t>
                                    </m:r>
                                  </m:sub>
                                </m:sSub>
                              </m:num>
                              <m:den>
                                <m:sSub>
                                  <m:sSubPr>
                                    <m:ctrlPr>
                                      <a:rPr lang="fr-FR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fr-FR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fr-FR" b="0" i="1" smtClean="0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sub>
                                </m:sSub>
                              </m:den>
                            </m:f>
                          </m:e>
                        </m:d>
                      </m:e>
                      <m:sup>
                        <m:r>
                          <a:rPr lang="fr-FR" b="0" i="1" smtClean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fr-FR" b="0" i="0" smtClean="0">
                        <a:latin typeface="Cambria Math" panose="02040503050406030204" pitchFamily="18" charset="0"/>
                      </a:rPr>
                      <m:t> =</m:t>
                    </m:r>
                    <m:r>
                      <m:rPr>
                        <m:sty m:val="p"/>
                      </m:rPr>
                      <a:rPr lang="fr-FR" b="0" i="0" smtClean="0">
                        <a:latin typeface="Cambria Math" panose="02040503050406030204" pitchFamily="18" charset="0"/>
                      </a:rPr>
                      <m:t>E</m:t>
                    </m:r>
                    <m:d>
                      <m:dPr>
                        <m:ctrlPr>
                          <a:rPr lang="fr-FR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lin"/>
                            <m:ctrlPr>
                              <a:rPr lang="fr-FR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b>
                              <m:sSubPr>
                                <m:ctrlPr>
                                  <a:rPr lang="fr-FR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fr-FR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fr-FR" i="1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  <m:r>
                                  <a:rPr lang="fr-FR" i="1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fr-FR" i="1">
                                    <a:latin typeface="Cambria Math" panose="02040503050406030204" pitchFamily="18" charset="0"/>
                                  </a:rPr>
                                  <m:t>h</m:t>
                                </m:r>
                                <m:r>
                                  <a:rPr lang="fr-FR" i="1">
                                    <a:latin typeface="Cambria Math" panose="02040503050406030204" pitchFamily="18" charset="0"/>
                                  </a:rPr>
                                  <m:t>−1</m:t>
                                </m:r>
                              </m:sub>
                            </m:sSub>
                            <m:sSubSup>
                              <m:sSubSupPr>
                                <m:ctrlPr>
                                  <a:rPr lang="fr-FR" i="1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fr-FR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fr-FR" i="1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  <m:r>
                                  <a:rPr lang="fr-FR" i="1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fr-FR" i="1">
                                    <a:latin typeface="Cambria Math" panose="02040503050406030204" pitchFamily="18" charset="0"/>
                                  </a:rPr>
                                  <m:t>h</m:t>
                                </m:r>
                                <m:r>
                                  <a:rPr lang="fr-FR" i="1">
                                    <a:latin typeface="Cambria Math" panose="02040503050406030204" pitchFamily="18" charset="0"/>
                                  </a:rPr>
                                  <m:t>−1</m:t>
                                </m:r>
                              </m:sub>
                              <m:sup>
                                <m:r>
                                  <a:rPr lang="fr-FR" i="1">
                                    <a:latin typeface="Cambria Math" panose="02040503050406030204" pitchFamily="18" charset="0"/>
                                  </a:rPr>
                                  <m:t>′</m:t>
                                </m:r>
                              </m:sup>
                            </m:sSubSup>
                          </m:num>
                          <m:den>
                            <m:sSub>
                              <m:sSubPr>
                                <m:ctrlPr>
                                  <a:rPr lang="fr-FR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fr-FR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fr-FR" b="0" i="1" smtClean="0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sub>
                            </m:sSub>
                          </m:den>
                        </m:f>
                      </m:e>
                    </m:d>
                    <m:r>
                      <a:rPr lang="fr-FR" b="0" i="1" smtClean="0">
                        <a:latin typeface="Cambria Math" panose="02040503050406030204" pitchFamily="18" charset="0"/>
                      </a:rPr>
                      <m:t>𝐸</m:t>
                    </m:r>
                    <m:d>
                      <m:dPr>
                        <m:ctrlPr>
                          <a:rPr lang="fr-FR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lin"/>
                            <m:ctrlPr>
                              <a:rPr lang="fr-FR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b>
                              <m:sSubPr>
                                <m:ctrlPr>
                                  <a:rPr lang="fr-FR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fr-FR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𝜀</m:t>
                                </m:r>
                              </m:e>
                              <m:sub>
                                <m:r>
                                  <a:rPr lang="fr-FR" i="1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  <m:r>
                                  <a:rPr lang="fr-FR" i="1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fr-FR" i="1">
                                    <a:latin typeface="Cambria Math" panose="02040503050406030204" pitchFamily="18" charset="0"/>
                                  </a:rPr>
                                  <m:t>h</m:t>
                                </m:r>
                              </m:sub>
                            </m:sSub>
                          </m:num>
                          <m:den>
                            <m:sSub>
                              <m:sSubPr>
                                <m:ctrlPr>
                                  <a:rPr lang="fr-FR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fr-FR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fr-FR" b="0" i="1" smtClean="0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sub>
                            </m:sSub>
                          </m:den>
                        </m:f>
                      </m:e>
                    </m:d>
                    <m:r>
                      <a:rPr lang="fr-FR" b="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fr-FR" dirty="0" smtClean="0"/>
                  <a:t> </a:t>
                </a:r>
              </a:p>
              <a:p>
                <a:pPr>
                  <a:lnSpc>
                    <a:spcPct val="150000"/>
                  </a:lnSpc>
                </a:pPr>
                <a:endParaRPr lang="fr-FR" dirty="0"/>
              </a:p>
            </p:txBody>
          </p:sp>
        </mc:Choice>
        <mc:Fallback xmlns="">
          <p:sp>
            <p:nvSpPr>
              <p:cNvPr id="5" name="ZoneTexte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5048" y="1867737"/>
                <a:ext cx="8568952" cy="1417247"/>
              </a:xfrm>
              <a:prstGeom prst="rect">
                <a:avLst/>
              </a:prstGeom>
              <a:blipFill rotWithShape="0">
                <a:blip r:embed="rId5"/>
                <a:stretch>
                  <a:fillRect t="-25751" b="-18026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ZoneTexte 6"/>
              <p:cNvSpPr txBox="1"/>
              <p:nvPr/>
            </p:nvSpPr>
            <p:spPr>
              <a:xfrm>
                <a:off x="395536" y="3212976"/>
                <a:ext cx="8496944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fr-FR" i="1" smtClean="0">
                        <a:latin typeface="Cambria Math" panose="02040503050406030204" pitchFamily="18" charset="0"/>
                      </a:rPr>
                      <m:t>𝑉</m:t>
                    </m:r>
                    <m:d>
                      <m:dPr>
                        <m:ctrlPr>
                          <a:rPr lang="fr-FR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lin"/>
                            <m:ctrlPr>
                              <a:rPr lang="fr-FR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p>
                              <m:sSupPr>
                                <m:ctrlPr>
                                  <a:rPr lang="fr-FR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fr-FR" i="1">
                                    <a:latin typeface="Cambria Math" panose="02040503050406030204" pitchFamily="18" charset="0"/>
                                  </a:rPr>
                                  <m:t>𝑤</m:t>
                                </m:r>
                              </m:e>
                              <m:sup>
                                <m:r>
                                  <a:rPr lang="fr-FR" i="1">
                                    <a:latin typeface="Cambria Math" panose="02040503050406030204" pitchFamily="18" charset="0"/>
                                  </a:rPr>
                                  <m:t>′</m:t>
                                </m:r>
                              </m:sup>
                            </m:sSup>
                            <m:sSub>
                              <m:sSubPr>
                                <m:ctrlPr>
                                  <a:rPr lang="fr-FR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fr-FR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fr-FR" i="1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  <m:r>
                                  <a:rPr lang="fr-FR" i="1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fr-FR" i="1">
                                    <a:latin typeface="Cambria Math" panose="02040503050406030204" pitchFamily="18" charset="0"/>
                                  </a:rPr>
                                  <m:t>h</m:t>
                                </m:r>
                                <m:r>
                                  <a:rPr lang="fr-FR" i="1">
                                    <a:latin typeface="Cambria Math" panose="02040503050406030204" pitchFamily="18" charset="0"/>
                                  </a:rPr>
                                  <m:t>−1</m:t>
                                </m:r>
                              </m:sub>
                            </m:sSub>
                            <m:sSub>
                              <m:sSubPr>
                                <m:ctrlPr>
                                  <a:rPr lang="fr-FR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fr-FR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𝜀</m:t>
                                </m:r>
                              </m:e>
                              <m:sub>
                                <m:r>
                                  <a:rPr lang="fr-FR" i="1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  <m:r>
                                  <a:rPr lang="fr-FR" i="1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fr-FR" i="1">
                                    <a:latin typeface="Cambria Math" panose="02040503050406030204" pitchFamily="18" charset="0"/>
                                  </a:rPr>
                                  <m:t>h</m:t>
                                </m:r>
                              </m:sub>
                            </m:sSub>
                          </m:num>
                          <m:den>
                            <m:sSub>
                              <m:sSubPr>
                                <m:ctrlPr>
                                  <a:rPr lang="fr-FR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fr-FR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fr-FR" i="1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sub>
                            </m:sSub>
                          </m:den>
                        </m:f>
                      </m:e>
                    </m:d>
                    <m:r>
                      <a:rPr lang="fr-FR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fr-FR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fr-FR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p>
                        <m:r>
                          <a:rPr lang="fr-FR" b="0" i="1" smtClean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fr-FR" i="1">
                        <a:latin typeface="Cambria Math" panose="02040503050406030204" pitchFamily="18" charset="0"/>
                      </a:rPr>
                      <m:t>𝑉</m:t>
                    </m:r>
                    <m:d>
                      <m:dPr>
                        <m:ctrlPr>
                          <a:rPr lang="fr-FR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lin"/>
                            <m:ctrlPr>
                              <a:rPr lang="fr-FR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b>
                              <m:sSubPr>
                                <m:ctrlPr>
                                  <a:rPr lang="fr-FR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fr-FR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fr-FR" i="1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  <m:r>
                                  <a:rPr lang="fr-FR" i="1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fr-FR" i="1">
                                    <a:latin typeface="Cambria Math" panose="02040503050406030204" pitchFamily="18" charset="0"/>
                                  </a:rPr>
                                  <m:t>h</m:t>
                                </m:r>
                                <m:r>
                                  <a:rPr lang="fr-FR" i="1">
                                    <a:latin typeface="Cambria Math" panose="02040503050406030204" pitchFamily="18" charset="0"/>
                                  </a:rPr>
                                  <m:t>−1</m:t>
                                </m:r>
                              </m:sub>
                            </m:sSub>
                            <m:sSub>
                              <m:sSubPr>
                                <m:ctrlPr>
                                  <a:rPr lang="fr-FR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fr-FR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𝜀</m:t>
                                </m:r>
                              </m:e>
                              <m:sub>
                                <m:r>
                                  <a:rPr lang="fr-FR" i="1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  <m:r>
                                  <a:rPr lang="fr-FR" i="1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fr-FR" i="1">
                                    <a:latin typeface="Cambria Math" panose="02040503050406030204" pitchFamily="18" charset="0"/>
                                  </a:rPr>
                                  <m:t>h</m:t>
                                </m:r>
                              </m:sub>
                            </m:sSub>
                          </m:num>
                          <m:den>
                            <m:sSub>
                              <m:sSubPr>
                                <m:ctrlPr>
                                  <a:rPr lang="fr-FR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fr-FR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fr-FR" i="1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sub>
                            </m:sSub>
                          </m:den>
                        </m:f>
                      </m:e>
                    </m:d>
                  </m:oMath>
                </a14:m>
                <a:r>
                  <a:rPr lang="fr-FR" dirty="0" smtClean="0"/>
                  <a:t>w</a:t>
                </a:r>
                <a:endParaRPr lang="fr-FR" dirty="0"/>
              </a:p>
            </p:txBody>
          </p:sp>
        </mc:Choice>
        <mc:Fallback xmlns="">
          <p:sp>
            <p:nvSpPr>
              <p:cNvPr id="7" name="ZoneTexte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5536" y="3212976"/>
                <a:ext cx="8496944" cy="400110"/>
              </a:xfrm>
              <a:prstGeom prst="rect">
                <a:avLst/>
              </a:prstGeom>
              <a:blipFill rotWithShape="0">
                <a:blip r:embed="rId6"/>
                <a:stretch>
                  <a:fillRect t="-113636" b="-180303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ZoneTexte 7"/>
              <p:cNvSpPr txBox="1"/>
              <p:nvPr/>
            </p:nvSpPr>
            <p:spPr>
              <a:xfrm>
                <a:off x="179512" y="3933056"/>
                <a:ext cx="9217024" cy="254922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i="1" smtClean="0">
                          <a:latin typeface="Cambria Math" panose="02040503050406030204" pitchFamily="18" charset="0"/>
                        </a:rPr>
                        <m:t>𝑉</m:t>
                      </m:r>
                      <m:d>
                        <m:dPr>
                          <m:ctrlPr>
                            <a:rPr lang="fr-FR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type m:val="lin"/>
                              <m:ctrlPr>
                                <a:rPr lang="fr-FR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fr-FR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fr-FR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fr-FR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  <m:r>
                                    <a:rPr lang="fr-FR" i="1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r>
                                    <a:rPr lang="fr-FR" i="1">
                                      <a:latin typeface="Cambria Math" panose="02040503050406030204" pitchFamily="18" charset="0"/>
                                    </a:rPr>
                                    <m:t>h</m:t>
                                  </m:r>
                                  <m:r>
                                    <a:rPr lang="fr-FR" i="1">
                                      <a:latin typeface="Cambria Math" panose="02040503050406030204" pitchFamily="18" charset="0"/>
                                    </a:rPr>
                                    <m:t>−1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fr-FR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fr-FR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𝜀</m:t>
                                  </m:r>
                                </m:e>
                                <m:sub>
                                  <m:r>
                                    <a:rPr lang="fr-FR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  <m:r>
                                    <a:rPr lang="fr-FR" i="1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r>
                                    <a:rPr lang="fr-FR" i="1">
                                      <a:latin typeface="Cambria Math" panose="02040503050406030204" pitchFamily="18" charset="0"/>
                                    </a:rPr>
                                    <m:t>h</m:t>
                                  </m:r>
                                </m:sub>
                              </m:sSub>
                            </m:num>
                            <m:den>
                              <m:sSub>
                                <m:sSubPr>
                                  <m:ctrlPr>
                                    <a:rPr lang="fr-FR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fr-FR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fr-FR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b>
                              </m:sSub>
                            </m:den>
                          </m:f>
                        </m:e>
                      </m:d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𝐸</m:t>
                      </m:r>
                      <m:d>
                        <m:dPr>
                          <m:ctrlPr>
                            <a:rPr lang="fr-FR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type m:val="lin"/>
                              <m:ctrlPr>
                                <a:rPr lang="fr-FR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fr-FR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fr-FR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fr-FR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  <m:r>
                                    <a:rPr lang="fr-FR" i="1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r>
                                    <a:rPr lang="fr-FR" i="1">
                                      <a:latin typeface="Cambria Math" panose="02040503050406030204" pitchFamily="18" charset="0"/>
                                    </a:rPr>
                                    <m:t>h</m:t>
                                  </m:r>
                                  <m:r>
                                    <a:rPr lang="fr-FR" i="1">
                                      <a:latin typeface="Cambria Math" panose="02040503050406030204" pitchFamily="18" charset="0"/>
                                    </a:rPr>
                                    <m:t>−1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fr-FR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fr-FR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𝜀</m:t>
                                  </m:r>
                                </m:e>
                                <m:sub>
                                  <m:r>
                                    <a:rPr lang="fr-FR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  <m:r>
                                    <a:rPr lang="fr-FR" i="1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r>
                                    <a:rPr lang="fr-FR" i="1">
                                      <a:latin typeface="Cambria Math" panose="02040503050406030204" pitchFamily="18" charset="0"/>
                                    </a:rPr>
                                    <m:t>h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fr-FR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fr-FR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𝜀</m:t>
                                  </m:r>
                                </m:e>
                                <m:sub>
                                  <m:r>
                                    <a:rPr lang="fr-FR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  <m:r>
                                    <a:rPr lang="fr-FR" i="1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r>
                                    <a:rPr lang="fr-FR" i="1">
                                      <a:latin typeface="Cambria Math" panose="02040503050406030204" pitchFamily="18" charset="0"/>
                                    </a:rPr>
                                    <m:t>h</m:t>
                                  </m:r>
                                </m:sub>
                              </m:sSub>
                              <m:sSubSup>
                                <m:sSubSupPr>
                                  <m:ctrlPr>
                                    <a:rPr lang="fr-FR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fr-FR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fr-FR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  <m:r>
                                    <a:rPr lang="fr-FR" i="1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r>
                                    <a:rPr lang="fr-FR" i="1">
                                      <a:latin typeface="Cambria Math" panose="02040503050406030204" pitchFamily="18" charset="0"/>
                                    </a:rPr>
                                    <m:t>h</m:t>
                                  </m:r>
                                </m:sub>
                                <m:sup>
                                  <m:r>
                                    <a:rPr lang="fr-FR" i="1">
                                      <a:latin typeface="Cambria Math" panose="02040503050406030204" pitchFamily="18" charset="0"/>
                                    </a:rPr>
                                    <m:t>′</m:t>
                                  </m:r>
                                </m:sup>
                              </m:sSubSup>
                            </m:num>
                            <m:den>
                              <m:sSub>
                                <m:sSubPr>
                                  <m:ctrlPr>
                                    <a:rPr lang="fr-FR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fr-FR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fr-FR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b>
                              </m:sSub>
                            </m:den>
                          </m:f>
                        </m:e>
                      </m:d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𝐸</m:t>
                      </m:r>
                      <m:d>
                        <m:dPr>
                          <m:ctrlPr>
                            <a:rPr lang="fr-FR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type m:val="lin"/>
                              <m:ctrlPr>
                                <a:rPr lang="fr-FR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fr-FR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fr-FR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fr-FR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  <m:r>
                                    <a:rPr lang="fr-FR" i="1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r>
                                    <a:rPr lang="fr-FR" i="1">
                                      <a:latin typeface="Cambria Math" panose="02040503050406030204" pitchFamily="18" charset="0"/>
                                    </a:rPr>
                                    <m:t>h</m:t>
                                  </m:r>
                                  <m:r>
                                    <a:rPr lang="fr-FR" i="1">
                                      <a:latin typeface="Cambria Math" panose="02040503050406030204" pitchFamily="18" charset="0"/>
                                    </a:rPr>
                                    <m:t>−1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fr-FR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fr-FR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𝜀</m:t>
                                  </m:r>
                                </m:e>
                                <m:sub>
                                  <m:r>
                                    <a:rPr lang="fr-FR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  <m:r>
                                    <a:rPr lang="fr-FR" i="1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r>
                                    <a:rPr lang="fr-FR" i="1">
                                      <a:latin typeface="Cambria Math" panose="02040503050406030204" pitchFamily="18" charset="0"/>
                                    </a:rPr>
                                    <m:t>h</m:t>
                                  </m:r>
                                </m:sub>
                              </m:sSub>
                            </m:num>
                            <m:den>
                              <m:sSub>
                                <m:sSubPr>
                                  <m:ctrlPr>
                                    <a:rPr lang="fr-FR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fr-FR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fr-FR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b>
                              </m:sSub>
                            </m:den>
                          </m:f>
                        </m:e>
                      </m:d>
                      <m:r>
                        <a:rPr lang="fr-FR" i="1">
                          <a:latin typeface="Cambria Math" panose="02040503050406030204" pitchFamily="18" charset="0"/>
                        </a:rPr>
                        <m:t>𝐸</m:t>
                      </m:r>
                      <m:sSup>
                        <m:sSupPr>
                          <m:ctrlPr>
                            <a:rPr lang="fr-FR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fr-FR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type m:val="lin"/>
                                  <m:ctrlPr>
                                    <a:rPr lang="fr-FR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b>
                                    <m:sSubPr>
                                      <m:ctrlPr>
                                        <a:rPr lang="fr-FR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fr-FR" i="1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fr-FR" i="1">
                                          <a:latin typeface="Cambria Math" panose="02040503050406030204" pitchFamily="18" charset="0"/>
                                        </a:rPr>
                                        <m:t>𝑛</m:t>
                                      </m:r>
                                      <m:r>
                                        <a:rPr lang="fr-FR" i="1">
                                          <a:latin typeface="Cambria Math" panose="02040503050406030204" pitchFamily="18" charset="0"/>
                                        </a:rPr>
                                        <m:t>+</m:t>
                                      </m:r>
                                      <m:r>
                                        <a:rPr lang="fr-FR" i="1">
                                          <a:latin typeface="Cambria Math" panose="02040503050406030204" pitchFamily="18" charset="0"/>
                                        </a:rPr>
                                        <m:t>h</m:t>
                                      </m:r>
                                      <m:r>
                                        <a:rPr lang="fr-FR" i="1">
                                          <a:latin typeface="Cambria Math" panose="02040503050406030204" pitchFamily="18" charset="0"/>
                                        </a:rPr>
                                        <m:t>−1</m:t>
                                      </m:r>
                                    </m:sub>
                                  </m:sSub>
                                  <m:sSub>
                                    <m:sSubPr>
                                      <m:ctrlPr>
                                        <a:rPr lang="fr-FR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fr-FR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𝜀</m:t>
                                      </m:r>
                                    </m:e>
                                    <m:sub>
                                      <m:r>
                                        <a:rPr lang="fr-FR" i="1">
                                          <a:latin typeface="Cambria Math" panose="02040503050406030204" pitchFamily="18" charset="0"/>
                                        </a:rPr>
                                        <m:t>𝑛</m:t>
                                      </m:r>
                                      <m:r>
                                        <a:rPr lang="fr-FR" i="1">
                                          <a:latin typeface="Cambria Math" panose="02040503050406030204" pitchFamily="18" charset="0"/>
                                        </a:rPr>
                                        <m:t>+</m:t>
                                      </m:r>
                                      <m:r>
                                        <a:rPr lang="fr-FR" i="1">
                                          <a:latin typeface="Cambria Math" panose="02040503050406030204" pitchFamily="18" charset="0"/>
                                        </a:rPr>
                                        <m:t>h</m:t>
                                      </m:r>
                                    </m:sub>
                                  </m:sSub>
                                </m:num>
                                <m:den>
                                  <m:sSub>
                                    <m:sSubPr>
                                      <m:ctrlPr>
                                        <a:rPr lang="fr-FR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fr-FR" i="1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fr-FR" i="1">
                                          <a:latin typeface="Cambria Math" panose="02040503050406030204" pitchFamily="18" charset="0"/>
                                        </a:rPr>
                                        <m:t>𝑛</m:t>
                                      </m:r>
                                    </m:sub>
                                  </m:sSub>
                                </m:den>
                              </m:f>
                            </m:e>
                          </m:d>
                        </m:e>
                        <m:sup>
                          <m:r>
                            <a:rPr lang="fr-FR" b="0" i="0" smtClean="0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r>
                        <a:rPr lang="fr-FR" b="0" i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fr-FR" b="0" i="0" smtClean="0">
                          <a:latin typeface="Cambria Math" panose="02040503050406030204" pitchFamily="18" charset="0"/>
                        </a:rPr>
                        <m:t>E</m:t>
                      </m:r>
                      <m:d>
                        <m:dPr>
                          <m:ctrlPr>
                            <a:rPr lang="fr-FR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type m:val="lin"/>
                              <m:ctrlPr>
                                <a:rPr lang="fr-FR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fr-FR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fr-FR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fr-FR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  <m:r>
                                    <a:rPr lang="fr-FR" i="1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r>
                                    <a:rPr lang="fr-FR" i="1">
                                      <a:latin typeface="Cambria Math" panose="02040503050406030204" pitchFamily="18" charset="0"/>
                                    </a:rPr>
                                    <m:t>h</m:t>
                                  </m:r>
                                  <m:r>
                                    <a:rPr lang="fr-FR" i="1">
                                      <a:latin typeface="Cambria Math" panose="02040503050406030204" pitchFamily="18" charset="0"/>
                                    </a:rPr>
                                    <m:t>−1</m:t>
                                  </m:r>
                                </m:sub>
                              </m:sSub>
                              <m:sSubSup>
                                <m:sSubSupPr>
                                  <m:ctrlPr>
                                    <a:rPr lang="fr-FR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fr-FR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fr-FR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  <m:r>
                                    <a:rPr lang="fr-FR" i="1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r>
                                    <a:rPr lang="fr-FR" i="1">
                                      <a:latin typeface="Cambria Math" panose="02040503050406030204" pitchFamily="18" charset="0"/>
                                    </a:rPr>
                                    <m:t>h</m:t>
                                  </m:r>
                                  <m:r>
                                    <a:rPr lang="fr-FR" i="1">
                                      <a:latin typeface="Cambria Math" panose="02040503050406030204" pitchFamily="18" charset="0"/>
                                    </a:rPr>
                                    <m:t>−1</m:t>
                                  </m:r>
                                </m:sub>
                                <m:sup>
                                  <m:r>
                                    <a:rPr lang="fr-FR" i="1">
                                      <a:latin typeface="Cambria Math" panose="02040503050406030204" pitchFamily="18" charset="0"/>
                                    </a:rPr>
                                    <m:t>′</m:t>
                                  </m:r>
                                </m:sup>
                              </m:sSubSup>
                            </m:num>
                            <m:den>
                              <m:sSub>
                                <m:sSubPr>
                                  <m:ctrlPr>
                                    <a:rPr lang="fr-FR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fr-FR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fr-FR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b>
                              </m:sSub>
                            </m:den>
                          </m:f>
                        </m:e>
                      </m:d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𝐸</m:t>
                      </m:r>
                      <m:d>
                        <m:dPr>
                          <m:ctrlPr>
                            <a:rPr lang="fr-FR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type m:val="lin"/>
                              <m:ctrlPr>
                                <a:rPr lang="fr-FR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bSup>
                                <m:sSubSupPr>
                                  <m:ctrlPr>
                                    <a:rPr lang="fr-FR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fr-FR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𝜀</m:t>
                                  </m:r>
                                </m:e>
                                <m:sub>
                                  <m:r>
                                    <a:rPr lang="fr-FR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  <m:r>
                                    <a:rPr lang="fr-FR" i="1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r>
                                    <a:rPr lang="fr-FR" i="1">
                                      <a:latin typeface="Cambria Math" panose="02040503050406030204" pitchFamily="18" charset="0"/>
                                    </a:rPr>
                                    <m:t>h</m:t>
                                  </m:r>
                                </m:sub>
                                <m:sup>
                                  <m:r>
                                    <a:rPr lang="fr-FR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bSup>
                            </m:num>
                            <m:den>
                              <m:sSub>
                                <m:sSubPr>
                                  <m:ctrlPr>
                                    <a:rPr lang="fr-FR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fr-FR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fr-FR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b>
                              </m:sSub>
                            </m:den>
                          </m:f>
                        </m:e>
                      </m:d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fr-FR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𝑉</m:t>
                          </m:r>
                          <m:d>
                            <m:dPr>
                              <m:ctrlPr>
                                <a:rPr lang="fr-FR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type m:val="lin"/>
                                  <m:ctrlPr>
                                    <a:rPr lang="fr-FR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b>
                                    <m:sSubPr>
                                      <m:ctrlPr>
                                        <a:rPr lang="fr-FR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fr-FR" b="0" i="1" smtClean="0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fr-FR" b="0" i="1" smtClean="0">
                                          <a:latin typeface="Cambria Math" panose="02040503050406030204" pitchFamily="18" charset="0"/>
                                        </a:rPr>
                                        <m:t>𝑛</m:t>
                                      </m:r>
                                      <m:r>
                                        <a:rPr lang="fr-FR" b="0" i="1" smtClean="0">
                                          <a:latin typeface="Cambria Math" panose="02040503050406030204" pitchFamily="18" charset="0"/>
                                        </a:rPr>
                                        <m:t>+</m:t>
                                      </m:r>
                                      <m:r>
                                        <a:rPr lang="fr-FR" b="0" i="1" smtClean="0">
                                          <a:latin typeface="Cambria Math" panose="02040503050406030204" pitchFamily="18" charset="0"/>
                                        </a:rPr>
                                        <m:t>h</m:t>
                                      </m:r>
                                      <m:r>
                                        <a:rPr lang="fr-FR" b="0" i="1" smtClean="0">
                                          <a:latin typeface="Cambria Math" panose="02040503050406030204" pitchFamily="18" charset="0"/>
                                        </a:rPr>
                                        <m:t>−1</m:t>
                                      </m:r>
                                    </m:sub>
                                  </m:sSub>
                                </m:num>
                                <m:den>
                                  <m:sSub>
                                    <m:sSubPr>
                                      <m:ctrlPr>
                                        <a:rPr lang="fr-FR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fr-FR" i="1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fr-FR" i="1">
                                          <a:latin typeface="Cambria Math" panose="02040503050406030204" pitchFamily="18" charset="0"/>
                                        </a:rPr>
                                        <m:t>𝑛</m:t>
                                      </m:r>
                                    </m:sub>
                                  </m:sSub>
                                </m:den>
                              </m:f>
                            </m:e>
                          </m:d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𝐸</m:t>
                          </m:r>
                          <m:d>
                            <m:dPr>
                              <m:ctrlPr>
                                <a:rPr lang="fr-FR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type m:val="lin"/>
                                  <m:ctrlPr>
                                    <a:rPr lang="fr-FR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b>
                                    <m:sSubPr>
                                      <m:ctrlPr>
                                        <a:rPr lang="fr-FR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fr-FR" i="1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fr-FR" i="1">
                                          <a:latin typeface="Cambria Math" panose="02040503050406030204" pitchFamily="18" charset="0"/>
                                        </a:rPr>
                                        <m:t>𝑛</m:t>
                                      </m:r>
                                      <m:r>
                                        <a:rPr lang="fr-FR" i="1">
                                          <a:latin typeface="Cambria Math" panose="02040503050406030204" pitchFamily="18" charset="0"/>
                                        </a:rPr>
                                        <m:t>+</m:t>
                                      </m:r>
                                      <m:r>
                                        <a:rPr lang="fr-FR" i="1">
                                          <a:latin typeface="Cambria Math" panose="02040503050406030204" pitchFamily="18" charset="0"/>
                                        </a:rPr>
                                        <m:t>h</m:t>
                                      </m:r>
                                      <m:r>
                                        <a:rPr lang="fr-FR" i="1">
                                          <a:latin typeface="Cambria Math" panose="02040503050406030204" pitchFamily="18" charset="0"/>
                                        </a:rPr>
                                        <m:t>−1</m:t>
                                      </m:r>
                                    </m:sub>
                                  </m:sSub>
                                </m:num>
                                <m:den>
                                  <m:sSub>
                                    <m:sSubPr>
                                      <m:ctrlPr>
                                        <a:rPr lang="fr-FR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fr-FR" i="1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fr-FR" i="1">
                                          <a:latin typeface="Cambria Math" panose="02040503050406030204" pitchFamily="18" charset="0"/>
                                        </a:rPr>
                                        <m:t>𝑛</m:t>
                                      </m:r>
                                    </m:sub>
                                  </m:sSub>
                                </m:den>
                              </m:f>
                            </m:e>
                          </m:d>
                          <m:r>
                            <a:rPr lang="fr-FR" i="1">
                              <a:latin typeface="Cambria Math" panose="02040503050406030204" pitchFamily="18" charset="0"/>
                            </a:rPr>
                            <m:t>𝐸</m:t>
                          </m:r>
                          <m:sSup>
                            <m:sSupPr>
                              <m:ctrlPr>
                                <a:rPr lang="fr-FR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fr-FR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f>
                                    <m:fPr>
                                      <m:type m:val="lin"/>
                                      <m:ctrlPr>
                                        <a:rPr lang="fr-FR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sSub>
                                        <m:sSubPr>
                                          <m:ctrlPr>
                                            <a:rPr lang="fr-FR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fr-FR" i="1"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  <m:sub>
                                          <m:r>
                                            <a:rPr lang="fr-FR" i="1">
                                              <a:latin typeface="Cambria Math" panose="02040503050406030204" pitchFamily="18" charset="0"/>
                                            </a:rPr>
                                            <m:t>𝑛</m:t>
                                          </m:r>
                                          <m:r>
                                            <a:rPr lang="fr-FR" i="1">
                                              <a:latin typeface="Cambria Math" panose="02040503050406030204" pitchFamily="18" charset="0"/>
                                            </a:rPr>
                                            <m:t>+</m:t>
                                          </m:r>
                                          <m:r>
                                            <a:rPr lang="fr-FR" i="1">
                                              <a:latin typeface="Cambria Math" panose="02040503050406030204" pitchFamily="18" charset="0"/>
                                            </a:rPr>
                                            <m:t>h</m:t>
                                          </m:r>
                                          <m:r>
                                            <a:rPr lang="fr-FR" i="1">
                                              <a:latin typeface="Cambria Math" panose="02040503050406030204" pitchFamily="18" charset="0"/>
                                            </a:rPr>
                                            <m:t>−1</m:t>
                                          </m:r>
                                        </m:sub>
                                      </m:sSub>
                                    </m:num>
                                    <m:den>
                                      <m:sSub>
                                        <m:sSubPr>
                                          <m:ctrlPr>
                                            <a:rPr lang="fr-FR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fr-FR" i="1"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  <m:sub>
                                          <m:r>
                                            <a:rPr lang="fr-FR" i="1">
                                              <a:latin typeface="Cambria Math" panose="02040503050406030204" pitchFamily="18" charset="0"/>
                                            </a:rPr>
                                            <m:t>𝑛</m:t>
                                          </m:r>
                                        </m:sub>
                                      </m:sSub>
                                    </m:den>
                                  </m:f>
                                </m:e>
                              </m:d>
                            </m:e>
                            <m:sup>
                              <m:r>
                                <a:rPr lang="fr-FR" b="0" i="1" smtClean="0"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</m:e>
                      </m:d>
                      <m:sSup>
                        <m:sSupPr>
                          <m:ctrlPr>
                            <a:rPr lang="fr-FR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fr-F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𝜎</m:t>
                          </m:r>
                        </m:e>
                        <m:sup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fr-FR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fr-FR" i="1">
                              <a:latin typeface="Cambria Math" panose="02040503050406030204" pitchFamily="18" charset="0"/>
                            </a:rPr>
                            <m:t>𝑉</m:t>
                          </m:r>
                          <m:d>
                            <m:dPr>
                              <m:ctrlPr>
                                <a:rPr lang="fr-FR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type m:val="lin"/>
                                  <m:ctrlPr>
                                    <a:rPr lang="fr-FR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b>
                                    <m:sSubPr>
                                      <m:ctrlPr>
                                        <a:rPr lang="fr-FR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fr-FR" i="1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fr-FR" i="1">
                                          <a:latin typeface="Cambria Math" panose="02040503050406030204" pitchFamily="18" charset="0"/>
                                        </a:rPr>
                                        <m:t>𝑛</m:t>
                                      </m:r>
                                      <m:r>
                                        <a:rPr lang="fr-FR" i="1">
                                          <a:latin typeface="Cambria Math" panose="02040503050406030204" pitchFamily="18" charset="0"/>
                                        </a:rPr>
                                        <m:t>+</m:t>
                                      </m:r>
                                      <m:r>
                                        <a:rPr lang="fr-FR" i="1">
                                          <a:latin typeface="Cambria Math" panose="02040503050406030204" pitchFamily="18" charset="0"/>
                                        </a:rPr>
                                        <m:t>h</m:t>
                                      </m:r>
                                      <m:r>
                                        <a:rPr lang="fr-FR" i="1">
                                          <a:latin typeface="Cambria Math" panose="02040503050406030204" pitchFamily="18" charset="0"/>
                                        </a:rPr>
                                        <m:t>−1</m:t>
                                      </m:r>
                                    </m:sub>
                                  </m:sSub>
                                </m:num>
                                <m:den>
                                  <m:sSub>
                                    <m:sSubPr>
                                      <m:ctrlPr>
                                        <a:rPr lang="fr-FR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fr-FR" i="1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fr-FR" i="1">
                                          <a:latin typeface="Cambria Math" panose="02040503050406030204" pitchFamily="18" charset="0"/>
                                        </a:rPr>
                                        <m:t>𝑛</m:t>
                                      </m:r>
                                    </m:sub>
                                  </m:sSub>
                                </m:den>
                              </m:f>
                            </m:e>
                          </m:d>
                          <m:r>
                            <a:rPr lang="fr-FR" i="1">
                              <a:latin typeface="Cambria Math" panose="02040503050406030204" pitchFamily="18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fr-FR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fr-FR" b="0" i="1" smtClean="0">
                                  <a:latin typeface="Cambria Math" panose="02040503050406030204" pitchFamily="18" charset="0"/>
                                </a:rPr>
                                <m:t>𝐹</m:t>
                              </m:r>
                            </m:e>
                            <m:sup>
                              <m:r>
                                <a:rPr lang="fr-FR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fr-FR" b="0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fr-FR" b="0" i="1" smtClean="0"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  <m:r>
                                <a:rPr lang="fr-FR" b="0" i="1" smtClean="0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p>
                          </m:sSup>
                          <m:sSub>
                            <m:sSubPr>
                              <m:ctrlPr>
                                <a:rPr lang="fr-FR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fr-FR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  <m:sSubSup>
                            <m:sSubSupPr>
                              <m:ctrlPr>
                                <a:rPr lang="fr-FR" b="0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fr-FR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fr-FR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  <m:sup>
                              <m:r>
                                <a:rPr lang="fr-FR" b="0" i="1" smtClean="0"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bSup>
                          <m:sSup>
                            <m:sSupPr>
                              <m:ctrlPr>
                                <a:rPr lang="fr-FR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sSup>
                                <m:sSupPr>
                                  <m:ctrlPr>
                                    <a:rPr lang="fr-FR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fr-FR" b="0" i="1" smtClean="0">
                                      <a:latin typeface="Cambria Math" panose="02040503050406030204" pitchFamily="18" charset="0"/>
                                    </a:rPr>
                                    <m:t>𝐹</m:t>
                                  </m:r>
                                </m:e>
                                <m:sup>
                                  <m:r>
                                    <a:rPr lang="fr-FR" b="0" i="1" smtClean="0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  <m:r>
                                    <a:rPr lang="fr-FR" b="0" i="1" smtClean="0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r>
                                    <a:rPr lang="fr-FR" b="0" i="1" smtClean="0">
                                      <a:latin typeface="Cambria Math" panose="02040503050406030204" pitchFamily="18" charset="0"/>
                                    </a:rPr>
                                    <m:t>h</m:t>
                                  </m:r>
                                  <m:r>
                                    <a:rPr lang="fr-FR" b="0" i="1" smtClean="0">
                                      <a:latin typeface="Cambria Math" panose="02040503050406030204" pitchFamily="18" charset="0"/>
                                    </a:rPr>
                                    <m:t>−1</m:t>
                                  </m:r>
                                </m:sup>
                              </m:sSup>
                            </m:e>
                            <m:sup>
                              <m:r>
                                <a:rPr lang="fr-FR" b="0" i="1" smtClean="0"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</m:e>
                      </m:d>
                      <m:sSup>
                        <m:sSupPr>
                          <m:ctrlPr>
                            <a:rPr lang="fr-FR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fr-F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𝜎</m:t>
                          </m:r>
                        </m:e>
                        <m:sup>
                          <m:r>
                            <a:rPr lang="fr-FR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fr-FR" dirty="0"/>
              </a:p>
            </p:txBody>
          </p:sp>
        </mc:Choice>
        <mc:Fallback xmlns="">
          <p:sp>
            <p:nvSpPr>
              <p:cNvPr id="8" name="ZoneTexte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9512" y="3933056"/>
                <a:ext cx="9217024" cy="2549224"/>
              </a:xfrm>
              <a:prstGeom prst="rect">
                <a:avLst/>
              </a:prstGeom>
              <a:blipFill rotWithShape="0"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24057707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ZoneTexte 2"/>
              <p:cNvSpPr txBox="1"/>
              <p:nvPr/>
            </p:nvSpPr>
            <p:spPr>
              <a:xfrm>
                <a:off x="107504" y="260648"/>
                <a:ext cx="9865096" cy="137646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fr-FR" sz="1900" dirty="0" smtClean="0"/>
                  <a:t>Donc </a:t>
                </a:r>
                <a14:m>
                  <m:oMath xmlns:m="http://schemas.openxmlformats.org/officeDocument/2006/math">
                    <m:r>
                      <a:rPr lang="fr-FR" sz="1900" i="1">
                        <a:latin typeface="Cambria Math" panose="02040503050406030204" pitchFamily="18" charset="0"/>
                      </a:rPr>
                      <m:t>𝑉</m:t>
                    </m:r>
                    <m:d>
                      <m:dPr>
                        <m:ctrlPr>
                          <a:rPr lang="fr-FR" sz="19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lin"/>
                            <m:ctrlPr>
                              <a:rPr lang="fr-FR" sz="19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b>
                              <m:sSubPr>
                                <m:ctrlPr>
                                  <a:rPr lang="fr-FR" sz="19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fr-FR" sz="1900" i="1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  <m:sub>
                                <m:r>
                                  <a:rPr lang="fr-FR" sz="1900" i="1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  <m:r>
                                  <a:rPr lang="fr-FR" sz="1900" i="1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fr-FR" sz="1900" i="1">
                                    <a:latin typeface="Cambria Math" panose="02040503050406030204" pitchFamily="18" charset="0"/>
                                  </a:rPr>
                                  <m:t>h</m:t>
                                </m:r>
                              </m:sub>
                            </m:sSub>
                          </m:num>
                          <m:den>
                            <m:sSub>
                              <m:sSubPr>
                                <m:ctrlPr>
                                  <a:rPr lang="fr-FR" sz="19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fr-FR" sz="1900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fr-FR" sz="1900" i="1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sub>
                            </m:sSub>
                          </m:den>
                        </m:f>
                      </m:e>
                    </m:d>
                    <m:r>
                      <a:rPr lang="fr-FR" sz="1900" i="1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endParaRPr lang="fr-FR" sz="1900" i="1" dirty="0" smtClean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fr-FR" sz="19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fr-FR" sz="1900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p>
                          <m:r>
                            <a:rPr lang="fr-FR" sz="1900" b="0" i="1" smtClean="0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r>
                        <a:rPr lang="fr-FR" sz="1900" i="1">
                          <a:latin typeface="Cambria Math" panose="02040503050406030204" pitchFamily="18" charset="0"/>
                        </a:rPr>
                        <m:t>𝑉</m:t>
                      </m:r>
                      <m:d>
                        <m:dPr>
                          <m:ctrlPr>
                            <a:rPr lang="fr-FR" sz="19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type m:val="lin"/>
                              <m:ctrlPr>
                                <a:rPr lang="fr-FR" sz="19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fr-FR" sz="19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fr-FR" sz="19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fr-FR" sz="1900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  <m:r>
                                    <a:rPr lang="fr-FR" sz="1900" i="1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r>
                                    <a:rPr lang="fr-FR" sz="1900" i="1">
                                      <a:latin typeface="Cambria Math" panose="02040503050406030204" pitchFamily="18" charset="0"/>
                                    </a:rPr>
                                    <m:t>h</m:t>
                                  </m:r>
                                  <m:r>
                                    <a:rPr lang="fr-FR" sz="1900" i="1">
                                      <a:latin typeface="Cambria Math" panose="02040503050406030204" pitchFamily="18" charset="0"/>
                                    </a:rPr>
                                    <m:t>−1</m:t>
                                  </m:r>
                                </m:sub>
                              </m:sSub>
                            </m:num>
                            <m:den>
                              <m:sSub>
                                <m:sSubPr>
                                  <m:ctrlPr>
                                    <a:rPr lang="fr-FR" sz="19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fr-FR" sz="19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fr-FR" sz="1900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b>
                              </m:sSub>
                            </m:den>
                          </m:f>
                        </m:e>
                      </m:d>
                      <m:r>
                        <a:rPr lang="fr-FR" sz="1900" b="0" i="1" smtClean="0">
                          <a:latin typeface="Cambria Math" panose="02040503050406030204" pitchFamily="18" charset="0"/>
                        </a:rPr>
                        <m:t>𝑤</m:t>
                      </m:r>
                      <m:r>
                        <a:rPr lang="fr-FR" sz="190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fr-FR" sz="1900" b="0" i="1" smtClean="0">
                          <a:latin typeface="Cambria Math" panose="02040503050406030204" pitchFamily="18" charset="0"/>
                        </a:rPr>
                        <m:t>𝑤</m:t>
                      </m:r>
                      <m:r>
                        <a:rPr lang="fr-FR" sz="1900" b="0" i="1" smtClean="0">
                          <a:latin typeface="Cambria Math" panose="02040503050406030204" pitchFamily="18" charset="0"/>
                        </a:rPr>
                        <m:t>′</m:t>
                      </m:r>
                      <m:d>
                        <m:dPr>
                          <m:ctrlPr>
                            <a:rPr lang="fr-FR" sz="19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fr-FR" sz="1900" i="1">
                              <a:latin typeface="Cambria Math" panose="02040503050406030204" pitchFamily="18" charset="0"/>
                            </a:rPr>
                            <m:t>𝑉</m:t>
                          </m:r>
                          <m:d>
                            <m:dPr>
                              <m:ctrlPr>
                                <a:rPr lang="fr-FR" sz="19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type m:val="lin"/>
                                  <m:ctrlPr>
                                    <a:rPr lang="fr-FR" sz="1900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b>
                                    <m:sSubPr>
                                      <m:ctrlPr>
                                        <a:rPr lang="fr-FR" sz="19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fr-FR" sz="1900" i="1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fr-FR" sz="1900" i="1">
                                          <a:latin typeface="Cambria Math" panose="02040503050406030204" pitchFamily="18" charset="0"/>
                                        </a:rPr>
                                        <m:t>𝑛</m:t>
                                      </m:r>
                                      <m:r>
                                        <a:rPr lang="fr-FR" sz="1900" i="1">
                                          <a:latin typeface="Cambria Math" panose="02040503050406030204" pitchFamily="18" charset="0"/>
                                        </a:rPr>
                                        <m:t>+</m:t>
                                      </m:r>
                                      <m:r>
                                        <a:rPr lang="fr-FR" sz="1900" i="1">
                                          <a:latin typeface="Cambria Math" panose="02040503050406030204" pitchFamily="18" charset="0"/>
                                        </a:rPr>
                                        <m:t>h</m:t>
                                      </m:r>
                                      <m:r>
                                        <a:rPr lang="fr-FR" sz="1900" i="1">
                                          <a:latin typeface="Cambria Math" panose="02040503050406030204" pitchFamily="18" charset="0"/>
                                        </a:rPr>
                                        <m:t>−1</m:t>
                                      </m:r>
                                    </m:sub>
                                  </m:sSub>
                                </m:num>
                                <m:den>
                                  <m:sSub>
                                    <m:sSubPr>
                                      <m:ctrlPr>
                                        <a:rPr lang="fr-FR" sz="19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fr-FR" sz="1900" i="1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fr-FR" sz="1900" i="1">
                                          <a:latin typeface="Cambria Math" panose="02040503050406030204" pitchFamily="18" charset="0"/>
                                        </a:rPr>
                                        <m:t>𝑛</m:t>
                                      </m:r>
                                    </m:sub>
                                  </m:sSub>
                                </m:den>
                              </m:f>
                            </m:e>
                          </m:d>
                          <m:r>
                            <a:rPr lang="fr-FR" sz="1900" i="1">
                              <a:latin typeface="Cambria Math" panose="02040503050406030204" pitchFamily="18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fr-FR" sz="19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fr-FR" sz="1900" i="1">
                                  <a:latin typeface="Cambria Math" panose="02040503050406030204" pitchFamily="18" charset="0"/>
                                </a:rPr>
                                <m:t>𝐹</m:t>
                              </m:r>
                            </m:e>
                            <m:sup>
                              <m:r>
                                <a:rPr lang="fr-FR" sz="1900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fr-FR" sz="1900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fr-FR" sz="1900" i="1"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  <m:r>
                                <a:rPr lang="fr-FR" sz="1900" i="1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p>
                          </m:sSup>
                          <m:sSub>
                            <m:sSubPr>
                              <m:ctrlPr>
                                <a:rPr lang="fr-FR" sz="19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sz="19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fr-FR" sz="1900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  <m:sSubSup>
                            <m:sSubSupPr>
                              <m:ctrlPr>
                                <a:rPr lang="fr-FR" sz="1900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fr-FR" sz="19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fr-FR" sz="1900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  <m:sup>
                              <m:r>
                                <a:rPr lang="fr-FR" sz="1900" i="1"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bSup>
                          <m:sSup>
                            <m:sSupPr>
                              <m:ctrlPr>
                                <a:rPr lang="fr-FR" sz="19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sSup>
                                <m:sSupPr>
                                  <m:ctrlPr>
                                    <a:rPr lang="fr-FR" sz="19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fr-FR" sz="1900" i="1">
                                      <a:latin typeface="Cambria Math" panose="02040503050406030204" pitchFamily="18" charset="0"/>
                                    </a:rPr>
                                    <m:t>𝐹</m:t>
                                  </m:r>
                                </m:e>
                                <m:sup>
                                  <m:r>
                                    <a:rPr lang="fr-FR" sz="1900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  <m:r>
                                    <a:rPr lang="fr-FR" sz="1900" i="1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r>
                                    <a:rPr lang="fr-FR" sz="1900" i="1">
                                      <a:latin typeface="Cambria Math" panose="02040503050406030204" pitchFamily="18" charset="0"/>
                                    </a:rPr>
                                    <m:t>h</m:t>
                                  </m:r>
                                  <m:r>
                                    <a:rPr lang="fr-FR" sz="1900" i="1">
                                      <a:latin typeface="Cambria Math" panose="02040503050406030204" pitchFamily="18" charset="0"/>
                                    </a:rPr>
                                    <m:t>−1</m:t>
                                  </m:r>
                                </m:sup>
                              </m:sSup>
                            </m:e>
                            <m:sup>
                              <m:r>
                                <a:rPr lang="fr-FR" sz="1900" i="1"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</m:e>
                      </m:d>
                      <m:r>
                        <a:rPr lang="fr-FR" sz="1900" b="0" i="1" smtClean="0">
                          <a:latin typeface="Cambria Math" panose="02040503050406030204" pitchFamily="18" charset="0"/>
                        </a:rPr>
                        <m:t>𝑤</m:t>
                      </m:r>
                      <m:sSup>
                        <m:sSupPr>
                          <m:ctrlPr>
                            <a:rPr lang="fr-FR" sz="19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fr-FR" sz="19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𝜎</m:t>
                          </m:r>
                        </m:e>
                        <m:sup>
                          <m:r>
                            <a:rPr lang="fr-FR" sz="1900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fr-FR" sz="1900" dirty="0" smtClean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sz="1900" i="1">
                          <a:latin typeface="Cambria Math" panose="02040503050406030204" pitchFamily="18" charset="0"/>
                        </a:rPr>
                        <m:t>𝑉</m:t>
                      </m:r>
                      <m:d>
                        <m:dPr>
                          <m:ctrlPr>
                            <a:rPr lang="fr-FR" sz="19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type m:val="lin"/>
                              <m:ctrlPr>
                                <a:rPr lang="fr-FR" sz="19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fr-FR" sz="19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fr-FR" sz="1900" i="1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fr-FR" sz="1900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  <m:r>
                                    <a:rPr lang="fr-FR" sz="1900" i="1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r>
                                    <a:rPr lang="fr-FR" sz="1900" i="1">
                                      <a:latin typeface="Cambria Math" panose="02040503050406030204" pitchFamily="18" charset="0"/>
                                    </a:rPr>
                                    <m:t>h</m:t>
                                  </m:r>
                                </m:sub>
                              </m:sSub>
                            </m:num>
                            <m:den>
                              <m:sSub>
                                <m:sSubPr>
                                  <m:ctrlPr>
                                    <a:rPr lang="fr-FR" sz="19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fr-FR" sz="19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fr-FR" sz="1900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b>
                              </m:sSub>
                            </m:den>
                          </m:f>
                        </m:e>
                      </m:d>
                      <m:r>
                        <a:rPr lang="fr-FR" sz="1900" i="1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fr-FR" sz="19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fr-FR" sz="1900" i="1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p>
                          <m:r>
                            <a:rPr lang="fr-FR" sz="1900" i="1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r>
                        <a:rPr lang="fr-FR" sz="1900" i="1">
                          <a:latin typeface="Cambria Math" panose="02040503050406030204" pitchFamily="18" charset="0"/>
                        </a:rPr>
                        <m:t>𝑉</m:t>
                      </m:r>
                      <m:d>
                        <m:dPr>
                          <m:ctrlPr>
                            <a:rPr lang="fr-FR" sz="19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type m:val="lin"/>
                              <m:ctrlPr>
                                <a:rPr lang="fr-FR" sz="19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fr-FR" sz="19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fr-FR" sz="19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fr-FR" sz="1900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  <m:r>
                                    <a:rPr lang="fr-FR" sz="1900" i="1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r>
                                    <a:rPr lang="fr-FR" sz="1900" i="1">
                                      <a:latin typeface="Cambria Math" panose="02040503050406030204" pitchFamily="18" charset="0"/>
                                    </a:rPr>
                                    <m:t>h</m:t>
                                  </m:r>
                                  <m:r>
                                    <a:rPr lang="fr-FR" sz="1900" i="1">
                                      <a:latin typeface="Cambria Math" panose="02040503050406030204" pitchFamily="18" charset="0"/>
                                    </a:rPr>
                                    <m:t>−1</m:t>
                                  </m:r>
                                </m:sub>
                              </m:sSub>
                            </m:num>
                            <m:den>
                              <m:sSub>
                                <m:sSubPr>
                                  <m:ctrlPr>
                                    <a:rPr lang="fr-FR" sz="19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fr-FR" sz="19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fr-FR" sz="1900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b>
                              </m:sSub>
                            </m:den>
                          </m:f>
                        </m:e>
                      </m:d>
                      <m:r>
                        <a:rPr lang="fr-FR" sz="1900" i="1">
                          <a:latin typeface="Cambria Math" panose="02040503050406030204" pitchFamily="18" charset="0"/>
                        </a:rPr>
                        <m:t>𝑤</m:t>
                      </m:r>
                      <m:d>
                        <m:dPr>
                          <m:ctrlPr>
                            <a:rPr lang="fr-FR" sz="19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fr-FR" sz="1900" b="0" i="1" smtClean="0">
                              <a:latin typeface="Cambria Math" panose="02040503050406030204" pitchFamily="18" charset="0"/>
                            </a:rPr>
                            <m:t>1+</m:t>
                          </m:r>
                          <m:sSup>
                            <m:sSupPr>
                              <m:ctrlPr>
                                <a:rPr lang="fr-FR" sz="19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fr-FR" sz="19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𝜎</m:t>
                              </m:r>
                            </m:e>
                            <m:sup>
                              <m:r>
                                <a:rPr lang="fr-FR" sz="19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d>
                      <m:r>
                        <a:rPr lang="fr-FR" sz="190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fr-FR" sz="1900" b="0" i="1" smtClean="0">
                          <a:latin typeface="Cambria Math" panose="02040503050406030204" pitchFamily="18" charset="0"/>
                        </a:rPr>
                        <m:t>𝑤</m:t>
                      </m:r>
                      <m:r>
                        <a:rPr lang="fr-FR" sz="1900" b="0" i="1" smtClean="0">
                          <a:latin typeface="Cambria Math" panose="02040503050406030204" pitchFamily="18" charset="0"/>
                        </a:rPr>
                        <m:t>′</m:t>
                      </m:r>
                      <m:sSup>
                        <m:sSupPr>
                          <m:ctrlPr>
                            <a:rPr lang="fr-FR" sz="19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fr-FR" sz="1900" i="1"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p>
                          <m:r>
                            <a:rPr lang="fr-FR" sz="1900" i="1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fr-FR" sz="1900" i="1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fr-FR" sz="1900" i="1">
                              <a:latin typeface="Cambria Math" panose="02040503050406030204" pitchFamily="18" charset="0"/>
                            </a:rPr>
                            <m:t>h</m:t>
                          </m:r>
                          <m:r>
                            <a:rPr lang="fr-FR" sz="1900" i="1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p>
                      <m:sSub>
                        <m:sSubPr>
                          <m:ctrlPr>
                            <a:rPr lang="fr-FR" sz="19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19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fr-FR" sz="1900" i="1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sSubSup>
                        <m:sSubSupPr>
                          <m:ctrlPr>
                            <a:rPr lang="fr-FR" sz="1900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fr-FR" sz="19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fr-FR" sz="1900" i="1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  <m:sup>
                          <m:r>
                            <a:rPr lang="fr-FR" sz="1900" i="1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bSup>
                      <m:sSup>
                        <m:sSupPr>
                          <m:ctrlPr>
                            <a:rPr lang="fr-FR" sz="19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sSup>
                            <m:sSupPr>
                              <m:ctrlPr>
                                <a:rPr lang="fr-FR" sz="19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fr-FR" sz="1900" i="1">
                                  <a:latin typeface="Cambria Math" panose="02040503050406030204" pitchFamily="18" charset="0"/>
                                </a:rPr>
                                <m:t>𝐹</m:t>
                              </m:r>
                            </m:e>
                            <m:sup>
                              <m:r>
                                <a:rPr lang="fr-FR" sz="1900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fr-FR" sz="1900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fr-FR" sz="1900" i="1"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  <m:r>
                                <a:rPr lang="fr-FR" sz="1900" i="1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p>
                          </m:sSup>
                        </m:e>
                        <m:sup>
                          <m:r>
                            <a:rPr lang="fr-FR" sz="1900" i="1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r>
                        <a:rPr lang="fr-FR" sz="1900" i="1">
                          <a:latin typeface="Cambria Math" panose="02040503050406030204" pitchFamily="18" charset="0"/>
                        </a:rPr>
                        <m:t>𝑤</m:t>
                      </m:r>
                      <m:sSup>
                        <m:sSupPr>
                          <m:ctrlPr>
                            <a:rPr lang="fr-FR" sz="19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fr-FR" sz="19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𝜎</m:t>
                          </m:r>
                        </m:e>
                        <m:sup>
                          <m:r>
                            <a:rPr lang="fr-FR" sz="1900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fr-FR" sz="1900" i="1" dirty="0">
                  <a:latin typeface="Cambria Math" panose="02040503050406030204" pitchFamily="18" charset="0"/>
                </a:endParaRPr>
              </a:p>
              <a:p>
                <a:endParaRPr lang="fr-FR" sz="1900" dirty="0"/>
              </a:p>
            </p:txBody>
          </p:sp>
        </mc:Choice>
        <mc:Fallback xmlns="">
          <p:sp>
            <p:nvSpPr>
              <p:cNvPr id="3" name="ZoneTexte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7504" y="260648"/>
                <a:ext cx="9865096" cy="1376467"/>
              </a:xfrm>
              <a:prstGeom prst="rect">
                <a:avLst/>
              </a:prstGeom>
              <a:blipFill>
                <a:blip r:embed="rId2"/>
                <a:stretch>
                  <a:fillRect l="-618" t="-30973" b="-2787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ZoneTexte 3"/>
              <p:cNvSpPr txBox="1"/>
              <p:nvPr/>
            </p:nvSpPr>
            <p:spPr>
              <a:xfrm>
                <a:off x="186771" y="1804754"/>
                <a:ext cx="8273661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fr-FR" u="sng" dirty="0" smtClean="0"/>
                  <a:t>Calculons </a:t>
                </a:r>
                <a14:m>
                  <m:oMath xmlns:m="http://schemas.openxmlformats.org/officeDocument/2006/math">
                    <m:r>
                      <a:rPr lang="fr-FR" i="1" u="sng">
                        <a:latin typeface="Cambria Math" panose="02040503050406030204" pitchFamily="18" charset="0"/>
                      </a:rPr>
                      <m:t>𝑉</m:t>
                    </m:r>
                    <m:d>
                      <m:dPr>
                        <m:ctrlPr>
                          <a:rPr lang="fr-FR" i="1" u="sng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lin"/>
                            <m:ctrlPr>
                              <a:rPr lang="fr-FR" i="1" u="sng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b>
                              <m:sSubPr>
                                <m:ctrlPr>
                                  <a:rPr lang="fr-FR" i="1" u="sng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fr-FR" i="1" u="sng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fr-FR" i="1" u="sng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  <m:r>
                                  <a:rPr lang="fr-FR" i="1" u="sng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fr-FR" i="1" u="sng">
                                    <a:latin typeface="Cambria Math" panose="02040503050406030204" pitchFamily="18" charset="0"/>
                                  </a:rPr>
                                  <m:t>h</m:t>
                                </m:r>
                              </m:sub>
                            </m:sSub>
                          </m:num>
                          <m:den>
                            <m:sSub>
                              <m:sSubPr>
                                <m:ctrlPr>
                                  <a:rPr lang="fr-FR" i="1" u="sng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fr-FR" i="1" u="sng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fr-FR" i="1" u="sng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sub>
                            </m:sSub>
                          </m:den>
                        </m:f>
                      </m:e>
                    </m:d>
                    <m:r>
                      <a:rPr lang="fr-FR" b="0" i="1" u="sng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fr-FR" b="0" i="1" u="sng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b="0" i="1" u="sng" smtClean="0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fr-FR" b="0" i="1" u="sng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fr-FR" b="0" i="1" u="sng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fr-FR" b="0" i="1" u="sng" smtClean="0">
                            <a:latin typeface="Cambria Math" panose="02040503050406030204" pitchFamily="18" charset="0"/>
                          </a:rPr>
                          <m:t>h</m:t>
                        </m:r>
                      </m:sub>
                    </m:sSub>
                  </m:oMath>
                </a14:m>
                <a:r>
                  <a:rPr lang="fr-FR" u="sng" dirty="0" smtClean="0"/>
                  <a:t> </a:t>
                </a:r>
                <a:endParaRPr lang="fr-FR" u="sng" dirty="0"/>
              </a:p>
            </p:txBody>
          </p:sp>
        </mc:Choice>
        <mc:Fallback xmlns="">
          <p:sp>
            <p:nvSpPr>
              <p:cNvPr id="4" name="ZoneTexte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6771" y="1804754"/>
                <a:ext cx="8273661" cy="400110"/>
              </a:xfrm>
              <a:prstGeom prst="rect">
                <a:avLst/>
              </a:prstGeom>
              <a:blipFill>
                <a:blip r:embed="rId3"/>
                <a:stretch>
                  <a:fillRect l="-811" t="-113636" b="-18030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ZoneTexte 4"/>
              <p:cNvSpPr txBox="1"/>
              <p:nvPr/>
            </p:nvSpPr>
            <p:spPr>
              <a:xfrm>
                <a:off x="186771" y="2596842"/>
                <a:ext cx="8633701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fr-FR" dirty="0" smtClean="0"/>
                  <a:t>On a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fr-F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fr-FR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fr-FR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fr-FR" b="0" i="1" smtClean="0">
                            <a:latin typeface="Cambria Math" panose="02040503050406030204" pitchFamily="18" charset="0"/>
                          </a:rPr>
                          <m:t>h</m:t>
                        </m:r>
                      </m:sub>
                    </m:sSub>
                    <m:r>
                      <a:rPr lang="fr-FR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fr-FR" b="0" i="1" smtClean="0">
                        <a:latin typeface="Cambria Math" panose="02040503050406030204" pitchFamily="18" charset="0"/>
                      </a:rPr>
                      <m:t>𝐹</m:t>
                    </m:r>
                    <m:sSub>
                      <m:sSubPr>
                        <m:ctrlPr>
                          <a:rPr lang="fr-F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fr-FR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fr-FR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fr-FR" b="0" i="1" smtClean="0">
                            <a:latin typeface="Cambria Math" panose="02040503050406030204" pitchFamily="18" charset="0"/>
                          </a:rPr>
                          <m:t>h</m:t>
                        </m:r>
                        <m:r>
                          <a:rPr lang="fr-FR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sub>
                    </m:sSub>
                    <m:r>
                      <a:rPr lang="fr-FR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fr-FR" b="0" i="1" smtClean="0">
                        <a:latin typeface="Cambria Math" panose="02040503050406030204" pitchFamily="18" charset="0"/>
                      </a:rPr>
                      <m:t>𝑔</m:t>
                    </m:r>
                    <m:sSup>
                      <m:sSupPr>
                        <m:ctrlPr>
                          <a:rPr lang="fr-FR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fr-FR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p>
                        <m:r>
                          <a:rPr lang="fr-FR" b="0" i="1" smtClean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sSub>
                      <m:sSubPr>
                        <m:ctrlPr>
                          <a:rPr lang="fr-F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fr-FR" i="1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fr-FR" i="1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fr-FR" i="1">
                            <a:latin typeface="Cambria Math" panose="02040503050406030204" pitchFamily="18" charset="0"/>
                          </a:rPr>
                          <m:t>h</m:t>
                        </m:r>
                        <m:r>
                          <a:rPr lang="fr-FR" i="1">
                            <a:latin typeface="Cambria Math" panose="02040503050406030204" pitchFamily="18" charset="0"/>
                          </a:rPr>
                          <m:t>−1</m:t>
                        </m:r>
                      </m:sub>
                    </m:sSub>
                    <m:sSub>
                      <m:sSubPr>
                        <m:ctrlPr>
                          <a:rPr lang="fr-F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𝜀</m:t>
                        </m:r>
                      </m:e>
                      <m:sub>
                        <m:r>
                          <a:rPr lang="fr-F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  <m:r>
                          <a:rPr lang="fr-F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</m:t>
                        </m:r>
                        <m:r>
                          <a:rPr lang="fr-F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h</m:t>
                        </m:r>
                      </m:sub>
                    </m:sSub>
                  </m:oMath>
                </a14:m>
                <a:endParaRPr lang="fr-FR" dirty="0"/>
              </a:p>
            </p:txBody>
          </p:sp>
        </mc:Choice>
        <mc:Fallback xmlns="">
          <p:sp>
            <p:nvSpPr>
              <p:cNvPr id="5" name="ZoneTexte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6771" y="2596842"/>
                <a:ext cx="8633701" cy="400110"/>
              </a:xfrm>
              <a:prstGeom prst="rect">
                <a:avLst/>
              </a:prstGeom>
              <a:blipFill>
                <a:blip r:embed="rId4"/>
                <a:stretch>
                  <a:fillRect l="-777" t="-7576" b="-2727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ZoneTexte 6"/>
              <p:cNvSpPr txBox="1"/>
              <p:nvPr/>
            </p:nvSpPr>
            <p:spPr>
              <a:xfrm>
                <a:off x="-134253" y="3212976"/>
                <a:ext cx="9458781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sub>
                      </m:sSub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𝐹</m:t>
                      </m:r>
                      <m:sSub>
                        <m:sSubPr>
                          <m:ctrlPr>
                            <a:rPr lang="fr-FR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sub>
                      </m:sSub>
                      <m:sSup>
                        <m:sSupPr>
                          <m:ctrlPr>
                            <a:rPr lang="fr-FR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p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𝑉</m:t>
                      </m:r>
                      <m:d>
                        <m:dPr>
                          <m:ctrlPr>
                            <a:rPr lang="fr-FR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type m:val="lin"/>
                              <m:ctrlPr>
                                <a:rPr lang="fr-FR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fr-FR" i="1">
                                  <a:latin typeface="Cambria Math" panose="02040503050406030204" pitchFamily="18" charset="0"/>
                                </a:rPr>
                                <m:t>𝑔</m:t>
                              </m:r>
                              <m:sSup>
                                <m:sSupPr>
                                  <m:ctrlPr>
                                    <a:rPr lang="fr-FR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fr-FR" i="1">
                                      <a:latin typeface="Cambria Math" panose="02040503050406030204" pitchFamily="18" charset="0"/>
                                    </a:rPr>
                                    <m:t>𝑤</m:t>
                                  </m:r>
                                </m:e>
                                <m:sup>
                                  <m:r>
                                    <a:rPr lang="fr-FR" i="1">
                                      <a:latin typeface="Cambria Math" panose="02040503050406030204" pitchFamily="18" charset="0"/>
                                    </a:rPr>
                                    <m:t>′</m:t>
                                  </m:r>
                                </m:sup>
                              </m:sSup>
                              <m:sSub>
                                <m:sSubPr>
                                  <m:ctrlPr>
                                    <a:rPr lang="fr-FR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fr-FR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fr-FR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  <m:r>
                                    <a:rPr lang="fr-FR" i="1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r>
                                    <a:rPr lang="fr-FR" i="1">
                                      <a:latin typeface="Cambria Math" panose="02040503050406030204" pitchFamily="18" charset="0"/>
                                    </a:rPr>
                                    <m:t>h</m:t>
                                  </m:r>
                                  <m:r>
                                    <a:rPr lang="fr-FR" i="1">
                                      <a:latin typeface="Cambria Math" panose="02040503050406030204" pitchFamily="18" charset="0"/>
                                    </a:rPr>
                                    <m:t>−1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fr-FR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fr-FR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𝜀</m:t>
                                  </m:r>
                                </m:e>
                                <m:sub>
                                  <m:r>
                                    <a:rPr lang="fr-FR" b="0" i="1" smtClean="0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  <m:r>
                                    <a:rPr lang="fr-FR" b="0" i="1" smtClean="0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r>
                                    <a:rPr lang="fr-FR" b="0" i="1" smtClean="0">
                                      <a:latin typeface="Cambria Math" panose="02040503050406030204" pitchFamily="18" charset="0"/>
                                    </a:rPr>
                                    <m:t>h</m:t>
                                  </m:r>
                                </m:sub>
                              </m:sSub>
                            </m:num>
                            <m:den>
                              <m:sSub>
                                <m:sSubPr>
                                  <m:ctrlPr>
                                    <a:rPr lang="fr-FR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fr-FR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fr-FR" b="0" i="1" smtClean="0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b>
                              </m:sSub>
                            </m:den>
                          </m:f>
                        </m:e>
                      </m:d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+2</m:t>
                      </m:r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𝐶𝑂𝑉</m:t>
                      </m:r>
                      <m:d>
                        <m:dPr>
                          <m:ctrlPr>
                            <a:rPr lang="fr-FR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type m:val="lin"/>
                              <m:ctrlPr>
                                <a:rPr lang="fr-FR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fr-FR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fr-FR" b="0" i="1" smtClean="0">
                                      <a:latin typeface="Cambria Math" panose="02040503050406030204" pitchFamily="18" charset="0"/>
                                    </a:rPr>
                                    <m:t>𝐹</m:t>
                                  </m:r>
                                  <m:r>
                                    <a:rPr lang="fr-FR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fr-FR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  <m:r>
                                    <a:rPr lang="fr-FR" i="1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r>
                                    <a:rPr lang="fr-FR" i="1">
                                      <a:latin typeface="Cambria Math" panose="02040503050406030204" pitchFamily="18" charset="0"/>
                                    </a:rPr>
                                    <m:t>h</m:t>
                                  </m:r>
                                  <m:r>
                                    <a:rPr lang="fr-FR" i="1">
                                      <a:latin typeface="Cambria Math" panose="02040503050406030204" pitchFamily="18" charset="0"/>
                                    </a:rPr>
                                    <m:t>−1</m:t>
                                  </m:r>
                                </m:sub>
                              </m:sSub>
                              <m:r>
                                <a:rPr lang="fr-FR" i="1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fr-FR" i="1">
                                  <a:latin typeface="Cambria Math" panose="02040503050406030204" pitchFamily="18" charset="0"/>
                                </a:rPr>
                                <m:t>𝑔</m:t>
                              </m:r>
                              <m:sSup>
                                <m:sSupPr>
                                  <m:ctrlPr>
                                    <a:rPr lang="fr-FR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fr-FR" i="1">
                                      <a:latin typeface="Cambria Math" panose="02040503050406030204" pitchFamily="18" charset="0"/>
                                    </a:rPr>
                                    <m:t>𝑤</m:t>
                                  </m:r>
                                </m:e>
                                <m:sup>
                                  <m:r>
                                    <a:rPr lang="fr-FR" i="1">
                                      <a:latin typeface="Cambria Math" panose="02040503050406030204" pitchFamily="18" charset="0"/>
                                    </a:rPr>
                                    <m:t>′</m:t>
                                  </m:r>
                                </m:sup>
                              </m:sSup>
                              <m:sSub>
                                <m:sSubPr>
                                  <m:ctrlPr>
                                    <a:rPr lang="fr-FR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fr-FR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fr-FR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  <m:r>
                                    <a:rPr lang="fr-FR" i="1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r>
                                    <a:rPr lang="fr-FR" i="1">
                                      <a:latin typeface="Cambria Math" panose="02040503050406030204" pitchFamily="18" charset="0"/>
                                    </a:rPr>
                                    <m:t>h</m:t>
                                  </m:r>
                                  <m:r>
                                    <a:rPr lang="fr-FR" i="1">
                                      <a:latin typeface="Cambria Math" panose="02040503050406030204" pitchFamily="18" charset="0"/>
                                    </a:rPr>
                                    <m:t>−1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fr-FR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fr-FR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𝜀</m:t>
                                  </m:r>
                                </m:e>
                                <m:sub>
                                  <m:r>
                                    <a:rPr lang="fr-FR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  <m:r>
                                    <a:rPr lang="fr-FR" i="1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r>
                                    <a:rPr lang="fr-FR" i="1">
                                      <a:latin typeface="Cambria Math" panose="02040503050406030204" pitchFamily="18" charset="0"/>
                                    </a:rPr>
                                    <m:t>h</m:t>
                                  </m:r>
                                </m:sub>
                              </m:sSub>
                            </m:num>
                            <m:den>
                              <m:sSub>
                                <m:sSubPr>
                                  <m:ctrlPr>
                                    <a:rPr lang="fr-FR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fr-FR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fr-FR" b="0" i="1" smtClean="0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b>
                              </m:sSub>
                            </m:den>
                          </m:f>
                        </m:e>
                      </m:d>
                    </m:oMath>
                  </m:oMathPara>
                </a14:m>
                <a:endParaRPr lang="fr-FR" dirty="0"/>
              </a:p>
            </p:txBody>
          </p:sp>
        </mc:Choice>
        <mc:Fallback xmlns="">
          <p:sp>
            <p:nvSpPr>
              <p:cNvPr id="7" name="ZoneTexte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134253" y="3212976"/>
                <a:ext cx="9458781" cy="400110"/>
              </a:xfrm>
              <a:prstGeom prst="rect">
                <a:avLst/>
              </a:prstGeom>
              <a:blipFill>
                <a:blip r:embed="rId5"/>
                <a:stretch>
                  <a:fillRect t="-113636" r="-2513" b="-18030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ZoneTexte 7"/>
          <p:cNvSpPr txBox="1"/>
          <p:nvPr/>
        </p:nvSpPr>
        <p:spPr>
          <a:xfrm>
            <a:off x="186771" y="4037002"/>
            <a:ext cx="856169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 smtClean="0"/>
              <a:t>Comme précédemment, la covariance est nulle</a:t>
            </a:r>
            <a:endParaRPr lang="fr-FR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ZoneTexte 8"/>
              <p:cNvSpPr txBox="1"/>
              <p:nvPr/>
            </p:nvSpPr>
            <p:spPr>
              <a:xfrm>
                <a:off x="186771" y="4552034"/>
                <a:ext cx="8705709" cy="110921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sub>
                      </m:sSub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fr-FR" i="1">
                          <a:latin typeface="Cambria Math" panose="02040503050406030204" pitchFamily="18" charset="0"/>
                        </a:rPr>
                        <m:t>𝐹</m:t>
                      </m:r>
                      <m:sSub>
                        <m:sSubPr>
                          <m:ctrlPr>
                            <a:rPr lang="fr-FR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i="1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fr-FR" i="1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fr-FR" i="1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fr-FR" i="1">
                              <a:latin typeface="Cambria Math" panose="02040503050406030204" pitchFamily="18" charset="0"/>
                            </a:rPr>
                            <m:t>h</m:t>
                          </m:r>
                          <m:r>
                            <a:rPr lang="fr-FR" i="1">
                              <a:latin typeface="Cambria Math" panose="02040503050406030204" pitchFamily="18" charset="0"/>
                            </a:rPr>
                            <m:t>−1</m:t>
                          </m:r>
                        </m:sub>
                      </m:sSub>
                      <m:sSup>
                        <m:sSupPr>
                          <m:ctrlPr>
                            <a:rPr lang="fr-FR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fr-FR" i="1"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p>
                          <m:r>
                            <a:rPr lang="fr-FR" i="1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𝑔</m:t>
                      </m:r>
                      <m:sSup>
                        <m:sSupPr>
                          <m:ctrlPr>
                            <a:rPr lang="fr-FR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p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r>
                        <a:rPr lang="fr-FR" i="1">
                          <a:latin typeface="Cambria Math" panose="02040503050406030204" pitchFamily="18" charset="0"/>
                        </a:rPr>
                        <m:t>𝑉</m:t>
                      </m:r>
                      <m:d>
                        <m:dPr>
                          <m:ctrlPr>
                            <a:rPr lang="fr-FR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type m:val="lin"/>
                              <m:ctrlPr>
                                <a:rPr lang="fr-FR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fr-FR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fr-FR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fr-FR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  <m:r>
                                    <a:rPr lang="fr-FR" i="1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r>
                                    <a:rPr lang="fr-FR" i="1">
                                      <a:latin typeface="Cambria Math" panose="02040503050406030204" pitchFamily="18" charset="0"/>
                                    </a:rPr>
                                    <m:t>h</m:t>
                                  </m:r>
                                  <m:r>
                                    <a:rPr lang="fr-FR" i="1">
                                      <a:latin typeface="Cambria Math" panose="02040503050406030204" pitchFamily="18" charset="0"/>
                                    </a:rPr>
                                    <m:t>−1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fr-FR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fr-FR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𝜀</m:t>
                                  </m:r>
                                </m:e>
                                <m:sub>
                                  <m:r>
                                    <a:rPr lang="fr-FR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  <m:r>
                                    <a:rPr lang="fr-FR" i="1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r>
                                    <a:rPr lang="fr-FR" i="1">
                                      <a:latin typeface="Cambria Math" panose="02040503050406030204" pitchFamily="18" charset="0"/>
                                    </a:rPr>
                                    <m:t>h</m:t>
                                  </m:r>
                                </m:sub>
                              </m:sSub>
                            </m:num>
                            <m:den>
                              <m:sSub>
                                <m:sSubPr>
                                  <m:ctrlPr>
                                    <a:rPr lang="fr-FR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fr-FR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fr-FR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b>
                              </m:sSub>
                            </m:den>
                          </m:f>
                        </m:e>
                      </m:d>
                      <m:sSup>
                        <m:sSupPr>
                          <m:ctrlPr>
                            <a:rPr lang="fr-FR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fr-FR" b="0" i="0" smtClean="0">
                              <a:latin typeface="Cambria Math" panose="02040503050406030204" pitchFamily="18" charset="0"/>
                            </a:rPr>
                            <m:t>wg</m:t>
                          </m:r>
                        </m:e>
                        <m:sup>
                          <m:r>
                            <a:rPr lang="fr-FR" b="0" i="0" smtClean="0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r>
                        <a:rPr lang="fr-FR" b="0" i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fr-FR" i="1">
                          <a:latin typeface="Cambria Math" panose="02040503050406030204" pitchFamily="18" charset="0"/>
                        </a:rPr>
                        <m:t>𝐹</m:t>
                      </m:r>
                      <m:sSub>
                        <m:sSubPr>
                          <m:ctrlPr>
                            <a:rPr lang="fr-FR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i="1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fr-FR" i="1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fr-FR" i="1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fr-FR" i="1">
                              <a:latin typeface="Cambria Math" panose="02040503050406030204" pitchFamily="18" charset="0"/>
                            </a:rPr>
                            <m:t>h</m:t>
                          </m:r>
                          <m:r>
                            <a:rPr lang="fr-FR" i="1">
                              <a:latin typeface="Cambria Math" panose="02040503050406030204" pitchFamily="18" charset="0"/>
                            </a:rPr>
                            <m:t>−1</m:t>
                          </m:r>
                        </m:sub>
                      </m:sSub>
                      <m:sSup>
                        <m:sSupPr>
                          <m:ctrlPr>
                            <a:rPr lang="fr-FR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fr-FR" i="1"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p>
                          <m:r>
                            <a:rPr lang="fr-FR" i="1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𝑔𝑤</m:t>
                      </m:r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′</m:t>
                      </m:r>
                      <m:d>
                        <m:dPr>
                          <m:ctrlPr>
                            <a:rPr lang="fr-FR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fr-FR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b="0" i="1" smtClean="0"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</m:e>
                            <m:sub>
                              <m:r>
                                <a:rPr lang="fr-FR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fr-FR" b="0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fr-FR" b="0" i="1" smtClean="0"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  <m:r>
                                <a:rPr lang="fr-FR" b="0" i="1" smtClean="0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b>
                          </m:sSub>
                          <m:r>
                            <a:rPr lang="fr-FR" i="1">
                              <a:latin typeface="Cambria Math" panose="02040503050406030204" pitchFamily="18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fr-FR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fr-FR" i="1">
                                  <a:latin typeface="Cambria Math" panose="02040503050406030204" pitchFamily="18" charset="0"/>
                                </a:rPr>
                                <m:t>𝐹</m:t>
                              </m:r>
                            </m:e>
                            <m:sup>
                              <m:r>
                                <a:rPr lang="fr-FR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fr-FR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fr-FR" i="1"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  <m:r>
                                <a:rPr lang="fr-FR" i="1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p>
                          </m:sSup>
                          <m:sSub>
                            <m:sSubPr>
                              <m:ctrlPr>
                                <a:rPr lang="fr-FR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fr-FR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  <m:sSubSup>
                            <m:sSubSupPr>
                              <m:ctrlPr>
                                <a:rPr lang="fr-FR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fr-FR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fr-FR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  <m:sup>
                              <m:r>
                                <a:rPr lang="fr-FR" i="1"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bSup>
                          <m:sSup>
                            <m:sSupPr>
                              <m:ctrlPr>
                                <a:rPr lang="fr-FR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sSup>
                                <m:sSupPr>
                                  <m:ctrlPr>
                                    <a:rPr lang="fr-FR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fr-FR" i="1">
                                      <a:latin typeface="Cambria Math" panose="02040503050406030204" pitchFamily="18" charset="0"/>
                                    </a:rPr>
                                    <m:t>𝐹</m:t>
                                  </m:r>
                                </m:e>
                                <m:sup>
                                  <m:r>
                                    <a:rPr lang="fr-FR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  <m:r>
                                    <a:rPr lang="fr-FR" i="1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r>
                                    <a:rPr lang="fr-FR" i="1">
                                      <a:latin typeface="Cambria Math" panose="02040503050406030204" pitchFamily="18" charset="0"/>
                                    </a:rPr>
                                    <m:t>h</m:t>
                                  </m:r>
                                  <m:r>
                                    <a:rPr lang="fr-FR" i="1">
                                      <a:latin typeface="Cambria Math" panose="02040503050406030204" pitchFamily="18" charset="0"/>
                                    </a:rPr>
                                    <m:t>−1</m:t>
                                  </m:r>
                                </m:sup>
                              </m:sSup>
                            </m:e>
                            <m:sup>
                              <m:r>
                                <a:rPr lang="fr-FR" i="1"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</m:e>
                      </m:d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𝑤𝑔</m:t>
                      </m:r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′</m:t>
                      </m:r>
                      <m:sSup>
                        <m:sSupPr>
                          <m:ctrlPr>
                            <a:rPr lang="fr-FR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fr-F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𝜎</m:t>
                          </m:r>
                        </m:e>
                        <m:sup>
                          <m:r>
                            <a:rPr lang="fr-FR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fr-FR" dirty="0"/>
              </a:p>
            </p:txBody>
          </p:sp>
        </mc:Choice>
        <mc:Fallback xmlns="">
          <p:sp>
            <p:nvSpPr>
              <p:cNvPr id="9" name="ZoneTexte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6771" y="4552034"/>
                <a:ext cx="8705709" cy="1109214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ZoneTexte 9"/>
              <p:cNvSpPr txBox="1"/>
              <p:nvPr/>
            </p:nvSpPr>
            <p:spPr>
              <a:xfrm>
                <a:off x="323528" y="5765194"/>
                <a:ext cx="8640960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+1</m:t>
                          </m:r>
                        </m:sub>
                      </m:sSub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𝑉</m:t>
                      </m:r>
                      <m:d>
                        <m:dPr>
                          <m:ctrlPr>
                            <a:rPr lang="fr-FR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type m:val="lin"/>
                              <m:ctrlPr>
                                <a:rPr lang="fr-FR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fr-FR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fr-FR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fr-FR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  <m:r>
                                    <a:rPr lang="fr-FR" i="1">
                                      <a:latin typeface="Cambria Math" panose="02040503050406030204" pitchFamily="18" charset="0"/>
                                    </a:rPr>
                                    <m:t>+1</m:t>
                                  </m:r>
                                </m:sub>
                              </m:sSub>
                            </m:num>
                            <m:den>
                              <m:sSub>
                                <m:sSubPr>
                                  <m:ctrlPr>
                                    <a:rPr lang="fr-FR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fr-FR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fr-FR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b>
                              </m:sSub>
                            </m:den>
                          </m:f>
                        </m:e>
                      </m:d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𝑉</m:t>
                      </m:r>
                      <m:d>
                        <m:dPr>
                          <m:ctrlPr>
                            <a:rPr lang="fr-FR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type m:val="lin"/>
                              <m:ctrlPr>
                                <a:rPr lang="fr-FR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fr-FR" i="1">
                                  <a:latin typeface="Cambria Math" panose="02040503050406030204" pitchFamily="18" charset="0"/>
                                </a:rPr>
                                <m:t>𝐹</m:t>
                              </m:r>
                              <m:sSub>
                                <m:sSubPr>
                                  <m:ctrlPr>
                                    <a:rPr lang="fr-FR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fr-FR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fr-FR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b>
                              </m:sSub>
                              <m:r>
                                <a:rPr lang="fr-FR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fr-FR" i="1">
                                  <a:latin typeface="Cambria Math" panose="02040503050406030204" pitchFamily="18" charset="0"/>
                                </a:rPr>
                                <m:t>𝑔</m:t>
                              </m:r>
                              <m:sSup>
                                <m:sSupPr>
                                  <m:ctrlPr>
                                    <a:rPr lang="fr-FR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fr-FR" i="1">
                                      <a:latin typeface="Cambria Math" panose="02040503050406030204" pitchFamily="18" charset="0"/>
                                    </a:rPr>
                                    <m:t>𝑤</m:t>
                                  </m:r>
                                </m:e>
                                <m:sup>
                                  <m:r>
                                    <a:rPr lang="fr-FR" i="1">
                                      <a:latin typeface="Cambria Math" panose="02040503050406030204" pitchFamily="18" charset="0"/>
                                    </a:rPr>
                                    <m:t>′</m:t>
                                  </m:r>
                                </m:sup>
                              </m:sSup>
                              <m:sSub>
                                <m:sSubPr>
                                  <m:ctrlPr>
                                    <a:rPr lang="fr-FR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fr-FR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fr-FR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fr-FR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fr-FR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𝜀</m:t>
                                  </m:r>
                                </m:e>
                                <m:sub>
                                  <m:r>
                                    <a:rPr lang="fr-FR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  <m:r>
                                    <a:rPr lang="fr-FR" i="1">
                                      <a:latin typeface="Cambria Math" panose="02040503050406030204" pitchFamily="18" charset="0"/>
                                    </a:rPr>
                                    <m:t>+1</m:t>
                                  </m:r>
                                </m:sub>
                              </m:sSub>
                            </m:num>
                            <m:den>
                              <m:sSub>
                                <m:sSubPr>
                                  <m:ctrlPr>
                                    <a:rPr lang="fr-FR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fr-FR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fr-FR" b="0" i="1" smtClean="0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b>
                              </m:sSub>
                            </m:den>
                          </m:f>
                        </m:e>
                      </m:d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𝑔</m:t>
                      </m:r>
                      <m:sSup>
                        <m:sSupPr>
                          <m:ctrlPr>
                            <a:rPr lang="fr-FR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p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sSub>
                        <m:sSubPr>
                          <m:ctrlPr>
                            <a:rPr lang="fr-FR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sSubSup>
                        <m:sSubSupPr>
                          <m:ctrlPr>
                            <a:rPr lang="fr-FR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  <m:sup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bSup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𝑤𝑔</m:t>
                      </m:r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′</m:t>
                      </m:r>
                      <m:sSup>
                        <m:sSupPr>
                          <m:ctrlPr>
                            <a:rPr lang="fr-FR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fr-F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𝜎</m:t>
                          </m:r>
                        </m:e>
                        <m:sup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fr-FR" dirty="0"/>
              </a:p>
            </p:txBody>
          </p:sp>
        </mc:Choice>
        <mc:Fallback xmlns="">
          <p:sp>
            <p:nvSpPr>
              <p:cNvPr id="10" name="ZoneTexte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3528" y="5765194"/>
                <a:ext cx="8640960" cy="400110"/>
              </a:xfrm>
              <a:prstGeom prst="rect">
                <a:avLst/>
              </a:prstGeom>
              <a:blipFill>
                <a:blip r:embed="rId7"/>
                <a:stretch>
                  <a:fillRect t="-115385" b="-18461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729530332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ZoneTexte 1"/>
              <p:cNvSpPr txBox="1"/>
              <p:nvPr/>
            </p:nvSpPr>
            <p:spPr>
              <a:xfrm>
                <a:off x="179512" y="260648"/>
                <a:ext cx="8280920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fr-FR" dirty="0" smtClean="0"/>
                  <a:t>Algorithme de calcul de </a:t>
                </a:r>
                <a14:m>
                  <m:oMath xmlns:m="http://schemas.openxmlformats.org/officeDocument/2006/math">
                    <m:r>
                      <a:rPr lang="fr-FR" b="0" i="1" smtClean="0">
                        <a:latin typeface="Cambria Math" panose="02040503050406030204" pitchFamily="18" charset="0"/>
                      </a:rPr>
                      <m:t>𝑉</m:t>
                    </m:r>
                    <m:d>
                      <m:dPr>
                        <m:ctrlPr>
                          <a:rPr lang="fr-FR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lin"/>
                            <m:ctrlPr>
                              <a:rPr lang="fr-FR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b>
                              <m:sSubPr>
                                <m:ctrlPr>
                                  <a:rPr lang="fr-FR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fr-FR" b="0" i="1" smtClean="0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  <m:sub>
                                <m:r>
                                  <a:rPr lang="fr-FR" b="0" i="1" smtClean="0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  <m:r>
                                  <a:rPr lang="fr-FR" b="0" i="1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fr-FR" b="0" i="1" smtClean="0">
                                    <a:latin typeface="Cambria Math" panose="02040503050406030204" pitchFamily="18" charset="0"/>
                                  </a:rPr>
                                  <m:t>h</m:t>
                                </m:r>
                              </m:sub>
                            </m:sSub>
                          </m:num>
                          <m:den>
                            <m:sSub>
                              <m:sSubPr>
                                <m:ctrlPr>
                                  <a:rPr lang="fr-FR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fr-FR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fr-FR" b="0" i="1" smtClean="0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sub>
                            </m:sSub>
                          </m:den>
                        </m:f>
                      </m:e>
                    </m:d>
                  </m:oMath>
                </a14:m>
                <a:r>
                  <a:rPr lang="fr-FR" dirty="0" smtClean="0"/>
                  <a:t> pour </a:t>
                </a:r>
                <a14:m>
                  <m:oMath xmlns:m="http://schemas.openxmlformats.org/officeDocument/2006/math">
                    <m:r>
                      <a:rPr lang="fr-FR" b="0" i="1" smtClean="0">
                        <a:latin typeface="Cambria Math" panose="02040503050406030204" pitchFamily="18" charset="0"/>
                      </a:rPr>
                      <m:t>h</m:t>
                    </m:r>
                    <m:r>
                      <a:rPr lang="fr-F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≥2</m:t>
                    </m:r>
                  </m:oMath>
                </a14:m>
                <a:endParaRPr lang="fr-FR" dirty="0"/>
              </a:p>
            </p:txBody>
          </p:sp>
        </mc:Choice>
        <mc:Fallback xmlns="">
          <p:sp>
            <p:nvSpPr>
              <p:cNvPr id="2" name="ZoneTexte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9512" y="260648"/>
                <a:ext cx="8280920" cy="400110"/>
              </a:xfrm>
              <a:prstGeom prst="rect">
                <a:avLst/>
              </a:prstGeom>
              <a:blipFill rotWithShape="0">
                <a:blip r:embed="rId2"/>
                <a:stretch>
                  <a:fillRect l="-736" t="-115385" b="-184615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ZoneTexte 2"/>
              <p:cNvSpPr txBox="1"/>
              <p:nvPr/>
            </p:nvSpPr>
            <p:spPr>
              <a:xfrm>
                <a:off x="179512" y="908720"/>
                <a:ext cx="8640960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fr-FR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b="0" i="1" smtClean="0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fr-FR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fr-FR" b="0" i="1" smtClean="0"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</m:sSub>
                    <m:r>
                      <a:rPr lang="fr-FR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fr-FR" b="0" i="1" smtClean="0">
                        <a:latin typeface="Cambria Math" panose="02040503050406030204" pitchFamily="18" charset="0"/>
                      </a:rPr>
                      <m:t>𝑔</m:t>
                    </m:r>
                    <m:sSup>
                      <m:sSupPr>
                        <m:ctrlPr>
                          <a:rPr lang="fr-FR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fr-FR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p>
                        <m:r>
                          <a:rPr lang="fr-FR" b="0" i="1" smtClean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sSub>
                      <m:sSubPr>
                        <m:ctrlPr>
                          <a:rPr lang="fr-FR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fr-FR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sSubSup>
                      <m:sSubSupPr>
                        <m:ctrlPr>
                          <a:rPr lang="fr-FR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fr-FR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fr-FR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  <m:sup>
                        <m:r>
                          <a:rPr lang="fr-FR" b="0" i="1" smtClean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bSup>
                    <m:r>
                      <a:rPr lang="fr-FR" b="0" i="1" smtClean="0">
                        <a:latin typeface="Cambria Math" panose="02040503050406030204" pitchFamily="18" charset="0"/>
                      </a:rPr>
                      <m:t>𝑤𝑔</m:t>
                    </m:r>
                    <m:r>
                      <a:rPr lang="fr-FR" b="0" i="1" smtClean="0">
                        <a:latin typeface="Cambria Math" panose="02040503050406030204" pitchFamily="18" charset="0"/>
                      </a:rPr>
                      <m:t>′</m:t>
                    </m:r>
                    <m:sSup>
                      <m:sSupPr>
                        <m:ctrlPr>
                          <a:rPr lang="fr-FR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fr-F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𝜎</m:t>
                        </m:r>
                      </m:e>
                      <m:sup>
                        <m:r>
                          <a:rPr lang="fr-FR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fr-FR" dirty="0" smtClean="0"/>
                  <a:t> </a:t>
                </a:r>
                <a:endParaRPr lang="fr-FR" dirty="0"/>
              </a:p>
            </p:txBody>
          </p:sp>
        </mc:Choice>
        <mc:Fallback xmlns="">
          <p:sp>
            <p:nvSpPr>
              <p:cNvPr id="3" name="ZoneTexte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9512" y="908720"/>
                <a:ext cx="8640960" cy="400110"/>
              </a:xfrm>
              <a:prstGeom prst="rect">
                <a:avLst/>
              </a:prstGeom>
              <a:blipFill>
                <a:blip r:embed="rId3"/>
                <a:stretch>
                  <a:fillRect b="-1969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ZoneTexte 4"/>
          <p:cNvSpPr txBox="1"/>
          <p:nvPr/>
        </p:nvSpPr>
        <p:spPr>
          <a:xfrm>
            <a:off x="179512" y="1556792"/>
            <a:ext cx="813690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 smtClean="0"/>
              <a:t>Pour</a:t>
            </a:r>
            <a:r>
              <a:rPr lang="fr-FR" dirty="0" smtClean="0"/>
              <a:t> i ← 2 à h</a:t>
            </a:r>
            <a:endParaRPr lang="fr-FR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ZoneTexte 5"/>
              <p:cNvSpPr txBox="1"/>
              <p:nvPr/>
            </p:nvSpPr>
            <p:spPr>
              <a:xfrm>
                <a:off x="899592" y="2132856"/>
                <a:ext cx="7560840" cy="46955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i="1" smtClean="0">
                          <a:latin typeface="Cambria Math" panose="02040503050406030204" pitchFamily="18" charset="0"/>
                        </a:rPr>
                        <m:t>𝑉</m:t>
                      </m:r>
                      <m:d>
                        <m:dPr>
                          <m:ctrlPr>
                            <a:rPr lang="fr-FR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type m:val="lin"/>
                              <m:ctrlPr>
                                <a:rPr lang="fr-FR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fr-FR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fr-FR" i="1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fr-FR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  <m:r>
                                    <a:rPr lang="fr-FR" i="1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r>
                                    <a:rPr lang="fr-FR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num>
                            <m:den>
                              <m:sSub>
                                <m:sSubPr>
                                  <m:ctrlPr>
                                    <a:rPr lang="fr-FR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fr-FR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fr-FR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b>
                              </m:sSub>
                            </m:den>
                          </m:f>
                        </m:e>
                      </m:d>
                      <m:r>
                        <a:rPr lang="fr-FR" i="1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fr-FR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fr-FR" i="1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p>
                          <m:r>
                            <a:rPr lang="fr-FR" i="1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sSub>
                        <m:sSubPr>
                          <m:ctrlPr>
                            <a:rPr lang="fr-FR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sub>
                      </m:sSub>
                      <m:r>
                        <a:rPr lang="fr-FR" i="1">
                          <a:latin typeface="Cambria Math" panose="02040503050406030204" pitchFamily="18" charset="0"/>
                        </a:rPr>
                        <m:t>𝑤</m:t>
                      </m:r>
                      <m:r>
                        <a:rPr lang="fr-FR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𝑤</m:t>
                      </m:r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′</m:t>
                      </m:r>
                      <m:d>
                        <m:dPr>
                          <m:ctrlPr>
                            <a:rPr lang="fr-FR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fr-FR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i="1"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</m:e>
                            <m:sub>
                              <m:r>
                                <a:rPr lang="fr-FR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fr-FR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fr-FR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fr-FR" i="1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b>
                          </m:sSub>
                          <m:r>
                            <a:rPr lang="fr-FR" i="1">
                              <a:latin typeface="Cambria Math" panose="02040503050406030204" pitchFamily="18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fr-FR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fr-FR" i="1">
                                  <a:latin typeface="Cambria Math" panose="02040503050406030204" pitchFamily="18" charset="0"/>
                                </a:rPr>
                                <m:t>𝐹</m:t>
                              </m:r>
                            </m:e>
                            <m:sup>
                              <m:r>
                                <a:rPr lang="fr-FR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fr-FR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fr-FR" i="1"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  <m:r>
                                <a:rPr lang="fr-FR" i="1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p>
                          </m:sSup>
                          <m:sSub>
                            <m:sSubPr>
                              <m:ctrlPr>
                                <a:rPr lang="fr-FR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fr-FR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  <m:sSubSup>
                            <m:sSubSupPr>
                              <m:ctrlPr>
                                <a:rPr lang="fr-FR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fr-FR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fr-FR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  <m:sup>
                              <m:r>
                                <a:rPr lang="fr-FR" i="1"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bSup>
                          <m:sSup>
                            <m:sSupPr>
                              <m:ctrlPr>
                                <a:rPr lang="fr-FR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sSup>
                                <m:sSupPr>
                                  <m:ctrlPr>
                                    <a:rPr lang="fr-FR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fr-FR" i="1">
                                      <a:latin typeface="Cambria Math" panose="02040503050406030204" pitchFamily="18" charset="0"/>
                                    </a:rPr>
                                    <m:t>𝐹</m:t>
                                  </m:r>
                                </m:e>
                                <m:sup>
                                  <m:r>
                                    <a:rPr lang="fr-FR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  <m:r>
                                    <a:rPr lang="fr-FR" i="1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r>
                                    <a:rPr lang="fr-FR" i="1">
                                      <a:latin typeface="Cambria Math" panose="02040503050406030204" pitchFamily="18" charset="0"/>
                                    </a:rPr>
                                    <m:t>h</m:t>
                                  </m:r>
                                  <m:r>
                                    <a:rPr lang="fr-FR" i="1">
                                      <a:latin typeface="Cambria Math" panose="02040503050406030204" pitchFamily="18" charset="0"/>
                                    </a:rPr>
                                    <m:t>−1</m:t>
                                  </m:r>
                                </m:sup>
                              </m:sSup>
                            </m:e>
                            <m:sup>
                              <m:r>
                                <a:rPr lang="fr-FR" i="1"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</m:e>
                      </m:d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𝑤</m:t>
                      </m:r>
                      <m:sSup>
                        <m:sSupPr>
                          <m:ctrlPr>
                            <a:rPr lang="fr-FR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fr-F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𝜎</m:t>
                          </m:r>
                        </m:e>
                        <m:sup>
                          <m:r>
                            <a:rPr lang="fr-FR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fr-FR" dirty="0"/>
              </a:p>
            </p:txBody>
          </p:sp>
        </mc:Choice>
        <mc:Fallback xmlns="">
          <p:sp>
            <p:nvSpPr>
              <p:cNvPr id="6" name="ZoneTexte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9592" y="2132856"/>
                <a:ext cx="7560840" cy="469552"/>
              </a:xfrm>
              <a:prstGeom prst="rect">
                <a:avLst/>
              </a:prstGeom>
              <a:blipFill>
                <a:blip r:embed="rId4"/>
                <a:stretch>
                  <a:fillRect t="-88312" b="-14935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ZoneTexte 6"/>
              <p:cNvSpPr txBox="1"/>
              <p:nvPr/>
            </p:nvSpPr>
            <p:spPr>
              <a:xfrm>
                <a:off x="611560" y="2780928"/>
                <a:ext cx="7992888" cy="55297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fr-FR" i="1">
                          <a:latin typeface="Cambria Math" panose="02040503050406030204" pitchFamily="18" charset="0"/>
                        </a:rPr>
                        <m:t>𝐹</m:t>
                      </m:r>
                      <m:sSub>
                        <m:sSubPr>
                          <m:ctrlPr>
                            <a:rPr lang="fr-FR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i="1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fr-FR" i="1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fr-FR" i="1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fr-FR" i="1">
                              <a:latin typeface="Cambria Math" panose="02040503050406030204" pitchFamily="18" charset="0"/>
                            </a:rPr>
                            <m:t>−1</m:t>
                          </m:r>
                        </m:sub>
                      </m:sSub>
                      <m:sSup>
                        <m:sSupPr>
                          <m:ctrlPr>
                            <a:rPr lang="fr-FR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fr-FR" i="1"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p>
                          <m:r>
                            <a:rPr lang="fr-FR" i="1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r>
                        <a:rPr lang="fr-FR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fr-FR" i="1">
                          <a:latin typeface="Cambria Math" panose="02040503050406030204" pitchFamily="18" charset="0"/>
                        </a:rPr>
                        <m:t>𝑔𝑤</m:t>
                      </m:r>
                      <m:r>
                        <a:rPr lang="fr-FR" i="1">
                          <a:latin typeface="Cambria Math" panose="02040503050406030204" pitchFamily="18" charset="0"/>
                        </a:rPr>
                        <m:t>′</m:t>
                      </m:r>
                      <m:d>
                        <m:dPr>
                          <m:ctrlPr>
                            <a:rPr lang="fr-FR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fr-FR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i="1"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</m:e>
                            <m:sub>
                              <m:r>
                                <a:rPr lang="fr-FR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fr-FR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fr-FR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fr-FR" i="1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b>
                          </m:sSub>
                          <m:r>
                            <a:rPr lang="fr-FR" i="1">
                              <a:latin typeface="Cambria Math" panose="02040503050406030204" pitchFamily="18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fr-FR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fr-FR" i="1">
                                  <a:latin typeface="Cambria Math" panose="02040503050406030204" pitchFamily="18" charset="0"/>
                                </a:rPr>
                                <m:t>𝐹</m:t>
                              </m:r>
                            </m:e>
                            <m:sup>
                              <m:r>
                                <a:rPr lang="fr-FR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fr-FR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fr-FR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fr-FR" i="1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p>
                          </m:sSup>
                          <m:sSub>
                            <m:sSubPr>
                              <m:ctrlPr>
                                <a:rPr lang="fr-FR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fr-FR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  <m:sSubSup>
                            <m:sSubSupPr>
                              <m:ctrlPr>
                                <a:rPr lang="fr-FR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fr-FR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fr-FR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  <m:sup>
                              <m:r>
                                <a:rPr lang="fr-FR" i="1"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bSup>
                          <m:sSup>
                            <m:sSupPr>
                              <m:ctrlPr>
                                <a:rPr lang="fr-FR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sSup>
                                <m:sSupPr>
                                  <m:ctrlPr>
                                    <a:rPr lang="fr-FR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fr-FR" i="1">
                                      <a:latin typeface="Cambria Math" panose="02040503050406030204" pitchFamily="18" charset="0"/>
                                    </a:rPr>
                                    <m:t>𝐹</m:t>
                                  </m:r>
                                </m:e>
                                <m:sup>
                                  <m:r>
                                    <a:rPr lang="fr-FR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  <m:r>
                                    <a:rPr lang="fr-FR" i="1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r>
                                    <a:rPr lang="fr-FR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  <m:r>
                                    <a:rPr lang="fr-FR" i="1">
                                      <a:latin typeface="Cambria Math" panose="02040503050406030204" pitchFamily="18" charset="0"/>
                                    </a:rPr>
                                    <m:t>−1</m:t>
                                  </m:r>
                                </m:sup>
                              </m:sSup>
                            </m:e>
                            <m:sup>
                              <m:r>
                                <a:rPr lang="fr-FR" i="1"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</m:e>
                      </m:d>
                      <m:sSup>
                        <m:sSupPr>
                          <m:ctrlPr>
                            <a:rPr lang="fr-FR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fr-FR" i="1">
                              <a:latin typeface="Cambria Math" panose="02040503050406030204" pitchFamily="18" charset="0"/>
                            </a:rPr>
                            <m:t>𝑤</m:t>
                          </m:r>
                          <m:sSup>
                            <m:sSupPr>
                              <m:ctrlPr>
                                <a:rPr lang="fr-FR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fr-FR" i="1">
                                  <a:latin typeface="Cambria Math" panose="02040503050406030204" pitchFamily="18" charset="0"/>
                                </a:rPr>
                                <m:t>𝑔</m:t>
                              </m:r>
                            </m:e>
                            <m:sup>
                              <m:r>
                                <a:rPr lang="fr-FR" i="1"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  <m:r>
                            <a:rPr lang="fr-F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𝜎</m:t>
                          </m:r>
                        </m:e>
                        <m:sup>
                          <m:r>
                            <a:rPr lang="fr-FR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fr-FR" dirty="0"/>
              </a:p>
            </p:txBody>
          </p:sp>
        </mc:Choice>
        <mc:Fallback xmlns="">
          <p:sp>
            <p:nvSpPr>
              <p:cNvPr id="7" name="ZoneTexte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1560" y="2780928"/>
                <a:ext cx="7992888" cy="552972"/>
              </a:xfrm>
              <a:prstGeom prst="rect">
                <a:avLst/>
              </a:prstGeom>
              <a:blipFill rotWithShape="0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Rectangle 7"/>
          <p:cNvSpPr/>
          <p:nvPr/>
        </p:nvSpPr>
        <p:spPr>
          <a:xfrm>
            <a:off x="323998" y="3356992"/>
            <a:ext cx="129715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spcBef>
                <a:spcPct val="50000"/>
              </a:spcBef>
            </a:pPr>
            <a:r>
              <a:rPr lang="fr-FR" altLang="fr-FR" b="1" dirty="0" err="1" smtClean="0"/>
              <a:t>Fin_Pour</a:t>
            </a:r>
            <a:endParaRPr lang="fr-FR" altLang="fr-FR" dirty="0"/>
          </a:p>
        </p:txBody>
      </p:sp>
      <p:sp>
        <p:nvSpPr>
          <p:cNvPr id="9" name="ZoneTexte 8"/>
          <p:cNvSpPr txBox="1"/>
          <p:nvPr/>
        </p:nvSpPr>
        <p:spPr>
          <a:xfrm>
            <a:off x="144016" y="3982508"/>
            <a:ext cx="8964488" cy="958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fr-FR" dirty="0" smtClean="0"/>
              <a:t>Gr3 : Le modèle espace d’état non linéaire avec E multiplicative et S multiplicative</a:t>
            </a:r>
            <a:endParaRPr lang="fr-FR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ZoneTexte 9"/>
              <p:cNvSpPr txBox="1"/>
              <p:nvPr/>
            </p:nvSpPr>
            <p:spPr>
              <a:xfrm>
                <a:off x="1259632" y="4797152"/>
                <a:ext cx="6768752" cy="10749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"/>
                          <m:ctrlPr>
                            <a:rPr lang="fr-FR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fr-FR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fr-FR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fr-FR" i="1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  <m:sub>
                                    <m:r>
                                      <a:rPr lang="fr-FR" i="1"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</m:sub>
                                </m:sSub>
                                <m:r>
                                  <m:rPr>
                                    <m:brk m:alnAt="7"/>
                                  </m:rPr>
                                  <a:rPr lang="fr-FR" i="1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sSubSup>
                                  <m:sSubSupPr>
                                    <m:ctrlPr>
                                      <a:rPr lang="fr-FR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fr-FR" i="1">
                                        <a:latin typeface="Cambria Math" panose="02040503050406030204" pitchFamily="18" charset="0"/>
                                      </a:rPr>
                                      <m:t>𝑤</m:t>
                                    </m:r>
                                  </m:e>
                                  <m:sub>
                                    <m:r>
                                      <a:rPr lang="fr-FR" i="1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  <m:sup>
                                    <m:r>
                                      <a:rPr lang="fr-FR" i="1">
                                        <a:latin typeface="Cambria Math" panose="02040503050406030204" pitchFamily="18" charset="0"/>
                                      </a:rPr>
                                      <m:t>′</m:t>
                                    </m:r>
                                  </m:sup>
                                </m:sSubSup>
                                <m:sSub>
                                  <m:sSubPr>
                                    <m:ctrlPr>
                                      <a:rPr lang="fr-FR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fr-FR" i="1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fr-FR" i="1"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  <m:r>
                                      <a:rPr lang="fr-FR" i="1">
                                        <a:latin typeface="Cambria Math" panose="02040503050406030204" pitchFamily="18" charset="0"/>
                                      </a:rPr>
                                      <m:t>−1</m:t>
                                    </m:r>
                                  </m:sub>
                                </m:sSub>
                                <m:sSubSup>
                                  <m:sSubSupPr>
                                    <m:ctrlPr>
                                      <a:rPr lang="fr-FR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fr-FR" i="1">
                                        <a:latin typeface="Cambria Math" panose="02040503050406030204" pitchFamily="18" charset="0"/>
                                      </a:rPr>
                                      <m:t>𝑤</m:t>
                                    </m:r>
                                  </m:e>
                                  <m:sub>
                                    <m:r>
                                      <a:rPr lang="fr-FR" i="1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  <m:sup>
                                    <m:r>
                                      <a:rPr lang="fr-FR" i="1">
                                        <a:latin typeface="Cambria Math" panose="02040503050406030204" pitchFamily="18" charset="0"/>
                                      </a:rPr>
                                      <m:t>′</m:t>
                                    </m:r>
                                  </m:sup>
                                </m:sSubSup>
                                <m:sSub>
                                  <m:sSubPr>
                                    <m:ctrlPr>
                                      <a:rPr lang="fr-FR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fr-FR" i="1">
                                        <a:latin typeface="Cambria Math" panose="02040503050406030204" pitchFamily="18" charset="0"/>
                                      </a:rPr>
                                      <m:t>𝑧</m:t>
                                    </m:r>
                                  </m:e>
                                  <m:sub>
                                    <m:r>
                                      <a:rPr lang="fr-FR" i="1"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  <m:r>
                                      <a:rPr lang="fr-FR" i="1">
                                        <a:latin typeface="Cambria Math" panose="02040503050406030204" pitchFamily="18" charset="0"/>
                                      </a:rPr>
                                      <m:t>−1</m:t>
                                    </m:r>
                                  </m:sub>
                                </m:sSub>
                                <m:d>
                                  <m:dPr>
                                    <m:ctrlPr>
                                      <a:rPr lang="fr-FR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fr-FR" i="1">
                                        <a:latin typeface="Cambria Math" panose="02040503050406030204" pitchFamily="18" charset="0"/>
                                      </a:rPr>
                                      <m:t>1+</m:t>
                                    </m:r>
                                    <m:sSub>
                                      <m:sSubPr>
                                        <m:ctrlPr>
                                          <a:rPr lang="fr-FR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fr-FR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𝜀</m:t>
                                        </m:r>
                                      </m:e>
                                      <m:sub>
                                        <m:r>
                                          <a:rPr lang="fr-FR" i="1">
                                            <a:latin typeface="Cambria Math" panose="02040503050406030204" pitchFamily="18" charset="0"/>
                                          </a:rPr>
                                          <m:t>𝑡</m:t>
                                        </m:r>
                                      </m:sub>
                                    </m:sSub>
                                  </m:e>
                                </m:d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fr-FR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fr-FR" i="1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fr-FR" i="1"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</m:sub>
                                </m:sSub>
                                <m:r>
                                  <a:rPr lang="fr-FR" i="1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d>
                                  <m:dPr>
                                    <m:ctrlPr>
                                      <a:rPr lang="fr-FR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fr-FR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fr-FR" b="0" i="1" smtClean="0">
                                            <a:latin typeface="Cambria Math" panose="02040503050406030204" pitchFamily="18" charset="0"/>
                                          </a:rPr>
                                          <m:t>𝐹</m:t>
                                        </m:r>
                                      </m:e>
                                      <m:sub>
                                        <m:r>
                                          <a:rPr lang="fr-FR" b="0" i="1" smtClean="0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sub>
                                    </m:sSub>
                                    <m:r>
                                      <a:rPr lang="fr-FR" i="1"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sSub>
                                      <m:sSubPr>
                                        <m:ctrlPr>
                                          <a:rPr lang="fr-FR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fr-FR" b="0" i="1" smtClean="0">
                                            <a:latin typeface="Cambria Math" panose="02040503050406030204" pitchFamily="18" charset="0"/>
                                          </a:rPr>
                                          <m:t>𝑔</m:t>
                                        </m:r>
                                      </m:e>
                                      <m:sub>
                                        <m:r>
                                          <a:rPr lang="fr-FR" b="0" i="1" smtClean="0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sub>
                                    </m:sSub>
                                    <m:sSubSup>
                                      <m:sSubSupPr>
                                        <m:ctrlPr>
                                          <a:rPr lang="fr-FR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SupPr>
                                      <m:e>
                                        <m:r>
                                          <a:rPr lang="fr-FR" i="1">
                                            <a:latin typeface="Cambria Math" panose="02040503050406030204" pitchFamily="18" charset="0"/>
                                          </a:rPr>
                                          <m:t>𝑤</m:t>
                                        </m:r>
                                      </m:e>
                                      <m:sub>
                                        <m:r>
                                          <a:rPr lang="fr-FR" i="1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sub>
                                      <m:sup>
                                        <m:r>
                                          <a:rPr lang="fr-FR" i="1">
                                            <a:latin typeface="Cambria Math" panose="02040503050406030204" pitchFamily="18" charset="0"/>
                                          </a:rPr>
                                          <m:t>′</m:t>
                                        </m:r>
                                      </m:sup>
                                    </m:sSubSup>
                                    <m:sSub>
                                      <m:sSubPr>
                                        <m:ctrlPr>
                                          <a:rPr lang="fr-FR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fr-FR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𝜀</m:t>
                                        </m:r>
                                      </m:e>
                                      <m:sub>
                                        <m:r>
                                          <a:rPr lang="fr-FR" i="1">
                                            <a:latin typeface="Cambria Math" panose="02040503050406030204" pitchFamily="18" charset="0"/>
                                          </a:rPr>
                                          <m:t>𝑡</m:t>
                                        </m:r>
                                      </m:sub>
                                    </m:sSub>
                                  </m:e>
                                </m:d>
                                <m:sSub>
                                  <m:sSubPr>
                                    <m:ctrlPr>
                                      <a:rPr lang="fr-FR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fr-FR" i="1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fr-FR" i="1"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  <m:r>
                                      <a:rPr lang="fr-FR" i="1">
                                        <a:latin typeface="Cambria Math" panose="02040503050406030204" pitchFamily="18" charset="0"/>
                                      </a:rPr>
                                      <m:t>−1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fr-FR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fr-FR" b="0" i="1" smtClean="0">
                                        <a:latin typeface="Cambria Math" panose="02040503050406030204" pitchFamily="18" charset="0"/>
                                      </a:rPr>
                                      <m:t>𝑧</m:t>
                                    </m:r>
                                  </m:e>
                                  <m:sub>
                                    <m:r>
                                      <a:rPr lang="fr-FR" i="1"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</m:sub>
                                </m:sSub>
                                <m:r>
                                  <a:rPr lang="fr-FR" i="1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d>
                                  <m:dPr>
                                    <m:ctrlPr>
                                      <a:rPr lang="fr-FR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fr-FR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fr-FR" i="1">
                                            <a:latin typeface="Cambria Math" panose="02040503050406030204" pitchFamily="18" charset="0"/>
                                          </a:rPr>
                                          <m:t>𝐹</m:t>
                                        </m:r>
                                      </m:e>
                                      <m:sub>
                                        <m:r>
                                          <a:rPr lang="fr-FR" b="0" i="1" smtClean="0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b>
                                    </m:sSub>
                                    <m:r>
                                      <a:rPr lang="fr-FR" i="1"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sSub>
                                      <m:sSubPr>
                                        <m:ctrlPr>
                                          <a:rPr lang="fr-FR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fr-FR" i="1">
                                            <a:latin typeface="Cambria Math" panose="02040503050406030204" pitchFamily="18" charset="0"/>
                                          </a:rPr>
                                          <m:t>𝑔</m:t>
                                        </m:r>
                                      </m:e>
                                      <m:sub>
                                        <m:r>
                                          <a:rPr lang="fr-FR" b="0" i="1" smtClean="0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b>
                                    </m:sSub>
                                    <m:sSubSup>
                                      <m:sSubSupPr>
                                        <m:ctrlPr>
                                          <a:rPr lang="fr-FR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SupPr>
                                      <m:e>
                                        <m:r>
                                          <a:rPr lang="fr-FR" i="1">
                                            <a:latin typeface="Cambria Math" panose="02040503050406030204" pitchFamily="18" charset="0"/>
                                          </a:rPr>
                                          <m:t>𝑤</m:t>
                                        </m:r>
                                      </m:e>
                                      <m:sub>
                                        <m:r>
                                          <a:rPr lang="fr-FR" b="0" i="1" smtClean="0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b>
                                      <m:sup>
                                        <m:r>
                                          <a:rPr lang="fr-FR" i="1">
                                            <a:latin typeface="Cambria Math" panose="02040503050406030204" pitchFamily="18" charset="0"/>
                                          </a:rPr>
                                          <m:t>′</m:t>
                                        </m:r>
                                      </m:sup>
                                    </m:sSubSup>
                                    <m:sSub>
                                      <m:sSubPr>
                                        <m:ctrlPr>
                                          <a:rPr lang="fr-FR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fr-FR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𝜀</m:t>
                                        </m:r>
                                      </m:e>
                                      <m:sub>
                                        <m:r>
                                          <a:rPr lang="fr-FR" i="1">
                                            <a:latin typeface="Cambria Math" panose="02040503050406030204" pitchFamily="18" charset="0"/>
                                          </a:rPr>
                                          <m:t>𝑡</m:t>
                                        </m:r>
                                      </m:sub>
                                    </m:sSub>
                                  </m:e>
                                </m:d>
                                <m:sSub>
                                  <m:sSubPr>
                                    <m:ctrlPr>
                                      <a:rPr lang="fr-FR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fr-FR" b="0" i="1" smtClean="0">
                                        <a:latin typeface="Cambria Math" panose="02040503050406030204" pitchFamily="18" charset="0"/>
                                      </a:rPr>
                                      <m:t>𝑧</m:t>
                                    </m:r>
                                  </m:e>
                                  <m:sub>
                                    <m:r>
                                      <a:rPr lang="fr-FR" i="1"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  <m:r>
                                      <a:rPr lang="fr-FR" i="1">
                                        <a:latin typeface="Cambria Math" panose="02040503050406030204" pitchFamily="18" charset="0"/>
                                      </a:rPr>
                                      <m:t>−1</m:t>
                                    </m:r>
                                  </m:sub>
                                </m:sSub>
                              </m:e>
                            </m:mr>
                          </m:m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d>
                    </m:oMath>
                  </m:oMathPara>
                </a14:m>
                <a:endParaRPr lang="fr-FR" dirty="0"/>
              </a:p>
            </p:txBody>
          </p:sp>
        </mc:Choice>
        <mc:Fallback xmlns="">
          <p:sp>
            <p:nvSpPr>
              <p:cNvPr id="10" name="ZoneTexte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59632" y="4797152"/>
                <a:ext cx="6768752" cy="107491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ZoneTexte 3"/>
              <p:cNvSpPr txBox="1"/>
              <p:nvPr/>
            </p:nvSpPr>
            <p:spPr>
              <a:xfrm>
                <a:off x="540022" y="6021288"/>
                <a:ext cx="8280450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fr-FR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fr-FR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fr-FR" dirty="0" smtClean="0"/>
                  <a:t> : niveau et pente,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fr-FR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b="0" i="1" smtClean="0"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fr-FR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fr-FR" dirty="0" smtClean="0"/>
                  <a:t> : composante saisonnière</a:t>
                </a:r>
                <a:endParaRPr lang="fr-FR" dirty="0"/>
              </a:p>
            </p:txBody>
          </p:sp>
        </mc:Choice>
        <mc:Fallback xmlns="">
          <p:sp>
            <p:nvSpPr>
              <p:cNvPr id="4" name="ZoneTexte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0022" y="6021288"/>
                <a:ext cx="8280450" cy="400110"/>
              </a:xfrm>
              <a:prstGeom prst="rect">
                <a:avLst/>
              </a:prstGeom>
              <a:blipFill rotWithShape="0">
                <a:blip r:embed="rId7"/>
                <a:stretch>
                  <a:fillRect t="-7692" b="-29231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7768646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ZoneTexte 1"/>
              <p:cNvSpPr txBox="1"/>
              <p:nvPr/>
            </p:nvSpPr>
            <p:spPr>
              <a:xfrm>
                <a:off x="395536" y="260648"/>
                <a:ext cx="7776864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fr-FR" dirty="0" smtClean="0"/>
                  <a:t>On a pour un horizon h,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fr-F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fr-FR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fr-FR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</m:acc>
                      </m:e>
                      <m:sub>
                        <m:r>
                          <a:rPr lang="fr-FR" i="1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fr-FR" i="1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fr-FR" i="1">
                            <a:latin typeface="Cambria Math" panose="02040503050406030204" pitchFamily="18" charset="0"/>
                          </a:rPr>
                          <m:t>h</m:t>
                        </m:r>
                      </m:sub>
                    </m:sSub>
                    <m:r>
                      <a:rPr lang="fr-FR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fr-FR" i="1">
                        <a:latin typeface="Cambria Math" panose="02040503050406030204" pitchFamily="18" charset="0"/>
                      </a:rPr>
                      <m:t>𝐸</m:t>
                    </m:r>
                    <m:d>
                      <m:dPr>
                        <m:ctrlPr>
                          <a:rPr lang="fr-FR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lin"/>
                            <m:ctrlPr>
                              <a:rPr lang="fr-FR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b>
                              <m:sSubPr>
                                <m:ctrlPr>
                                  <a:rPr lang="fr-FR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fr-FR" i="1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  <m:sub>
                                <m:r>
                                  <a:rPr lang="fr-FR" i="1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  <m:r>
                                  <a:rPr lang="fr-FR" i="1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fr-FR" i="1">
                                    <a:latin typeface="Cambria Math" panose="02040503050406030204" pitchFamily="18" charset="0"/>
                                  </a:rPr>
                                  <m:t>h</m:t>
                                </m:r>
                              </m:sub>
                            </m:sSub>
                          </m:num>
                          <m:den>
                            <m:sSub>
                              <m:sSubPr>
                                <m:ctrlPr>
                                  <a:rPr lang="fr-FR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fr-FR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fr-FR" i="1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sub>
                            </m:sSub>
                          </m:den>
                        </m:f>
                        <m:r>
                          <a:rPr lang="fr-FR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fr-FR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fr-FR" b="0" i="1" smtClean="0"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  <m:sub>
                            <m:r>
                              <a:rPr lang="fr-FR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</m:e>
                    </m:d>
                    <m:r>
                      <a:rPr lang="fr-FR" b="0" i="1" smtClean="0">
                        <a:latin typeface="Cambria Math" panose="02040503050406030204" pitchFamily="18" charset="0"/>
                      </a:rPr>
                      <m:t>=</m:t>
                    </m:r>
                    <m:sSubSup>
                      <m:sSubSupPr>
                        <m:ctrlPr>
                          <a:rPr lang="fr-FR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fr-FR" i="1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fr-FR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fr-FR" i="1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bSup>
                    <m:sSub>
                      <m:sSubPr>
                        <m:ctrlPr>
                          <a:rPr lang="fr-F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fr-FR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sSubSup>
                      <m:sSubSupPr>
                        <m:ctrlPr>
                          <a:rPr lang="fr-FR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fr-FR" i="1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fr-FR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>
                        <m:r>
                          <a:rPr lang="fr-FR" i="1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bSup>
                    <m:sSub>
                      <m:sSubPr>
                        <m:ctrlPr>
                          <a:rPr lang="fr-F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i="1"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fr-FR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fr-FR" dirty="0" smtClean="0"/>
                  <a:t> si h=1</a:t>
                </a:r>
                <a:endParaRPr lang="fr-FR" dirty="0"/>
              </a:p>
            </p:txBody>
          </p:sp>
        </mc:Choice>
        <mc:Fallback xmlns="">
          <p:sp>
            <p:nvSpPr>
              <p:cNvPr id="2" name="ZoneTexte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5536" y="260648"/>
                <a:ext cx="7776864" cy="400110"/>
              </a:xfrm>
              <a:prstGeom prst="rect">
                <a:avLst/>
              </a:prstGeom>
              <a:blipFill rotWithShape="0">
                <a:blip r:embed="rId2"/>
                <a:stretch>
                  <a:fillRect l="-862" t="-115385" b="-184615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ZoneTexte 3"/>
              <p:cNvSpPr txBox="1"/>
              <p:nvPr/>
            </p:nvSpPr>
            <p:spPr>
              <a:xfrm>
                <a:off x="395536" y="836712"/>
                <a:ext cx="8280920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fr-FR" dirty="0" smtClean="0"/>
                  <a:t>Il est possible de calculer </a:t>
                </a:r>
                <a14:m>
                  <m:oMath xmlns:m="http://schemas.openxmlformats.org/officeDocument/2006/math">
                    <m:r>
                      <a:rPr lang="fr-FR" i="1">
                        <a:latin typeface="Cambria Math" panose="02040503050406030204" pitchFamily="18" charset="0"/>
                      </a:rPr>
                      <m:t>𝑉</m:t>
                    </m:r>
                    <m:d>
                      <m:dPr>
                        <m:ctrlPr>
                          <a:rPr lang="fr-FR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lin"/>
                            <m:ctrlPr>
                              <a:rPr lang="fr-FR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b>
                              <m:sSubPr>
                                <m:ctrlPr>
                                  <a:rPr lang="fr-FR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fr-FR" i="1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  <m:sub>
                                <m:r>
                                  <a:rPr lang="fr-FR" i="1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  <m:r>
                                  <a:rPr lang="fr-FR" i="1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fr-FR" i="1">
                                    <a:latin typeface="Cambria Math" panose="02040503050406030204" pitchFamily="18" charset="0"/>
                                  </a:rPr>
                                  <m:t>h</m:t>
                                </m:r>
                              </m:sub>
                            </m:sSub>
                          </m:num>
                          <m:den>
                            <m:sSub>
                              <m:sSubPr>
                                <m:ctrlPr>
                                  <a:rPr lang="fr-FR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fr-FR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fr-FR" i="1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sub>
                            </m:sSub>
                            <m:r>
                              <a:rPr lang="fr-FR" b="0" i="1" smtClean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sSub>
                              <m:sSubPr>
                                <m:ctrlPr>
                                  <a:rPr lang="fr-FR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fr-FR" i="1">
                                    <a:latin typeface="Cambria Math" panose="02040503050406030204" pitchFamily="18" charset="0"/>
                                  </a:rPr>
                                  <m:t>𝑧</m:t>
                                </m:r>
                              </m:e>
                              <m:sub>
                                <m:r>
                                  <a:rPr lang="fr-FR" i="1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sub>
                            </m:sSub>
                          </m:den>
                        </m:f>
                      </m:e>
                    </m:d>
                  </m:oMath>
                </a14:m>
                <a:r>
                  <a:rPr lang="fr-FR" dirty="0" smtClean="0"/>
                  <a:t> </a:t>
                </a:r>
                <a:endParaRPr lang="fr-FR" dirty="0"/>
              </a:p>
            </p:txBody>
          </p:sp>
        </mc:Choice>
        <mc:Fallback xmlns="">
          <p:sp>
            <p:nvSpPr>
              <p:cNvPr id="4" name="ZoneTexte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5536" y="836712"/>
                <a:ext cx="8280920" cy="400110"/>
              </a:xfrm>
              <a:prstGeom prst="rect">
                <a:avLst/>
              </a:prstGeom>
              <a:blipFill rotWithShape="0">
                <a:blip r:embed="rId3"/>
                <a:stretch>
                  <a:fillRect l="-810" t="-113636" b="-180303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ZoneTexte 2"/>
          <p:cNvSpPr txBox="1"/>
          <p:nvPr/>
        </p:nvSpPr>
        <p:spPr>
          <a:xfrm>
            <a:off x="323528" y="4725144"/>
            <a:ext cx="856895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 smtClean="0"/>
              <a:t>Groupe 4 et Groupe 5</a:t>
            </a:r>
            <a:endParaRPr lang="fr-FR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ZoneTexte 4"/>
              <p:cNvSpPr txBox="1"/>
              <p:nvPr/>
            </p:nvSpPr>
            <p:spPr>
              <a:xfrm>
                <a:off x="251520" y="5333146"/>
                <a:ext cx="8280920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fr-F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fr-FR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fr-FR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</m:acc>
                      </m:e>
                      <m:sub>
                        <m:r>
                          <a:rPr lang="fr-FR" i="1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fr-FR" i="1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fr-FR" i="1">
                            <a:latin typeface="Cambria Math" panose="02040503050406030204" pitchFamily="18" charset="0"/>
                          </a:rPr>
                          <m:t>h</m:t>
                        </m:r>
                      </m:sub>
                    </m:sSub>
                    <m:r>
                      <a:rPr lang="fr-FR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fr-FR" i="1">
                        <a:latin typeface="Cambria Math" panose="02040503050406030204" pitchFamily="18" charset="0"/>
                      </a:rPr>
                      <m:t>𝐸</m:t>
                    </m:r>
                    <m:d>
                      <m:dPr>
                        <m:ctrlPr>
                          <a:rPr lang="fr-FR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lin"/>
                            <m:ctrlPr>
                              <a:rPr lang="fr-FR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b>
                              <m:sSubPr>
                                <m:ctrlPr>
                                  <a:rPr lang="fr-FR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fr-FR" i="1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  <m:sub>
                                <m:r>
                                  <a:rPr lang="fr-FR" i="1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  <m:r>
                                  <a:rPr lang="fr-FR" i="1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fr-FR" i="1">
                                    <a:latin typeface="Cambria Math" panose="02040503050406030204" pitchFamily="18" charset="0"/>
                                  </a:rPr>
                                  <m:t>h</m:t>
                                </m:r>
                              </m:sub>
                            </m:sSub>
                          </m:num>
                          <m:den>
                            <m:sSub>
                              <m:sSubPr>
                                <m:ctrlPr>
                                  <a:rPr lang="fr-FR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fr-FR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fr-FR" i="1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sub>
                            </m:sSub>
                          </m:den>
                        </m:f>
                        <m:r>
                          <a:rPr lang="fr-FR" i="1" smtClean="0">
                            <a:latin typeface="Cambria Math" panose="02040503050406030204" pitchFamily="18" charset="0"/>
                          </a:rPr>
                          <m:t> </m:t>
                        </m:r>
                      </m:e>
                    </m:d>
                    <m:r>
                      <a:rPr lang="fr-FR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lang="fr-FR" dirty="0" smtClean="0"/>
                  <a:t> voir fichier ‘‘file’’</a:t>
                </a:r>
                <a:endParaRPr lang="fr-FR" dirty="0"/>
              </a:p>
            </p:txBody>
          </p:sp>
        </mc:Choice>
        <mc:Fallback xmlns="">
          <p:sp>
            <p:nvSpPr>
              <p:cNvPr id="5" name="ZoneTexte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1520" y="5333146"/>
                <a:ext cx="8280920" cy="400110"/>
              </a:xfrm>
              <a:prstGeom prst="rect">
                <a:avLst/>
              </a:prstGeom>
              <a:blipFill rotWithShape="0">
                <a:blip r:embed="rId4"/>
                <a:stretch>
                  <a:fillRect t="-115385" b="-184615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ZoneTexte 5"/>
              <p:cNvSpPr txBox="1"/>
              <p:nvPr/>
            </p:nvSpPr>
            <p:spPr>
              <a:xfrm>
                <a:off x="323528" y="5909210"/>
                <a:ext cx="7848872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fr-FR" i="1">
                        <a:latin typeface="Cambria Math" panose="02040503050406030204" pitchFamily="18" charset="0"/>
                      </a:rPr>
                      <m:t>𝑉</m:t>
                    </m:r>
                    <m:d>
                      <m:dPr>
                        <m:ctrlPr>
                          <a:rPr lang="fr-FR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lin"/>
                            <m:ctrlPr>
                              <a:rPr lang="fr-FR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b>
                              <m:sSubPr>
                                <m:ctrlPr>
                                  <a:rPr lang="fr-FR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fr-FR" i="1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  <m:sub>
                                <m:r>
                                  <a:rPr lang="fr-FR" i="1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  <m:r>
                                  <a:rPr lang="fr-FR" i="1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fr-FR" i="1">
                                    <a:latin typeface="Cambria Math" panose="02040503050406030204" pitchFamily="18" charset="0"/>
                                  </a:rPr>
                                  <m:t>h</m:t>
                                </m:r>
                              </m:sub>
                            </m:sSub>
                          </m:num>
                          <m:den>
                            <m:sSub>
                              <m:sSubPr>
                                <m:ctrlPr>
                                  <a:rPr lang="fr-FR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fr-FR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fr-FR" i="1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sub>
                            </m:sSub>
                            <m:r>
                              <a:rPr lang="fr-FR" i="1" smtClean="0">
                                <a:latin typeface="Cambria Math" panose="02040503050406030204" pitchFamily="18" charset="0"/>
                              </a:rPr>
                              <m:t> </m:t>
                            </m:r>
                          </m:den>
                        </m:f>
                      </m:e>
                    </m:d>
                  </m:oMath>
                </a14:m>
                <a:r>
                  <a:rPr lang="fr-FR" dirty="0" smtClean="0"/>
                  <a:t> n’a pas pu être calculée</a:t>
                </a:r>
                <a:endParaRPr lang="fr-FR" dirty="0"/>
              </a:p>
            </p:txBody>
          </p:sp>
        </mc:Choice>
        <mc:Fallback xmlns="">
          <p:sp>
            <p:nvSpPr>
              <p:cNvPr id="6" name="ZoneTexte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3528" y="5909210"/>
                <a:ext cx="7848872" cy="400110"/>
              </a:xfrm>
              <a:prstGeom prst="rect">
                <a:avLst/>
              </a:prstGeom>
              <a:blipFill rotWithShape="0">
                <a:blip r:embed="rId5"/>
                <a:stretch>
                  <a:fillRect t="-113636" b="-180303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ZoneTexte 6"/>
              <p:cNvSpPr txBox="1"/>
              <p:nvPr/>
            </p:nvSpPr>
            <p:spPr>
              <a:xfrm>
                <a:off x="251520" y="1556792"/>
                <a:ext cx="8640960" cy="209268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fr-FR" dirty="0" smtClean="0"/>
                  <a:t>Pour les G2 et G3, même si </a:t>
                </a:r>
                <a14:m>
                  <m:oMath xmlns:m="http://schemas.openxmlformats.org/officeDocument/2006/math">
                    <m:f>
                      <m:fPr>
                        <m:type m:val="lin"/>
                        <m:ctrlPr>
                          <a:rPr lang="fr-FR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fr-FR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fr-FR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fr-FR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fr-FR" i="1"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fr-FR" i="1">
                                <a:latin typeface="Cambria Math" panose="02040503050406030204" pitchFamily="18" charset="0"/>
                              </a:rPr>
                              <m:t>h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fr-FR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fr-FR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fr-FR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</m:den>
                    </m:f>
                  </m:oMath>
                </a14:m>
                <a:r>
                  <a:rPr lang="fr-FR" dirty="0" smtClean="0"/>
                  <a:t> n’est pas normale, on utilise la formule suivante pour l’intervalle de confiance de niveau de signification </a:t>
                </a:r>
                <a14:m>
                  <m:oMath xmlns:m="http://schemas.openxmlformats.org/officeDocument/2006/math">
                    <m:r>
                      <a:rPr lang="fr-FR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𝛼</m:t>
                    </m:r>
                  </m:oMath>
                </a14:m>
                <a:r>
                  <a:rPr lang="fr-FR" dirty="0" smtClean="0"/>
                  <a:t> et à horizon h donné : </a:t>
                </a:r>
              </a:p>
              <a:p>
                <a:pPr algn="ctr">
                  <a:lnSpc>
                    <a:spcPct val="150000"/>
                  </a:lnSpc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fr-F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fr-FR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fr-FR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</m:acc>
                      </m:e>
                      <m:sub>
                        <m:r>
                          <a:rPr lang="fr-FR" i="1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fr-FR" i="1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fr-FR" i="1">
                            <a:latin typeface="Cambria Math" panose="02040503050406030204" pitchFamily="18" charset="0"/>
                          </a:rPr>
                          <m:t>h</m:t>
                        </m:r>
                      </m:sub>
                    </m:sSub>
                    <m:r>
                      <a:rPr lang="fr-FR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±</m:t>
                    </m:r>
                    <m:sSub>
                      <m:sSubPr>
                        <m:ctrlPr>
                          <a:rPr lang="fr-FR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fr-FR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𝛼</m:t>
                        </m:r>
                      </m:sub>
                    </m:sSub>
                    <m:rad>
                      <m:radPr>
                        <m:degHide m:val="on"/>
                        <m:ctrlPr>
                          <a:rPr lang="fr-FR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fr-FR" i="1">
                            <a:latin typeface="Cambria Math" panose="02040503050406030204" pitchFamily="18" charset="0"/>
                          </a:rPr>
                          <m:t>𝑉</m:t>
                        </m:r>
                        <m:d>
                          <m:dPr>
                            <m:ctrlPr>
                              <a:rPr lang="fr-FR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lin"/>
                                <m:ctrlPr>
                                  <a:rPr lang="fr-FR" i="1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sSub>
                                  <m:sSubPr>
                                    <m:ctrlPr>
                                      <a:rPr lang="fr-FR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fr-FR" i="1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  <m:sub>
                                    <m:r>
                                      <a:rPr lang="fr-FR" i="1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  <m:r>
                                      <a:rPr lang="fr-FR" i="1"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r>
                                      <a:rPr lang="fr-FR" i="1">
                                        <a:latin typeface="Cambria Math" panose="02040503050406030204" pitchFamily="18" charset="0"/>
                                      </a:rPr>
                                      <m:t>h</m:t>
                                    </m:r>
                                  </m:sub>
                                </m:sSub>
                              </m:num>
                              <m:den>
                                <m:sSub>
                                  <m:sSubPr>
                                    <m:ctrlPr>
                                      <a:rPr lang="fr-FR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fr-FR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fr-FR" i="1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sub>
                                </m:sSub>
                              </m:den>
                            </m:f>
                          </m:e>
                        </m:d>
                      </m:e>
                    </m:rad>
                  </m:oMath>
                </a14:m>
                <a:r>
                  <a:rPr lang="fr-FR" dirty="0" smtClean="0"/>
                  <a:t> </a:t>
                </a:r>
                <a:r>
                  <a:rPr lang="fr-FR" dirty="0"/>
                  <a:t>avec </a:t>
                </a:r>
                <a14:m>
                  <m:oMath xmlns:m="http://schemas.openxmlformats.org/officeDocument/2006/math">
                    <m:r>
                      <a:rPr lang="fr-FR" i="1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fr-FR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fr-FR" i="1">
                            <a:latin typeface="Cambria Math" panose="02040503050406030204" pitchFamily="18" charset="0"/>
                          </a:rPr>
                          <m:t>𝑈</m:t>
                        </m:r>
                        <m:r>
                          <a:rPr lang="fr-FR" i="1">
                            <a:latin typeface="Cambria Math" panose="02040503050406030204" pitchFamily="18" charset="0"/>
                          </a:rPr>
                          <m:t>&gt;</m:t>
                        </m:r>
                        <m:sSub>
                          <m:sSubPr>
                            <m:ctrlPr>
                              <a:rPr lang="fr-FR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fr-FR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fr-FR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𝛼</m:t>
                            </m:r>
                          </m:sub>
                        </m:sSub>
                      </m:e>
                    </m:d>
                    <m:r>
                      <a:rPr lang="fr-FR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fr-F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fr-F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𝛼</m:t>
                        </m:r>
                      </m:num>
                      <m:den>
                        <m:r>
                          <a:rPr lang="fr-F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lang="fr-FR" dirty="0"/>
                  <a:t>  et  </a:t>
                </a:r>
                <a14:m>
                  <m:oMath xmlns:m="http://schemas.openxmlformats.org/officeDocument/2006/math">
                    <m:r>
                      <a:rPr lang="fr-FR" i="1">
                        <a:latin typeface="Cambria Math" panose="02040503050406030204" pitchFamily="18" charset="0"/>
                      </a:rPr>
                      <m:t>𝑈</m:t>
                    </m:r>
                    <m:r>
                      <a:rPr lang="fr-FR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  <m:r>
                      <a:rPr lang="fr-FR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𝑁</m:t>
                    </m:r>
                    <m:d>
                      <m:dPr>
                        <m:ctrlPr>
                          <a:rPr lang="fr-F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fr-F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0,1</m:t>
                        </m:r>
                      </m:e>
                    </m:d>
                  </m:oMath>
                </a14:m>
                <a:r>
                  <a:rPr lang="fr-FR" dirty="0" smtClean="0"/>
                  <a:t> </a:t>
                </a:r>
                <a:endParaRPr lang="fr-FR" dirty="0"/>
              </a:p>
            </p:txBody>
          </p:sp>
        </mc:Choice>
        <mc:Fallback xmlns="">
          <p:sp>
            <p:nvSpPr>
              <p:cNvPr id="7" name="ZoneTexte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1520" y="1556792"/>
                <a:ext cx="8640960" cy="2092689"/>
              </a:xfrm>
              <a:prstGeom prst="rect">
                <a:avLst/>
              </a:prstGeom>
              <a:blipFill rotWithShape="0">
                <a:blip r:embed="rId6"/>
                <a:stretch>
                  <a:fillRect l="-705" t="-17442" b="-28198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ZoneTexte 7"/>
              <p:cNvSpPr txBox="1"/>
              <p:nvPr/>
            </p:nvSpPr>
            <p:spPr>
              <a:xfrm>
                <a:off x="179512" y="3933056"/>
                <a:ext cx="8280920" cy="46506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fr-FR" dirty="0" smtClean="0"/>
                  <a:t>Pour G3 on a 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fr-F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fr-FR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fr-FR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</m:acc>
                      </m:e>
                      <m:sub>
                        <m:r>
                          <a:rPr lang="fr-FR" i="1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fr-FR" i="1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fr-FR" i="1">
                            <a:latin typeface="Cambria Math" panose="02040503050406030204" pitchFamily="18" charset="0"/>
                          </a:rPr>
                          <m:t>h</m:t>
                        </m:r>
                      </m:sub>
                    </m:sSub>
                    <m:r>
                      <a:rPr lang="fr-FR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±</m:t>
                    </m:r>
                    <m:sSub>
                      <m:sSubPr>
                        <m:ctrlPr>
                          <a:rPr lang="fr-F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fr-F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𝛼</m:t>
                        </m:r>
                      </m:sub>
                    </m:sSub>
                    <m:rad>
                      <m:radPr>
                        <m:degHide m:val="on"/>
                        <m:ctrlPr>
                          <a:rPr lang="fr-F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fr-FR" i="1">
                            <a:latin typeface="Cambria Math" panose="02040503050406030204" pitchFamily="18" charset="0"/>
                          </a:rPr>
                          <m:t>𝑉</m:t>
                        </m:r>
                        <m:d>
                          <m:dPr>
                            <m:ctrlPr>
                              <a:rPr lang="fr-FR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lin"/>
                                <m:ctrlPr>
                                  <a:rPr lang="fr-FR" i="1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sSub>
                                  <m:sSubPr>
                                    <m:ctrlPr>
                                      <a:rPr lang="fr-FR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fr-FR" i="1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  <m:sub>
                                    <m:r>
                                      <a:rPr lang="fr-FR" i="1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  <m:r>
                                      <a:rPr lang="fr-FR" i="1"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r>
                                      <a:rPr lang="fr-FR" i="1">
                                        <a:latin typeface="Cambria Math" panose="02040503050406030204" pitchFamily="18" charset="0"/>
                                      </a:rPr>
                                      <m:t>h</m:t>
                                    </m:r>
                                  </m:sub>
                                </m:sSub>
                              </m:num>
                              <m:den>
                                <m:sSub>
                                  <m:sSubPr>
                                    <m:ctrlPr>
                                      <a:rPr lang="fr-FR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fr-FR" i="1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fr-FR" i="1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sub>
                                </m:sSub>
                                <m:r>
                                  <a:rPr lang="fr-FR" b="0" i="1" smtClean="0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sSub>
                                  <m:sSubPr>
                                    <m:ctrlPr>
                                      <a:rPr lang="fr-FR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fr-FR" b="0" i="1" smtClean="0">
                                        <a:latin typeface="Cambria Math" panose="02040503050406030204" pitchFamily="18" charset="0"/>
                                      </a:rPr>
                                      <m:t>𝑧</m:t>
                                    </m:r>
                                  </m:e>
                                  <m:sub>
                                    <m:r>
                                      <a:rPr lang="fr-FR" b="0" i="1" smtClean="0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sub>
                                </m:sSub>
                              </m:den>
                            </m:f>
                          </m:e>
                        </m:d>
                      </m:e>
                    </m:rad>
                  </m:oMath>
                </a14:m>
                <a:r>
                  <a:rPr lang="fr-FR" dirty="0" smtClean="0"/>
                  <a:t> </a:t>
                </a:r>
                <a:endParaRPr lang="fr-FR" dirty="0"/>
              </a:p>
            </p:txBody>
          </p:sp>
        </mc:Choice>
        <mc:Fallback xmlns="">
          <p:sp>
            <p:nvSpPr>
              <p:cNvPr id="8" name="ZoneTexte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9512" y="3933056"/>
                <a:ext cx="8280920" cy="465064"/>
              </a:xfrm>
              <a:prstGeom prst="rect">
                <a:avLst/>
              </a:prstGeom>
              <a:blipFill rotWithShape="0">
                <a:blip r:embed="rId7"/>
                <a:stretch>
                  <a:fillRect l="-736" t="-88158" b="-153947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65076013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ZoneTexte 1"/>
              <p:cNvSpPr txBox="1"/>
              <p:nvPr/>
            </p:nvSpPr>
            <p:spPr>
              <a:xfrm>
                <a:off x="186698" y="127062"/>
                <a:ext cx="8856984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fr-FR" dirty="0" smtClean="0"/>
                  <a:t>Calcul d’un intervalle de confiance par simulation de niveau de signification </a:t>
                </a:r>
                <a14:m>
                  <m:oMath xmlns:m="http://schemas.openxmlformats.org/officeDocument/2006/math">
                    <m:r>
                      <a:rPr lang="fr-FR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𝛼</m:t>
                    </m:r>
                  </m:oMath>
                </a14:m>
                <a:r>
                  <a:rPr lang="fr-FR" dirty="0" smtClean="0"/>
                  <a:t> </a:t>
                </a:r>
                <a:endParaRPr lang="fr-FR" dirty="0"/>
              </a:p>
            </p:txBody>
          </p:sp>
        </mc:Choice>
        <mc:Fallback xmlns="">
          <p:sp>
            <p:nvSpPr>
              <p:cNvPr id="2" name="ZoneTexte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6698" y="127062"/>
                <a:ext cx="8856984" cy="400110"/>
              </a:xfrm>
              <a:prstGeom prst="rect">
                <a:avLst/>
              </a:prstGeom>
              <a:blipFill rotWithShape="0">
                <a:blip r:embed="rId2"/>
                <a:stretch>
                  <a:fillRect l="-757" t="-7692" b="-29231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ZoneTexte 2"/>
              <p:cNvSpPr txBox="1"/>
              <p:nvPr/>
            </p:nvSpPr>
            <p:spPr>
              <a:xfrm>
                <a:off x="323528" y="764704"/>
                <a:ext cx="8424936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fr-FR" dirty="0" smtClean="0"/>
                  <a:t>Cette méthode permet de contourner le calcul de </a:t>
                </a:r>
                <a14:m>
                  <m:oMath xmlns:m="http://schemas.openxmlformats.org/officeDocument/2006/math">
                    <m:r>
                      <a:rPr lang="fr-FR" i="1">
                        <a:latin typeface="Cambria Math" panose="02040503050406030204" pitchFamily="18" charset="0"/>
                      </a:rPr>
                      <m:t>𝑉</m:t>
                    </m:r>
                    <m:d>
                      <m:dPr>
                        <m:ctrlPr>
                          <a:rPr lang="fr-FR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lin"/>
                            <m:ctrlPr>
                              <a:rPr lang="fr-FR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b>
                              <m:sSubPr>
                                <m:ctrlPr>
                                  <a:rPr lang="fr-FR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fr-FR" i="1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  <m:sub>
                                <m:r>
                                  <a:rPr lang="fr-FR" i="1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  <m:r>
                                  <a:rPr lang="fr-FR" i="1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fr-FR" i="1">
                                    <a:latin typeface="Cambria Math" panose="02040503050406030204" pitchFamily="18" charset="0"/>
                                  </a:rPr>
                                  <m:t>h</m:t>
                                </m:r>
                              </m:sub>
                            </m:sSub>
                          </m:num>
                          <m:den>
                            <m:sSub>
                              <m:sSubPr>
                                <m:ctrlPr>
                                  <a:rPr lang="fr-FR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fr-FR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fr-FR" i="1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sub>
                            </m:sSub>
                          </m:den>
                        </m:f>
                      </m:e>
                    </m:d>
                  </m:oMath>
                </a14:m>
                <a:r>
                  <a:rPr lang="fr-FR" dirty="0" smtClean="0"/>
                  <a:t> </a:t>
                </a:r>
                <a:endParaRPr lang="fr-FR" dirty="0"/>
              </a:p>
            </p:txBody>
          </p:sp>
        </mc:Choice>
        <mc:Fallback xmlns="">
          <p:sp>
            <p:nvSpPr>
              <p:cNvPr id="3" name="ZoneTexte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3528" y="764704"/>
                <a:ext cx="8424936" cy="400110"/>
              </a:xfrm>
              <a:prstGeom prst="rect">
                <a:avLst/>
              </a:prstGeom>
              <a:blipFill rotWithShape="0">
                <a:blip r:embed="rId3"/>
                <a:stretch>
                  <a:fillRect l="-724" t="-113636" b="-180303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ZoneTexte 3"/>
              <p:cNvSpPr txBox="1"/>
              <p:nvPr/>
            </p:nvSpPr>
            <p:spPr>
              <a:xfrm>
                <a:off x="107504" y="1352962"/>
                <a:ext cx="8928992" cy="7078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fr-FR" dirty="0" smtClean="0"/>
                  <a:t>On dispose de n valeurs d’une série temporelle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fr-FR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fr-FR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fr-FR" b="0" i="1" smtClean="0">
                        <a:latin typeface="Cambria Math" panose="02040503050406030204" pitchFamily="18" charset="0"/>
                      </a:rPr>
                      <m:t>,…</m:t>
                    </m:r>
                    <m:sSub>
                      <m:sSubPr>
                        <m:ctrlPr>
                          <a:rPr lang="fr-FR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fr-FR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fr-FR" dirty="0" smtClean="0"/>
                  <a:t>, pour laquelle on a calculé un modèle ETS</a:t>
                </a:r>
                <a:endParaRPr lang="fr-FR" dirty="0"/>
              </a:p>
            </p:txBody>
          </p:sp>
        </mc:Choice>
        <mc:Fallback xmlns="">
          <p:sp>
            <p:nvSpPr>
              <p:cNvPr id="4" name="ZoneTexte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7504" y="1352962"/>
                <a:ext cx="8928992" cy="707886"/>
              </a:xfrm>
              <a:prstGeom prst="rect">
                <a:avLst/>
              </a:prstGeom>
              <a:blipFill rotWithShape="0">
                <a:blip r:embed="rId4"/>
                <a:stretch>
                  <a:fillRect l="-751" t="-4310" b="-15517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ZoneTexte 4"/>
              <p:cNvSpPr txBox="1"/>
              <p:nvPr/>
            </p:nvSpPr>
            <p:spPr>
              <a:xfrm>
                <a:off x="2195736" y="2132856"/>
                <a:ext cx="3019993" cy="68653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"/>
                          <m:ctrlPr>
                            <a:rPr lang="fr-FR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fr-FR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fr-FR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fr-FR" b="0" i="1" smtClean="0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  <m:sub>
                                    <m:r>
                                      <a:rPr lang="fr-FR" b="0" i="1" smtClean="0"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</m:sub>
                                </m:sSub>
                                <m:r>
                                  <m:rPr>
                                    <m:brk m:alnAt="7"/>
                                  </m:rPr>
                                  <a:rPr lang="fr-FR" b="0" i="1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fr-FR" b="0" i="1" smtClean="0">
                                    <a:latin typeface="Cambria Math" panose="02040503050406030204" pitchFamily="18" charset="0"/>
                                  </a:rPr>
                                  <m:t>𝑤</m:t>
                                </m:r>
                                <m:d>
                                  <m:dPr>
                                    <m:ctrlPr>
                                      <a:rPr lang="fr-FR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fr-FR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fr-FR" b="0" i="1" smtClean="0"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a:rPr lang="fr-FR" b="0" i="1" smtClean="0">
                                            <a:latin typeface="Cambria Math" panose="02040503050406030204" pitchFamily="18" charset="0"/>
                                          </a:rPr>
                                          <m:t>𝑡</m:t>
                                        </m:r>
                                        <m:r>
                                          <a:rPr lang="fr-FR" b="0" i="1" smtClean="0">
                                            <a:latin typeface="Cambria Math" panose="02040503050406030204" pitchFamily="18" charset="0"/>
                                          </a:rPr>
                                          <m:t>−1</m:t>
                                        </m:r>
                                      </m:sub>
                                    </m:sSub>
                                  </m:e>
                                </m:d>
                                <m:r>
                                  <m:rPr>
                                    <m:brk m:alnAt="7"/>
                                  </m:rPr>
                                  <a:rPr lang="fr-FR" b="0" i="1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fr-FR" b="0" i="1" smtClean="0">
                                    <a:latin typeface="Cambria Math" panose="02040503050406030204" pitchFamily="18" charset="0"/>
                                  </a:rPr>
                                  <m:t>𝑟</m:t>
                                </m:r>
                                <m:d>
                                  <m:dPr>
                                    <m:ctrlPr>
                                      <a:rPr lang="fr-FR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fr-FR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fr-FR" b="0" i="1" smtClean="0"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a:rPr lang="fr-FR" b="0" i="1" smtClean="0">
                                            <a:latin typeface="Cambria Math" panose="02040503050406030204" pitchFamily="18" charset="0"/>
                                          </a:rPr>
                                          <m:t>𝑡</m:t>
                                        </m:r>
                                        <m:r>
                                          <a:rPr lang="fr-FR" b="0" i="1" smtClean="0">
                                            <a:latin typeface="Cambria Math" panose="02040503050406030204" pitchFamily="18" charset="0"/>
                                          </a:rPr>
                                          <m:t>−1</m:t>
                                        </m:r>
                                      </m:sub>
                                    </m:sSub>
                                  </m:e>
                                </m:d>
                                <m:sSub>
                                  <m:sSubPr>
                                    <m:ctrlPr>
                                      <a:rPr lang="fr-FR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fr-FR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𝜀</m:t>
                                    </m:r>
                                  </m:e>
                                  <m:sub>
                                    <m:r>
                                      <a:rPr lang="fr-FR" b="0" i="1" smtClean="0"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fr-FR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fr-FR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fr-FR" b="0" i="1" smtClean="0"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</m:sub>
                                </m:sSub>
                                <m:r>
                                  <a:rPr lang="fr-FR" b="0" i="1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fr-FR" b="0" i="1" smtClean="0">
                                    <a:latin typeface="Cambria Math" panose="02040503050406030204" pitchFamily="18" charset="0"/>
                                  </a:rPr>
                                  <m:t>𝑓</m:t>
                                </m:r>
                                <m:d>
                                  <m:dPr>
                                    <m:ctrlPr>
                                      <a:rPr lang="fr-FR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fr-FR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fr-FR" b="0" i="1" smtClean="0"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a:rPr lang="fr-FR" b="0" i="1" smtClean="0">
                                            <a:latin typeface="Cambria Math" panose="02040503050406030204" pitchFamily="18" charset="0"/>
                                          </a:rPr>
                                          <m:t>𝑡</m:t>
                                        </m:r>
                                        <m:r>
                                          <a:rPr lang="fr-FR" b="0" i="1" smtClean="0">
                                            <a:latin typeface="Cambria Math" panose="02040503050406030204" pitchFamily="18" charset="0"/>
                                          </a:rPr>
                                          <m:t>−1</m:t>
                                        </m:r>
                                      </m:sub>
                                    </m:sSub>
                                  </m:e>
                                </m:d>
                                <m:r>
                                  <a:rPr lang="fr-FR" b="0" i="1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fr-FR" b="0" i="1" smtClean="0">
                                    <a:latin typeface="Cambria Math" panose="02040503050406030204" pitchFamily="18" charset="0"/>
                                  </a:rPr>
                                  <m:t>𝑔</m:t>
                                </m:r>
                                <m:d>
                                  <m:dPr>
                                    <m:ctrlPr>
                                      <a:rPr lang="fr-FR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fr-FR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fr-FR" b="0" i="1" smtClean="0"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a:rPr lang="fr-FR" b="0" i="1" smtClean="0">
                                            <a:latin typeface="Cambria Math" panose="02040503050406030204" pitchFamily="18" charset="0"/>
                                          </a:rPr>
                                          <m:t>𝑡</m:t>
                                        </m:r>
                                        <m:r>
                                          <a:rPr lang="fr-FR" b="0" i="1" smtClean="0">
                                            <a:latin typeface="Cambria Math" panose="02040503050406030204" pitchFamily="18" charset="0"/>
                                          </a:rPr>
                                          <m:t>−1</m:t>
                                        </m:r>
                                      </m:sub>
                                    </m:sSub>
                                  </m:e>
                                </m:d>
                                <m:sSub>
                                  <m:sSubPr>
                                    <m:ctrlPr>
                                      <a:rPr lang="fr-FR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fr-FR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𝜀</m:t>
                                    </m:r>
                                  </m:e>
                                  <m:sub>
                                    <m:r>
                                      <a:rPr lang="fr-FR" b="0" i="1" smtClean="0"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</m:sub>
                                </m:sSub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fr-FR" dirty="0"/>
              </a:p>
            </p:txBody>
          </p:sp>
        </mc:Choice>
        <mc:Fallback xmlns="">
          <p:sp>
            <p:nvSpPr>
              <p:cNvPr id="5" name="ZoneTexte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95736" y="2132856"/>
                <a:ext cx="3019993" cy="686535"/>
              </a:xfrm>
              <a:prstGeom prst="rect">
                <a:avLst/>
              </a:prstGeom>
              <a:blipFill rotWithShape="0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ZoneTexte 5"/>
              <p:cNvSpPr txBox="1"/>
              <p:nvPr/>
            </p:nvSpPr>
            <p:spPr>
              <a:xfrm>
                <a:off x="258706" y="2996952"/>
                <a:ext cx="8705782" cy="120475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fr-FR" dirty="0" smtClean="0"/>
                  <a:t>En estimant les paramètres du modèle et en en considérant le fait que pour  t = 1,…,n,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fr-F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𝜀</m:t>
                        </m:r>
                      </m:e>
                      <m:sub>
                        <m:r>
                          <a:rPr lang="fr-FR" i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fr-FR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fr-FR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fr-FR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fr-FR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fr-FR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  <m:r>
                          <a:rPr lang="fr-FR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fr-FR" i="1">
                            <a:latin typeface="Cambria Math" panose="02040503050406030204" pitchFamily="18" charset="0"/>
                          </a:rPr>
                          <m:t>𝑤</m:t>
                        </m:r>
                        <m:d>
                          <m:dPr>
                            <m:ctrlPr>
                              <a:rPr lang="fr-FR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fr-FR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fr-FR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fr-FR" i="1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  <m:r>
                                  <a:rPr lang="fr-FR" i="1">
                                    <a:latin typeface="Cambria Math" panose="02040503050406030204" pitchFamily="18" charset="0"/>
                                  </a:rPr>
                                  <m:t>−1</m:t>
                                </m:r>
                              </m:sub>
                            </m:sSub>
                          </m:e>
                        </m:d>
                      </m:num>
                      <m:den>
                        <m:r>
                          <a:rPr lang="fr-FR" i="1">
                            <a:latin typeface="Cambria Math" panose="02040503050406030204" pitchFamily="18" charset="0"/>
                          </a:rPr>
                          <m:t>𝑟</m:t>
                        </m:r>
                        <m:d>
                          <m:dPr>
                            <m:ctrlPr>
                              <a:rPr lang="fr-FR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fr-FR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fr-FR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fr-FR" i="1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  <m:r>
                                  <a:rPr lang="fr-FR" i="1">
                                    <a:latin typeface="Cambria Math" panose="02040503050406030204" pitchFamily="18" charset="0"/>
                                  </a:rPr>
                                  <m:t>−1</m:t>
                                </m:r>
                              </m:sub>
                            </m:sSub>
                          </m:e>
                        </m:d>
                      </m:den>
                    </m:f>
                  </m:oMath>
                </a14:m>
                <a:r>
                  <a:rPr lang="fr-FR" dirty="0" smtClean="0"/>
                  <a:t>, on calcule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fr-FR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fr-FR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endParaRPr lang="fr-FR" dirty="0"/>
              </a:p>
              <a:p>
                <a:endParaRPr lang="fr-FR" dirty="0"/>
              </a:p>
            </p:txBody>
          </p:sp>
        </mc:Choice>
        <mc:Fallback xmlns="">
          <p:sp>
            <p:nvSpPr>
              <p:cNvPr id="6" name="ZoneTexte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8706" y="2996952"/>
                <a:ext cx="8705782" cy="1204753"/>
              </a:xfrm>
              <a:prstGeom prst="rect">
                <a:avLst/>
              </a:prstGeom>
              <a:blipFill rotWithShape="0">
                <a:blip r:embed="rId6"/>
                <a:stretch>
                  <a:fillRect l="-700" t="-2538" r="-1610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ZoneTexte 7"/>
              <p:cNvSpPr txBox="1"/>
              <p:nvPr/>
            </p:nvSpPr>
            <p:spPr>
              <a:xfrm>
                <a:off x="186698" y="4005064"/>
                <a:ext cx="8705782" cy="73424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fr-FR" dirty="0" smtClean="0"/>
                  <a:t>Pour un horizon h donné, on génère h valeurs de la loi </a:t>
                </a:r>
                <a14:m>
                  <m:oMath xmlns:m="http://schemas.openxmlformats.org/officeDocument/2006/math">
                    <m:r>
                      <a:rPr lang="fr-FR" b="0" i="1" smtClean="0">
                        <a:latin typeface="Cambria Math" panose="02040503050406030204" pitchFamily="18" charset="0"/>
                      </a:rPr>
                      <m:t>𝑁</m:t>
                    </m:r>
                    <m:d>
                      <m:dPr>
                        <m:ctrlPr>
                          <a:rPr lang="fr-FR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fr-FR" b="0" i="1" smtClean="0">
                            <a:latin typeface="Cambria Math" panose="02040503050406030204" pitchFamily="18" charset="0"/>
                          </a:rPr>
                          <m:t>0,</m:t>
                        </m:r>
                        <m:sSup>
                          <m:sSupPr>
                            <m:ctrlPr>
                              <a:rPr lang="fr-FR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acc>
                              <m:accPr>
                                <m:chr m:val="̂"/>
                                <m:ctrlPr>
                                  <a:rPr lang="fr-FR" b="0" i="1" smtClean="0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fr-FR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𝜎</m:t>
                                </m:r>
                              </m:e>
                            </m:acc>
                          </m:e>
                          <m:sup>
                            <m:r>
                              <a:rPr lang="fr-FR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fr-FR" b="0" i="1" smtClean="0">
                            <a:latin typeface="Cambria Math" panose="02040503050406030204" pitchFamily="18" charset="0"/>
                          </a:rPr>
                          <m:t> </m:t>
                        </m:r>
                      </m:e>
                    </m:d>
                  </m:oMath>
                </a14:m>
                <a:r>
                  <a:rPr lang="fr-FR" dirty="0" smtClean="0"/>
                  <a:t>, ce qui permet de calculer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fr-FR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fr-FR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fr-FR" b="0" i="1" smtClean="0"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</m:sSub>
                    <m:r>
                      <a:rPr lang="fr-FR" b="0" i="1" smtClean="0">
                        <a:latin typeface="Cambria Math" panose="02040503050406030204" pitchFamily="18" charset="0"/>
                      </a:rPr>
                      <m:t>,…</m:t>
                    </m:r>
                    <m:sSub>
                      <m:sSubPr>
                        <m:ctrlPr>
                          <a:rPr lang="fr-FR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fr-FR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fr-FR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fr-FR" b="0" i="1" smtClean="0">
                            <a:latin typeface="Cambria Math" panose="02040503050406030204" pitchFamily="18" charset="0"/>
                          </a:rPr>
                          <m:t>h</m:t>
                        </m:r>
                      </m:sub>
                    </m:sSub>
                  </m:oMath>
                </a14:m>
                <a:endParaRPr lang="fr-FR" dirty="0"/>
              </a:p>
            </p:txBody>
          </p:sp>
        </mc:Choice>
        <mc:Fallback xmlns="">
          <p:sp>
            <p:nvSpPr>
              <p:cNvPr id="8" name="ZoneTexte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6698" y="4005064"/>
                <a:ext cx="8705782" cy="734240"/>
              </a:xfrm>
              <a:prstGeom prst="rect">
                <a:avLst/>
              </a:prstGeom>
              <a:blipFill rotWithShape="0">
                <a:blip r:embed="rId7"/>
                <a:stretch>
                  <a:fillRect l="-770" t="-4167" b="-11667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ZoneTexte 8"/>
          <p:cNvSpPr txBox="1"/>
          <p:nvPr/>
        </p:nvSpPr>
        <p:spPr>
          <a:xfrm>
            <a:off x="258706" y="4829090"/>
            <a:ext cx="863377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 smtClean="0"/>
              <a:t>Cette opération est répétée T fois, T = 5000, 10000, 20000</a:t>
            </a:r>
            <a:endParaRPr lang="fr-FR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ZoneTexte 9"/>
              <p:cNvSpPr txBox="1"/>
              <p:nvPr/>
            </p:nvSpPr>
            <p:spPr>
              <a:xfrm>
                <a:off x="251520" y="5261138"/>
                <a:ext cx="8640960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fr-FR" dirty="0" smtClean="0"/>
                  <a:t>On obtient ainsi un échantillon de la variable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fr-F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fr-FR" i="1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fr-FR" i="1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fr-FR" i="1">
                            <a:latin typeface="Cambria Math" panose="02040503050406030204" pitchFamily="18" charset="0"/>
                          </a:rPr>
                          <m:t>h</m:t>
                        </m:r>
                      </m:sub>
                    </m:sSub>
                  </m:oMath>
                </a14:m>
                <a:r>
                  <a:rPr lang="fr-FR" dirty="0" smtClean="0"/>
                  <a:t> </a:t>
                </a:r>
                <a:endParaRPr lang="fr-FR" dirty="0"/>
              </a:p>
            </p:txBody>
          </p:sp>
        </mc:Choice>
        <mc:Fallback xmlns="">
          <p:sp>
            <p:nvSpPr>
              <p:cNvPr id="10" name="ZoneTexte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1520" y="5261138"/>
                <a:ext cx="8640960" cy="400110"/>
              </a:xfrm>
              <a:prstGeom prst="rect">
                <a:avLst/>
              </a:prstGeom>
              <a:blipFill rotWithShape="0">
                <a:blip r:embed="rId8"/>
                <a:stretch>
                  <a:fillRect l="-705" t="-6061" b="-27273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ZoneTexte 10"/>
          <p:cNvSpPr txBox="1"/>
          <p:nvPr/>
        </p:nvSpPr>
        <p:spPr>
          <a:xfrm>
            <a:off x="186698" y="5733256"/>
            <a:ext cx="877779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 smtClean="0"/>
              <a:t>Cette échantillon est trié selon l’ordre croissant</a:t>
            </a:r>
            <a:endParaRPr lang="fr-FR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ZoneTexte 11"/>
              <p:cNvSpPr txBox="1"/>
              <p:nvPr/>
            </p:nvSpPr>
            <p:spPr>
              <a:xfrm>
                <a:off x="186698" y="6309320"/>
                <a:ext cx="8705782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fr-FR" dirty="0" smtClean="0"/>
                  <a:t>LimInf = T</a:t>
                </a:r>
                <a14:m>
                  <m:oMath xmlns:m="http://schemas.openxmlformats.org/officeDocument/2006/math">
                    <m:r>
                      <a:rPr lang="fr-FR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𝛼</m:t>
                    </m:r>
                    <m:r>
                      <a:rPr lang="fr-F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/2</m:t>
                    </m:r>
                  </m:oMath>
                </a14:m>
                <a:r>
                  <a:rPr lang="fr-FR" dirty="0" smtClean="0"/>
                  <a:t> et </a:t>
                </a:r>
                <a:r>
                  <a:rPr lang="fr-FR" dirty="0" err="1" smtClean="0"/>
                  <a:t>LimSup</a:t>
                </a:r>
                <a:r>
                  <a:rPr lang="fr-FR" dirty="0" smtClean="0"/>
                  <a:t> = T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fr-FR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fr-FR" b="0" i="1" smtClean="0">
                            <a:latin typeface="Cambria Math" panose="02040503050406030204" pitchFamily="18" charset="0"/>
                          </a:rPr>
                          <m:t>1−</m:t>
                        </m:r>
                        <m:r>
                          <a:rPr lang="fr-F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𝛼</m:t>
                        </m:r>
                        <m:r>
                          <a:rPr lang="fr-F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/2</m:t>
                        </m:r>
                      </m:e>
                    </m:d>
                  </m:oMath>
                </a14:m>
                <a:r>
                  <a:rPr lang="fr-FR" dirty="0" smtClean="0"/>
                  <a:t> </a:t>
                </a:r>
                <a:r>
                  <a:rPr lang="fr-FR" dirty="0" err="1" smtClean="0"/>
                  <a:t>ième</a:t>
                </a:r>
                <a:r>
                  <a:rPr lang="fr-FR" dirty="0" smtClean="0"/>
                  <a:t> valeurs de l’échantillon trié</a:t>
                </a:r>
                <a:endParaRPr lang="fr-FR" dirty="0"/>
              </a:p>
            </p:txBody>
          </p:sp>
        </mc:Choice>
        <mc:Fallback xmlns="">
          <p:sp>
            <p:nvSpPr>
              <p:cNvPr id="12" name="ZoneTexte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6698" y="6309320"/>
                <a:ext cx="8705782" cy="400110"/>
              </a:xfrm>
              <a:prstGeom prst="rect">
                <a:avLst/>
              </a:prstGeom>
              <a:blipFill rotWithShape="0">
                <a:blip r:embed="rId9"/>
                <a:stretch>
                  <a:fillRect l="-770" t="-7576" b="-27273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78140579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1"/>
          <p:cNvSpPr txBox="1"/>
          <p:nvPr/>
        </p:nvSpPr>
        <p:spPr>
          <a:xfrm>
            <a:off x="251520" y="332656"/>
            <a:ext cx="835292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 smtClean="0"/>
              <a:t>Les critères de comparaison</a:t>
            </a:r>
            <a:endParaRPr lang="fr-FR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ZoneTexte 2"/>
              <p:cNvSpPr txBox="1"/>
              <p:nvPr/>
            </p:nvSpPr>
            <p:spPr>
              <a:xfrm>
                <a:off x="395536" y="836712"/>
                <a:ext cx="8352928" cy="78861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𝑀𝑆𝐸</m:t>
                      </m:r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fr-FR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nary>
                            <m:naryPr>
                              <m:chr m:val="∑"/>
                              <m:ctrlPr>
                                <a:rPr lang="fr-FR" b="0" i="1" smtClean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fr-FR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fr-FR" b="0" i="1" smtClean="0"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fr-FR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p>
                            <m:e>
                              <m:sSup>
                                <m:sSupPr>
                                  <m:ctrlPr>
                                    <a:rPr lang="fr-FR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fr-FR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fr-FR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fr-FR" i="1">
                                              <a:latin typeface="Cambria Math" panose="02040503050406030204" pitchFamily="18" charset="0"/>
                                            </a:rPr>
                                            <m:t>𝑦</m:t>
                                          </m:r>
                                        </m:e>
                                        <m:sub>
                                          <m:r>
                                            <a:rPr lang="fr-FR" i="1"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  <m:r>
                                        <a:rPr lang="fr-FR" i="1"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sSub>
                                        <m:sSubPr>
                                          <m:ctrlPr>
                                            <a:rPr lang="fr-FR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acc>
                                            <m:accPr>
                                              <m:chr m:val="̂"/>
                                              <m:ctrlPr>
                                                <a:rPr lang="fr-FR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accPr>
                                            <m:e>
                                              <m:r>
                                                <a:rPr lang="fr-FR" i="1">
                                                  <a:latin typeface="Cambria Math" panose="02040503050406030204" pitchFamily="18" charset="0"/>
                                                </a:rPr>
                                                <m:t>𝑦</m:t>
                                              </m:r>
                                            </m:e>
                                          </m:acc>
                                        </m:e>
                                        <m:sub>
                                          <m:f>
                                            <m:fPr>
                                              <m:type m:val="lin"/>
                                              <m:ctrlPr>
                                                <a:rPr lang="fr-FR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fPr>
                                            <m:num>
                                              <m:r>
                                                <a:rPr lang="fr-FR" i="1">
                                                  <a:latin typeface="Cambria Math" panose="02040503050406030204" pitchFamily="18" charset="0"/>
                                                </a:rPr>
                                                <m:t>𝑖</m:t>
                                              </m:r>
                                            </m:num>
                                            <m:den>
                                              <m:r>
                                                <a:rPr lang="fr-FR" i="1">
                                                  <a:latin typeface="Cambria Math" panose="02040503050406030204" pitchFamily="18" charset="0"/>
                                                </a:rPr>
                                                <m:t>𝑖</m:t>
                                              </m:r>
                                              <m:r>
                                                <a:rPr lang="fr-FR" i="1">
                                                  <a:latin typeface="Cambria Math" panose="02040503050406030204" pitchFamily="18" charset="0"/>
                                                </a:rPr>
                                                <m:t>−1</m:t>
                                              </m:r>
                                            </m:den>
                                          </m:f>
                                        </m:sub>
                                      </m:sSub>
                                    </m:e>
                                  </m:d>
                                </m:e>
                                <m:sup>
                                  <m:r>
                                    <a:rPr lang="fr-FR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nary>
                        </m:num>
                        <m:den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den>
                      </m:f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𝑎𝑣𝑒𝑐</m:t>
                      </m:r>
                      <m:sSub>
                        <m:sSubPr>
                          <m:ctrlPr>
                            <a:rPr lang="fr-FR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acc>
                            <m:accPr>
                              <m:chr m:val="̂"/>
                              <m:ctrlPr>
                                <a:rPr lang="fr-FR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fr-FR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acc>
                        </m:e>
                        <m:sub>
                          <m:f>
                            <m:fPr>
                              <m:type m:val="lin"/>
                              <m:ctrlPr>
                                <a:rPr lang="fr-FR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fr-FR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num>
                            <m:den>
                              <m:r>
                                <a:rPr lang="fr-FR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fr-FR" i="1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den>
                          </m:f>
                        </m:sub>
                      </m:sSub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𝐸</m:t>
                      </m:r>
                      <m:d>
                        <m:dPr>
                          <m:ctrlPr>
                            <a:rPr lang="fr-FR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type m:val="lin"/>
                              <m:ctrlPr>
                                <a:rPr lang="fr-FR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fr-FR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fr-FR" b="0" i="1" smtClean="0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fr-FR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num>
                            <m:den>
                              <m:sSub>
                                <m:sSubPr>
                                  <m:ctrlPr>
                                    <a:rPr lang="fr-FR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fr-FR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fr-FR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  <m:r>
                                    <a:rPr lang="fr-FR" b="0" i="1" smtClean="0">
                                      <a:latin typeface="Cambria Math" panose="02040503050406030204" pitchFamily="18" charset="0"/>
                                    </a:rPr>
                                    <m:t>−1</m:t>
                                  </m:r>
                                </m:sub>
                              </m:sSub>
                            </m:den>
                          </m:f>
                        </m:e>
                      </m:d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𝑤</m:t>
                      </m:r>
                      <m:d>
                        <m:dPr>
                          <m:ctrlPr>
                            <a:rPr lang="fr-FR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fr-FR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fr-FR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fr-FR" b="0" i="1" smtClean="0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fr-FR" dirty="0"/>
              </a:p>
            </p:txBody>
          </p:sp>
        </mc:Choice>
        <mc:Fallback xmlns="">
          <p:sp>
            <p:nvSpPr>
              <p:cNvPr id="3" name="ZoneTexte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5536" y="836712"/>
                <a:ext cx="8352928" cy="788614"/>
              </a:xfrm>
              <a:prstGeom prst="rect">
                <a:avLst/>
              </a:prstGeom>
              <a:blipFill rotWithShape="0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ZoneTexte 3"/>
              <p:cNvSpPr txBox="1"/>
              <p:nvPr/>
            </p:nvSpPr>
            <p:spPr>
              <a:xfrm>
                <a:off x="547936" y="1704282"/>
                <a:ext cx="8352928" cy="72988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𝐴𝑀𝐸</m:t>
                      </m:r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fr-FR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nary>
                            <m:naryPr>
                              <m:chr m:val="∑"/>
                              <m:ctrlPr>
                                <a:rPr lang="fr-FR" b="0" i="1" smtClean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fr-FR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fr-FR" b="0" i="1" smtClean="0"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fr-FR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p>
                            <m:e>
                              <m:r>
                                <a:rPr lang="fr-FR" b="0" i="1" smtClean="0">
                                  <a:latin typeface="Cambria Math" panose="02040503050406030204" pitchFamily="18" charset="0"/>
                                </a:rPr>
                                <m:t>𝑎𝑏𝑠</m:t>
                              </m:r>
                              <m:d>
                                <m:dPr>
                                  <m:ctrlPr>
                                    <a:rPr lang="fr-FR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fr-FR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fr-FR" i="1"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  <m:sub>
                                      <m:r>
                                        <a:rPr lang="fr-FR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r>
                                    <a:rPr lang="fr-FR" i="1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sSub>
                                    <m:sSubPr>
                                      <m:ctrlPr>
                                        <a:rPr lang="fr-FR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acc>
                                        <m:accPr>
                                          <m:chr m:val="̂"/>
                                          <m:ctrlPr>
                                            <a:rPr lang="fr-FR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fr-FR" i="1">
                                              <a:latin typeface="Cambria Math" panose="02040503050406030204" pitchFamily="18" charset="0"/>
                                            </a:rPr>
                                            <m:t>𝑦</m:t>
                                          </m:r>
                                        </m:e>
                                      </m:acc>
                                    </m:e>
                                    <m:sub>
                                      <m:f>
                                        <m:fPr>
                                          <m:type m:val="lin"/>
                                          <m:ctrlPr>
                                            <a:rPr lang="fr-FR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fPr>
                                        <m:num>
                                          <m:r>
                                            <a:rPr lang="fr-FR" i="1"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num>
                                        <m:den>
                                          <m:r>
                                            <a:rPr lang="fr-FR" i="1"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  <m:r>
                                            <a:rPr lang="fr-FR" i="1">
                                              <a:latin typeface="Cambria Math" panose="02040503050406030204" pitchFamily="18" charset="0"/>
                                            </a:rPr>
                                            <m:t>−1</m:t>
                                          </m:r>
                                        </m:den>
                                      </m:f>
                                    </m:sub>
                                  </m:sSub>
                                </m:e>
                              </m:d>
                            </m:e>
                          </m:nary>
                        </m:num>
                        <m:den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den>
                      </m:f>
                    </m:oMath>
                  </m:oMathPara>
                </a14:m>
                <a:endParaRPr lang="fr-FR" dirty="0"/>
              </a:p>
            </p:txBody>
          </p:sp>
        </mc:Choice>
        <mc:Fallback xmlns="">
          <p:sp>
            <p:nvSpPr>
              <p:cNvPr id="4" name="ZoneTexte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7936" y="1704282"/>
                <a:ext cx="8352928" cy="729880"/>
              </a:xfrm>
              <a:prstGeom prst="rect">
                <a:avLst/>
              </a:prstGeom>
              <a:blipFill rotWithShape="0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ZoneTexte 4"/>
              <p:cNvSpPr txBox="1"/>
              <p:nvPr/>
            </p:nvSpPr>
            <p:spPr>
              <a:xfrm>
                <a:off x="395536" y="3068960"/>
                <a:ext cx="7848872" cy="64665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fr-FR" dirty="0" smtClean="0"/>
                  <a:t>On définit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fr-FR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b="0" i="1" smtClean="0">
                            <a:latin typeface="Cambria Math" panose="02040503050406030204" pitchFamily="18" charset="0"/>
                          </a:rPr>
                          <m:t>𝑀𝑆𝐸</m:t>
                        </m:r>
                      </m:e>
                      <m:sub>
                        <m:r>
                          <a:rPr lang="fr-FR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fr-FR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fr-FR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nary>
                          <m:naryPr>
                            <m:chr m:val="∑"/>
                            <m:ctrlPr>
                              <a:rPr lang="fr-FR" i="1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m:rPr>
                                <m:brk m:alnAt="23"/>
                              </m:rPr>
                              <a:rPr lang="fr-FR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fr-FR" i="1">
                                <a:latin typeface="Cambria Math" panose="02040503050406030204" pitchFamily="18" charset="0"/>
                              </a:rPr>
                              <m:t>=</m:t>
                            </m:r>
                            <m:r>
                              <a:rPr lang="fr-FR" b="0" i="1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  <m:sup>
                            <m:r>
                              <a:rPr lang="fr-FR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  <m:e>
                            <m:sSup>
                              <m:sSupPr>
                                <m:ctrlPr>
                                  <a:rPr lang="fr-FR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d>
                                  <m:dPr>
                                    <m:ctrlPr>
                                      <a:rPr lang="fr-FR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fr-FR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fr-FR" i="1">
                                            <a:latin typeface="Cambria Math" panose="02040503050406030204" pitchFamily="18" charset="0"/>
                                          </a:rPr>
                                          <m:t>𝑦</m:t>
                                        </m:r>
                                      </m:e>
                                      <m:sub>
                                        <m:r>
                                          <a:rPr lang="fr-FR" i="1">
                                            <a:latin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</m:sub>
                                    </m:sSub>
                                    <m:r>
                                      <a:rPr lang="fr-FR" i="1"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sSub>
                                      <m:sSubPr>
                                        <m:ctrlPr>
                                          <a:rPr lang="fr-FR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acc>
                                          <m:accPr>
                                            <m:chr m:val="̂"/>
                                            <m:ctrlPr>
                                              <a:rPr lang="fr-FR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accPr>
                                          <m:e>
                                            <m:r>
                                              <a:rPr lang="fr-FR" i="1">
                                                <a:latin typeface="Cambria Math" panose="02040503050406030204" pitchFamily="18" charset="0"/>
                                              </a:rPr>
                                              <m:t>𝑦</m:t>
                                            </m:r>
                                          </m:e>
                                        </m:acc>
                                      </m:e>
                                      <m:sub>
                                        <m:f>
                                          <m:fPr>
                                            <m:type m:val="lin"/>
                                            <m:ctrlPr>
                                              <a:rPr lang="fr-FR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fPr>
                                          <m:num>
                                            <m:r>
                                              <a:rPr lang="fr-FR" i="1">
                                                <a:latin typeface="Cambria Math" panose="02040503050406030204" pitchFamily="18" charset="0"/>
                                              </a:rPr>
                                              <m:t>𝑖</m:t>
                                            </m:r>
                                          </m:num>
                                          <m:den>
                                            <m:r>
                                              <a:rPr lang="fr-FR" i="1">
                                                <a:latin typeface="Cambria Math" panose="02040503050406030204" pitchFamily="18" charset="0"/>
                                              </a:rPr>
                                              <m:t>𝑖</m:t>
                                            </m:r>
                                            <m:r>
                                              <a:rPr lang="fr-FR" i="1">
                                                <a:latin typeface="Cambria Math" panose="02040503050406030204" pitchFamily="18" charset="0"/>
                                              </a:rPr>
                                              <m:t>−</m:t>
                                            </m:r>
                                            <m:r>
                                              <a:rPr lang="fr-FR" b="0" i="1" smtClean="0">
                                                <a:latin typeface="Cambria Math" panose="02040503050406030204" pitchFamily="18" charset="0"/>
                                              </a:rPr>
                                              <m:t>𝑘</m:t>
                                            </m:r>
                                          </m:den>
                                        </m:f>
                                      </m:sub>
                                    </m:sSub>
                                  </m:e>
                                </m:d>
                              </m:e>
                              <m:sup>
                                <m:r>
                                  <a:rPr lang="fr-FR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nary>
                      </m:num>
                      <m:den>
                        <m:r>
                          <a:rPr lang="fr-FR" i="1">
                            <a:latin typeface="Cambria Math" panose="02040503050406030204" pitchFamily="18" charset="0"/>
                          </a:rPr>
                          <m:t>𝑛</m:t>
                        </m:r>
                      </m:den>
                    </m:f>
                  </m:oMath>
                </a14:m>
                <a:r>
                  <a:rPr lang="fr-FR" dirty="0" smtClean="0"/>
                  <a:t>, k = 1,2,3</a:t>
                </a:r>
                <a:endParaRPr lang="fr-FR" dirty="0"/>
              </a:p>
            </p:txBody>
          </p:sp>
        </mc:Choice>
        <mc:Fallback xmlns="">
          <p:sp>
            <p:nvSpPr>
              <p:cNvPr id="5" name="ZoneTexte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5536" y="3068960"/>
                <a:ext cx="7848872" cy="646652"/>
              </a:xfrm>
              <a:prstGeom prst="rect">
                <a:avLst/>
              </a:prstGeom>
              <a:blipFill rotWithShape="0">
                <a:blip r:embed="rId4"/>
                <a:stretch>
                  <a:fillRect l="-855" b="-4673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ZoneTexte 5"/>
              <p:cNvSpPr txBox="1"/>
              <p:nvPr/>
            </p:nvSpPr>
            <p:spPr>
              <a:xfrm>
                <a:off x="547936" y="3933056"/>
                <a:ext cx="8352928" cy="52950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fr-FR" dirty="0" smtClean="0">
                    <a:cs typeface="+mn-cs"/>
                  </a:rPr>
                  <a:t>On a </a:t>
                </a:r>
                <a14:m>
                  <m:oMath xmlns:m="http://schemas.openxmlformats.org/officeDocument/2006/math">
                    <m:r>
                      <a:rPr lang="fr-FR" b="0" i="1" smtClean="0">
                        <a:latin typeface="Cambria Math" panose="02040503050406030204" pitchFamily="18" charset="0"/>
                        <a:cs typeface="+mn-cs"/>
                      </a:rPr>
                      <m:t>𝐴𝑀𝑆𝐸</m:t>
                    </m:r>
                    <m:r>
                      <a:rPr lang="fr-FR" b="0" i="1" smtClean="0">
                        <a:latin typeface="Cambria Math" panose="02040503050406030204" pitchFamily="18" charset="0"/>
                        <a:cs typeface="+mn-cs"/>
                      </a:rPr>
                      <m:t>=</m:t>
                    </m:r>
                    <m:f>
                      <m:fPr>
                        <m:ctrlPr>
                          <a:rPr lang="fr-FR" b="0" i="1" smtClean="0">
                            <a:latin typeface="Cambria Math" panose="02040503050406030204" pitchFamily="18" charset="0"/>
                            <a:cs typeface="+mn-cs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fr-FR" b="0" i="1" smtClean="0">
                                <a:latin typeface="Cambria Math" panose="02040503050406030204" pitchFamily="18" charset="0"/>
                                <a:cs typeface="+mn-cs"/>
                              </a:rPr>
                            </m:ctrlPr>
                          </m:sSubPr>
                          <m:e>
                            <m:r>
                              <a:rPr lang="fr-FR" b="0" i="1" smtClean="0">
                                <a:latin typeface="Cambria Math" panose="02040503050406030204" pitchFamily="18" charset="0"/>
                                <a:cs typeface="+mn-cs"/>
                              </a:rPr>
                              <m:t>𝑀𝑆𝐸</m:t>
                            </m:r>
                          </m:e>
                          <m:sub>
                            <m:r>
                              <a:rPr lang="fr-FR" b="0" i="1" smtClean="0">
                                <a:latin typeface="Cambria Math" panose="02040503050406030204" pitchFamily="18" charset="0"/>
                                <a:cs typeface="+mn-cs"/>
                              </a:rPr>
                              <m:t>1</m:t>
                            </m:r>
                          </m:sub>
                        </m:sSub>
                        <m:r>
                          <a:rPr lang="fr-FR" b="0" i="1" smtClean="0">
                            <a:latin typeface="Cambria Math" panose="02040503050406030204" pitchFamily="18" charset="0"/>
                            <a:cs typeface="+mn-cs"/>
                          </a:rPr>
                          <m:t>+</m:t>
                        </m:r>
                        <m:sSub>
                          <m:sSubPr>
                            <m:ctrlPr>
                              <a:rPr lang="fr-FR" b="0" i="1" smtClean="0">
                                <a:latin typeface="Cambria Math" panose="02040503050406030204" pitchFamily="18" charset="0"/>
                                <a:cs typeface="+mn-cs"/>
                              </a:rPr>
                            </m:ctrlPr>
                          </m:sSubPr>
                          <m:e>
                            <m:r>
                              <a:rPr lang="fr-FR" b="0" i="1" smtClean="0">
                                <a:latin typeface="Cambria Math" panose="02040503050406030204" pitchFamily="18" charset="0"/>
                                <a:cs typeface="+mn-cs"/>
                              </a:rPr>
                              <m:t>𝑀𝑆𝐸</m:t>
                            </m:r>
                          </m:e>
                          <m:sub>
                            <m:r>
                              <a:rPr lang="fr-FR" b="0" i="1" smtClean="0">
                                <a:latin typeface="Cambria Math" panose="02040503050406030204" pitchFamily="18" charset="0"/>
                                <a:cs typeface="+mn-cs"/>
                              </a:rPr>
                              <m:t>2</m:t>
                            </m:r>
                          </m:sub>
                        </m:sSub>
                        <m:r>
                          <a:rPr lang="fr-FR" b="0" i="1" smtClean="0">
                            <a:latin typeface="Cambria Math" panose="02040503050406030204" pitchFamily="18" charset="0"/>
                            <a:cs typeface="+mn-cs"/>
                          </a:rPr>
                          <m:t>+</m:t>
                        </m:r>
                        <m:sSub>
                          <m:sSubPr>
                            <m:ctrlPr>
                              <a:rPr lang="fr-FR" b="0" i="1" smtClean="0">
                                <a:latin typeface="Cambria Math" panose="02040503050406030204" pitchFamily="18" charset="0"/>
                                <a:cs typeface="+mn-cs"/>
                              </a:rPr>
                            </m:ctrlPr>
                          </m:sSubPr>
                          <m:e>
                            <m:r>
                              <a:rPr lang="fr-FR" b="0" i="1" smtClean="0">
                                <a:latin typeface="Cambria Math" panose="02040503050406030204" pitchFamily="18" charset="0"/>
                                <a:cs typeface="+mn-cs"/>
                              </a:rPr>
                              <m:t>𝑀𝑆𝐸</m:t>
                            </m:r>
                          </m:e>
                          <m:sub>
                            <m:r>
                              <a:rPr lang="fr-FR" b="0" i="1" smtClean="0">
                                <a:latin typeface="Cambria Math" panose="02040503050406030204" pitchFamily="18" charset="0"/>
                                <a:cs typeface="+mn-cs"/>
                              </a:rPr>
                              <m:t>3</m:t>
                            </m:r>
                          </m:sub>
                        </m:sSub>
                      </m:num>
                      <m:den>
                        <m:r>
                          <a:rPr lang="fr-FR" b="0" i="1" smtClean="0">
                            <a:latin typeface="Cambria Math" panose="02040503050406030204" pitchFamily="18" charset="0"/>
                            <a:cs typeface="+mn-cs"/>
                          </a:rPr>
                          <m:t>3</m:t>
                        </m:r>
                      </m:den>
                    </m:f>
                  </m:oMath>
                </a14:m>
                <a:endParaRPr lang="fr-FR" dirty="0">
                  <a:cs typeface="+mn-cs"/>
                </a:endParaRPr>
              </a:p>
            </p:txBody>
          </p:sp>
        </mc:Choice>
        <mc:Fallback xmlns="">
          <p:sp>
            <p:nvSpPr>
              <p:cNvPr id="6" name="ZoneTexte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7936" y="3933056"/>
                <a:ext cx="8352928" cy="529504"/>
              </a:xfrm>
              <a:prstGeom prst="rect">
                <a:avLst/>
              </a:prstGeom>
              <a:blipFill rotWithShape="0">
                <a:blip r:embed="rId5"/>
                <a:stretch>
                  <a:fillRect l="-803" b="-6897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78028969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179512" y="836712"/>
            <a:ext cx="871296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 smtClean="0"/>
              <a:t>Elle permet de calculer le modèle </a:t>
            </a:r>
            <a:r>
              <a:rPr lang="fr-FR" dirty="0" err="1" smtClean="0"/>
              <a:t>ets</a:t>
            </a:r>
            <a:r>
              <a:rPr lang="fr-FR" dirty="0" smtClean="0"/>
              <a:t> d’une série temporelle</a:t>
            </a:r>
            <a:endParaRPr lang="fr-FR" dirty="0"/>
          </a:p>
        </p:txBody>
      </p:sp>
      <p:sp>
        <p:nvSpPr>
          <p:cNvPr id="4" name="ZoneTexte 3"/>
          <p:cNvSpPr txBox="1"/>
          <p:nvPr/>
        </p:nvSpPr>
        <p:spPr>
          <a:xfrm>
            <a:off x="323528" y="1628800"/>
            <a:ext cx="871296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 smtClean="0"/>
              <a:t>Par défaut les paramètres sont estimés par maximisation de la fonction vraisemblance </a:t>
            </a:r>
            <a:endParaRPr lang="fr-FR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ZoneTexte 4"/>
              <p:cNvSpPr txBox="1"/>
              <p:nvPr/>
            </p:nvSpPr>
            <p:spPr>
              <a:xfrm>
                <a:off x="179512" y="2564904"/>
                <a:ext cx="8784976" cy="153978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fr-FR" dirty="0" smtClean="0"/>
                  <a:t>Il est possible d’estimer les paramètres du modèle en minimisant 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"/>
                          <m:ctrlPr>
                            <a:rPr lang="fr-FR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fr-FR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fr-FR" b="0" i="1" smtClean="0">
                                    <a:latin typeface="Cambria Math" panose="02040503050406030204" pitchFamily="18" charset="0"/>
                                  </a:rPr>
                                  <m:t>𝑚</m:t>
                                </m:r>
                                <m:r>
                                  <a:rPr lang="fr-FR" b="0" i="1" smtClean="0">
                                    <a:latin typeface="Cambria Math" panose="02040503050406030204" pitchFamily="18" charset="0"/>
                                  </a:rPr>
                                  <m:t>𝑠𝑒</m:t>
                                </m:r>
                              </m:e>
                            </m:mr>
                            <m:mr>
                              <m:e>
                                <m:r>
                                  <a:rPr lang="fr-FR" b="0" i="1" smtClean="0">
                                    <a:latin typeface="Cambria Math" panose="02040503050406030204" pitchFamily="18" charset="0"/>
                                  </a:rPr>
                                  <m:t>𝑎𝑚𝑠𝑒</m:t>
                                </m:r>
                              </m:e>
                            </m:mr>
                            <m:mr>
                              <m:e>
                                <m:eqArr>
                                  <m:eqArrPr>
                                    <m:ctrlPr>
                                      <a:rPr lang="fr-FR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eqArrPr>
                                  <m:e>
                                    <m:r>
                                      <a:rPr lang="fr-FR" b="0" i="1" smtClean="0">
                                        <a:latin typeface="Cambria Math" panose="02040503050406030204" pitchFamily="18" charset="0"/>
                                      </a:rPr>
                                      <m:t>𝑚𝑎𝑒</m:t>
                                    </m:r>
                                  </m:e>
                                  <m:e>
                                    <m:sSup>
                                      <m:sSupPr>
                                        <m:ctrlPr>
                                          <a:rPr lang="fr-FR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fr-FR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𝜎</m:t>
                                        </m:r>
                                      </m:e>
                                      <m:sup>
                                        <m:r>
                                          <a:rPr lang="fr-FR" b="0" i="1" smtClean="0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p>
                                    </m:sSup>
                                  </m:e>
                                </m:eqAr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fr-FR" dirty="0"/>
              </a:p>
            </p:txBody>
          </p:sp>
        </mc:Choice>
        <mc:Fallback xmlns="">
          <p:sp>
            <p:nvSpPr>
              <p:cNvPr id="5" name="ZoneTexte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9512" y="2564904"/>
                <a:ext cx="8784976" cy="1539780"/>
              </a:xfrm>
              <a:prstGeom prst="rect">
                <a:avLst/>
              </a:prstGeom>
              <a:blipFill rotWithShape="0">
                <a:blip r:embed="rId2"/>
                <a:stretch>
                  <a:fillRect l="-693" t="-1984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Rectangle 5"/>
          <p:cNvSpPr/>
          <p:nvPr/>
        </p:nvSpPr>
        <p:spPr>
          <a:xfrm>
            <a:off x="238025" y="286489"/>
            <a:ext cx="462819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b="1" dirty="0"/>
              <a:t>La fonction </a:t>
            </a:r>
            <a:r>
              <a:rPr lang="fr-FR" b="1" dirty="0" err="1"/>
              <a:t>ets</a:t>
            </a:r>
            <a:r>
              <a:rPr lang="fr-FR" b="1" dirty="0"/>
              <a:t> du package </a:t>
            </a:r>
            <a:r>
              <a:rPr lang="fr-FR" b="1" dirty="0" err="1"/>
              <a:t>forecast</a:t>
            </a:r>
            <a:r>
              <a:rPr lang="fr-FR" b="1" dirty="0"/>
              <a:t> </a:t>
            </a:r>
          </a:p>
        </p:txBody>
      </p:sp>
      <p:sp>
        <p:nvSpPr>
          <p:cNvPr id="7" name="ZoneTexte 6"/>
          <p:cNvSpPr txBox="1"/>
          <p:nvPr/>
        </p:nvSpPr>
        <p:spPr>
          <a:xfrm>
            <a:off x="238025" y="4365104"/>
            <a:ext cx="865445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 smtClean="0"/>
              <a:t>Le meilleur modèle choisi est celui qui minimise un critère de sélection : </a:t>
            </a:r>
            <a:endParaRPr lang="fr-FR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ZoneTexte 7"/>
              <p:cNvSpPr txBox="1"/>
              <p:nvPr/>
            </p:nvSpPr>
            <p:spPr>
              <a:xfrm>
                <a:off x="2915816" y="5157192"/>
                <a:ext cx="3240360" cy="10749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"/>
                          <m:ctrlPr>
                            <a:rPr lang="fr-FR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fr-FR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fr-FR" b="0" i="1" smtClean="0">
                                    <a:latin typeface="Cambria Math" panose="02040503050406030204" pitchFamily="18" charset="0"/>
                                  </a:rPr>
                                  <m:t>𝐴</m:t>
                                </m:r>
                                <m:r>
                                  <a:rPr lang="fr-FR" b="0" i="1" smtClean="0">
                                    <a:latin typeface="Cambria Math" panose="02040503050406030204" pitchFamily="18" charset="0"/>
                                  </a:rPr>
                                  <m:t>𝐼𝐶</m:t>
                                </m:r>
                              </m:e>
                            </m:mr>
                            <m:mr>
                              <m:e>
                                <m:r>
                                  <a:rPr lang="fr-FR" b="0" i="1" smtClean="0">
                                    <a:latin typeface="Cambria Math" panose="02040503050406030204" pitchFamily="18" charset="0"/>
                                  </a:rPr>
                                  <m:t>𝐵𝐼𝐶</m:t>
                                </m:r>
                              </m:e>
                            </m:mr>
                            <m:mr>
                              <m:e>
                                <m:r>
                                  <a:rPr lang="fr-FR" b="0" i="1" smtClean="0">
                                    <a:latin typeface="Cambria Math" panose="02040503050406030204" pitchFamily="18" charset="0"/>
                                  </a:rPr>
                                  <m:t>𝐴𝐼𝐶𝐶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fr-FR" dirty="0"/>
              </a:p>
            </p:txBody>
          </p:sp>
        </mc:Choice>
        <mc:Fallback xmlns="">
          <p:sp>
            <p:nvSpPr>
              <p:cNvPr id="8" name="ZoneTexte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15816" y="5157192"/>
                <a:ext cx="3240360" cy="1074910"/>
              </a:xfrm>
              <a:prstGeom prst="rect">
                <a:avLst/>
              </a:prstGeom>
              <a:blipFill rotWithShape="0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66157639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1"/>
          <p:cNvSpPr txBox="1"/>
          <p:nvPr/>
        </p:nvSpPr>
        <p:spPr>
          <a:xfrm>
            <a:off x="179512" y="260648"/>
            <a:ext cx="813690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 smtClean="0"/>
              <a:t>Codes possibles</a:t>
            </a:r>
            <a:endParaRPr lang="fr-FR" b="1" dirty="0"/>
          </a:p>
        </p:txBody>
      </p:sp>
      <p:sp>
        <p:nvSpPr>
          <p:cNvPr id="3" name="ZoneTexte 2"/>
          <p:cNvSpPr txBox="1"/>
          <p:nvPr/>
        </p:nvSpPr>
        <p:spPr>
          <a:xfrm>
            <a:off x="179512" y="836712"/>
            <a:ext cx="849694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 err="1" smtClean="0"/>
              <a:t>ets</a:t>
            </a:r>
            <a:r>
              <a:rPr lang="fr-FR" dirty="0" smtClean="0"/>
              <a:t>(z) est équivalent à </a:t>
            </a:r>
            <a:r>
              <a:rPr lang="fr-FR" dirty="0" err="1" smtClean="0"/>
              <a:t>ets</a:t>
            </a:r>
            <a:r>
              <a:rPr lang="fr-FR" dirty="0" smtClean="0"/>
              <a:t>(z, model =‘‘ZZZ’’)</a:t>
            </a:r>
            <a:endParaRPr lang="fr-FR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ZoneTexte 3"/>
              <p:cNvSpPr txBox="1"/>
              <p:nvPr/>
            </p:nvSpPr>
            <p:spPr>
              <a:xfrm>
                <a:off x="251520" y="1484784"/>
                <a:ext cx="8208912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fr-FR" dirty="0" err="1" smtClean="0"/>
                  <a:t>ets</a:t>
                </a:r>
                <a:r>
                  <a:rPr lang="fr-FR" dirty="0" smtClean="0"/>
                  <a:t>(z, </a:t>
                </a:r>
                <a:r>
                  <a:rPr lang="fr-FR" dirty="0" err="1" smtClean="0"/>
                  <a:t>modele</a:t>
                </a:r>
                <a:r>
                  <a:rPr lang="fr-FR" dirty="0" smtClean="0"/>
                  <a:t> = ‘‘AMM’’) </a:t>
                </a:r>
                <a14:m>
                  <m:oMath xmlns:m="http://schemas.openxmlformats.org/officeDocument/2006/math">
                    <m:r>
                      <a:rPr lang="fr-FR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lang="fr-FR" dirty="0" smtClean="0"/>
                  <a:t> calculer le model AMM</a:t>
                </a:r>
                <a:endParaRPr lang="fr-FR" dirty="0"/>
              </a:p>
            </p:txBody>
          </p:sp>
        </mc:Choice>
        <mc:Fallback xmlns="">
          <p:sp>
            <p:nvSpPr>
              <p:cNvPr id="4" name="ZoneTexte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1520" y="1484784"/>
                <a:ext cx="8208912" cy="400110"/>
              </a:xfrm>
              <a:prstGeom prst="rect">
                <a:avLst/>
              </a:prstGeom>
              <a:blipFill rotWithShape="0">
                <a:blip r:embed="rId2"/>
                <a:stretch>
                  <a:fillRect l="-742" t="-7692" b="-29231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ZoneTexte 4"/>
              <p:cNvSpPr txBox="1"/>
              <p:nvPr/>
            </p:nvSpPr>
            <p:spPr>
              <a:xfrm>
                <a:off x="251520" y="2132856"/>
                <a:ext cx="8496944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fr-FR" dirty="0" err="1"/>
                  <a:t>ets</a:t>
                </a:r>
                <a:r>
                  <a:rPr lang="fr-FR" dirty="0"/>
                  <a:t>(z, </a:t>
                </a:r>
                <a:r>
                  <a:rPr lang="fr-FR" dirty="0" smtClean="0"/>
                  <a:t>model </a:t>
                </a:r>
                <a:r>
                  <a:rPr lang="fr-FR" dirty="0"/>
                  <a:t>= ‘‘AMM</a:t>
                </a:r>
                <a:r>
                  <a:rPr lang="fr-FR" dirty="0" smtClean="0"/>
                  <a:t>’’, </a:t>
                </a:r>
                <a:r>
                  <a:rPr lang="fr-FR" dirty="0" err="1" smtClean="0"/>
                  <a:t>damped</a:t>
                </a:r>
                <a:r>
                  <a:rPr lang="fr-FR" dirty="0" smtClean="0"/>
                  <a:t> = TRUE)</a:t>
                </a:r>
                <a:r>
                  <a:rPr lang="fr-FR" dirty="0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fr-FR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lang="fr-FR" dirty="0"/>
                  <a:t> calculer le model </a:t>
                </a:r>
                <a:r>
                  <a:rPr lang="fr-FR" dirty="0" err="1" smtClean="0"/>
                  <a:t>AM</a:t>
                </a:r>
                <a:r>
                  <a:rPr lang="fr-FR" baseline="-25000" dirty="0" err="1" smtClean="0"/>
                  <a:t>d</a:t>
                </a:r>
                <a:r>
                  <a:rPr lang="fr-FR" dirty="0" err="1" smtClean="0"/>
                  <a:t>M</a:t>
                </a:r>
                <a:endParaRPr lang="fr-FR" dirty="0"/>
              </a:p>
            </p:txBody>
          </p:sp>
        </mc:Choice>
        <mc:Fallback xmlns="">
          <p:sp>
            <p:nvSpPr>
              <p:cNvPr id="5" name="ZoneTexte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1520" y="2132856"/>
                <a:ext cx="8496944" cy="400110"/>
              </a:xfrm>
              <a:prstGeom prst="rect">
                <a:avLst/>
              </a:prstGeom>
              <a:blipFill rotWithShape="0">
                <a:blip r:embed="rId3"/>
                <a:stretch>
                  <a:fillRect l="-717" t="-7576" b="-27273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ZoneTexte 5"/>
              <p:cNvSpPr txBox="1"/>
              <p:nvPr/>
            </p:nvSpPr>
            <p:spPr>
              <a:xfrm>
                <a:off x="403920" y="2780928"/>
                <a:ext cx="8496944" cy="7078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fr-FR" dirty="0" err="1"/>
                  <a:t>ets</a:t>
                </a:r>
                <a:r>
                  <a:rPr lang="fr-FR" dirty="0"/>
                  <a:t>(z, </a:t>
                </a:r>
                <a:r>
                  <a:rPr lang="fr-FR" dirty="0" smtClean="0"/>
                  <a:t>model </a:t>
                </a:r>
                <a:r>
                  <a:rPr lang="fr-FR" dirty="0"/>
                  <a:t>= </a:t>
                </a:r>
                <a:r>
                  <a:rPr lang="fr-FR" dirty="0" smtClean="0"/>
                  <a:t>‘‘ZMA’’, </a:t>
                </a:r>
                <a:r>
                  <a:rPr lang="fr-FR" dirty="0" err="1" smtClean="0"/>
                  <a:t>damped</a:t>
                </a:r>
                <a:r>
                  <a:rPr lang="fr-FR" dirty="0" smtClean="0"/>
                  <a:t> = TRUE)</a:t>
                </a:r>
                <a:r>
                  <a:rPr lang="fr-FR" dirty="0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fr-FR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lang="fr-FR" dirty="0"/>
                  <a:t> calculer le </a:t>
                </a:r>
                <a:r>
                  <a:rPr lang="fr-FR" dirty="0" smtClean="0"/>
                  <a:t>meilleur model  parmi les modèle T = M</a:t>
                </a:r>
                <a:r>
                  <a:rPr lang="fr-FR" baseline="-25000" dirty="0" smtClean="0"/>
                  <a:t>d</a:t>
                </a:r>
                <a:r>
                  <a:rPr lang="fr-FR" dirty="0"/>
                  <a:t> </a:t>
                </a:r>
                <a:r>
                  <a:rPr lang="fr-FR" dirty="0" smtClean="0"/>
                  <a:t>et S = A</a:t>
                </a:r>
                <a:endParaRPr lang="fr-FR" dirty="0"/>
              </a:p>
            </p:txBody>
          </p:sp>
        </mc:Choice>
        <mc:Fallback xmlns="">
          <p:sp>
            <p:nvSpPr>
              <p:cNvPr id="6" name="ZoneTexte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3920" y="2780928"/>
                <a:ext cx="8496944" cy="707886"/>
              </a:xfrm>
              <a:prstGeom prst="rect">
                <a:avLst/>
              </a:prstGeom>
              <a:blipFill rotWithShape="0">
                <a:blip r:embed="rId4"/>
                <a:stretch>
                  <a:fillRect l="-717" t="-3448" b="-15517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ZoneTexte 6"/>
          <p:cNvSpPr txBox="1"/>
          <p:nvPr/>
        </p:nvSpPr>
        <p:spPr>
          <a:xfrm>
            <a:off x="251520" y="4725144"/>
            <a:ext cx="8496944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 err="1" smtClean="0"/>
              <a:t>ets</a:t>
            </a:r>
            <a:r>
              <a:rPr lang="fr-FR" dirty="0" smtClean="0"/>
              <a:t>(z, </a:t>
            </a:r>
            <a:r>
              <a:rPr lang="fr-FR" dirty="0" err="1" smtClean="0"/>
              <a:t>opt.crit</a:t>
            </a:r>
            <a:r>
              <a:rPr lang="fr-FR" dirty="0" smtClean="0"/>
              <a:t> = ‘‘</a:t>
            </a:r>
            <a:r>
              <a:rPr lang="fr-FR" dirty="0" err="1" smtClean="0"/>
              <a:t>amse</a:t>
            </a:r>
            <a:r>
              <a:rPr lang="fr-FR" dirty="0" smtClean="0"/>
              <a:t>’’, </a:t>
            </a:r>
            <a:r>
              <a:rPr lang="fr-FR" dirty="0" err="1" smtClean="0"/>
              <a:t>ic</a:t>
            </a:r>
            <a:r>
              <a:rPr lang="fr-FR" dirty="0" smtClean="0"/>
              <a:t> = ‘‘</a:t>
            </a:r>
            <a:r>
              <a:rPr lang="fr-FR" dirty="0" err="1" smtClean="0"/>
              <a:t>bic</a:t>
            </a:r>
            <a:r>
              <a:rPr lang="fr-FR" dirty="0" smtClean="0"/>
              <a:t>’’), calculer le meilleur modèle en minimisant le critère </a:t>
            </a:r>
            <a:r>
              <a:rPr lang="fr-FR" dirty="0" err="1" smtClean="0"/>
              <a:t>amse</a:t>
            </a:r>
            <a:r>
              <a:rPr lang="fr-FR" dirty="0" smtClean="0"/>
              <a:t> pour estimer les paramètres et en utilisant </a:t>
            </a:r>
            <a:r>
              <a:rPr lang="fr-FR" dirty="0" err="1" smtClean="0"/>
              <a:t>bic</a:t>
            </a:r>
            <a:r>
              <a:rPr lang="fr-FR" dirty="0" smtClean="0"/>
              <a:t> pour choisir le meilleur</a:t>
            </a:r>
            <a:endParaRPr lang="fr-FR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ZoneTexte 8"/>
              <p:cNvSpPr txBox="1"/>
              <p:nvPr/>
            </p:nvSpPr>
            <p:spPr>
              <a:xfrm>
                <a:off x="403920" y="5889466"/>
                <a:ext cx="8344544" cy="7078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fr-FR" dirty="0" smtClean="0"/>
                  <a:t>ets(z, model = ‘‘AAA’’, </a:t>
                </a:r>
                <a:r>
                  <a:rPr lang="fr-FR" dirty="0" err="1" smtClean="0"/>
                  <a:t>opt.crit</a:t>
                </a:r>
                <a:r>
                  <a:rPr lang="fr-FR" dirty="0" smtClean="0"/>
                  <a:t> = ‘‘sigma’’) calculer le modèle AAA en estimant les paramètres en minimisant </a:t>
                </a:r>
                <a14:m>
                  <m:oMath xmlns:m="http://schemas.openxmlformats.org/officeDocument/2006/math">
                    <m:r>
                      <a:rPr lang="fr-FR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𝜎</m:t>
                    </m:r>
                  </m:oMath>
                </a14:m>
                <a:r>
                  <a:rPr lang="fr-FR" dirty="0" smtClean="0"/>
                  <a:t> l’écart type du bruit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fr-FR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𝜀</m:t>
                        </m:r>
                      </m:e>
                      <m:sub>
                        <m:r>
                          <a:rPr lang="fr-FR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endParaRPr lang="fr-FR" dirty="0"/>
              </a:p>
            </p:txBody>
          </p:sp>
        </mc:Choice>
        <mc:Fallback xmlns="">
          <p:sp>
            <p:nvSpPr>
              <p:cNvPr id="9" name="ZoneTexte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3920" y="5889466"/>
                <a:ext cx="8344544" cy="707886"/>
              </a:xfrm>
              <a:prstGeom prst="rect">
                <a:avLst/>
              </a:prstGeom>
              <a:blipFill rotWithShape="0">
                <a:blip r:embed="rId5"/>
                <a:stretch>
                  <a:fillRect l="-730" t="-3448" b="-15517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ZoneTexte 9"/>
          <p:cNvSpPr txBox="1"/>
          <p:nvPr/>
        </p:nvSpPr>
        <p:spPr>
          <a:xfrm>
            <a:off x="179512" y="3676962"/>
            <a:ext cx="872135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 smtClean="0"/>
              <a:t>A défaut, la tendance est additive</a:t>
            </a:r>
            <a:endParaRPr lang="fr-FR" dirty="0"/>
          </a:p>
        </p:txBody>
      </p:sp>
      <p:sp>
        <p:nvSpPr>
          <p:cNvPr id="11" name="ZoneTexte 10"/>
          <p:cNvSpPr txBox="1"/>
          <p:nvPr/>
        </p:nvSpPr>
        <p:spPr>
          <a:xfrm>
            <a:off x="251520" y="4149080"/>
            <a:ext cx="878497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 err="1" smtClean="0"/>
              <a:t>ets</a:t>
            </a:r>
            <a:r>
              <a:rPr lang="fr-FR" dirty="0" smtClean="0"/>
              <a:t>(z, </a:t>
            </a:r>
            <a:r>
              <a:rPr lang="fr-FR" dirty="0" err="1"/>
              <a:t>allow.multiplicative.trend</a:t>
            </a:r>
            <a:r>
              <a:rPr lang="fr-FR" dirty="0"/>
              <a:t> = </a:t>
            </a:r>
            <a:r>
              <a:rPr lang="fr-FR" dirty="0" smtClean="0"/>
              <a:t>TRUE)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477623322"/>
      </p:ext>
    </p:extLst>
  </p:cSld>
  <p:clrMapOvr>
    <a:masterClrMapping/>
  </p:clrMapOvr>
</p:sld>
</file>

<file path=ppt/theme/theme1.xml><?xml version="1.0" encoding="utf-8"?>
<a:theme xmlns:a="http://schemas.openxmlformats.org/drawingml/2006/main" name="Modèle par défaut">
  <a:themeElements>
    <a:clrScheme name="Modèle par défaut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Modèle par défaut">
      <a:majorFont>
        <a:latin typeface="Arial"/>
        <a:ea typeface=""/>
        <a:cs typeface="Arial"/>
      </a:majorFont>
      <a:minorFont>
        <a:latin typeface="Arial"/>
        <a:ea typeface="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Modèle par défaut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Modèle par défaut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Modèle par défaut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Modèle par défaut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Modèle par défaut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Modèle par défaut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Modèle par défaut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Modèle par défaut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Modèle par défaut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Modèle par défaut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Modèle par défaut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Modèle par défaut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bbb43a6e-1429-4ccb-956e-ec88e26878fc" xsi:nil="true"/>
    <lcf76f155ced4ddcb4097134ff3c332f xmlns="5969a3df-fd93-4193-9800-386b14b0b801">
      <Terms xmlns="http://schemas.microsoft.com/office/infopath/2007/PartnerControls"/>
    </lcf76f155ced4ddcb4097134ff3c332f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2883354558EB646B359024A5B9BA63C" ma:contentTypeVersion="10" ma:contentTypeDescription="Crée un document." ma:contentTypeScope="" ma:versionID="84b5e804a649bb4eee056239bd95414c">
  <xsd:schema xmlns:xsd="http://www.w3.org/2001/XMLSchema" xmlns:xs="http://www.w3.org/2001/XMLSchema" xmlns:p="http://schemas.microsoft.com/office/2006/metadata/properties" xmlns:ns2="5969a3df-fd93-4193-9800-386b14b0b801" xmlns:ns3="bbb43a6e-1429-4ccb-956e-ec88e26878fc" targetNamespace="http://schemas.microsoft.com/office/2006/metadata/properties" ma:root="true" ma:fieldsID="7ee71fa76c9fc74ac3fae7b66522c9fc" ns2:_="" ns3:_="">
    <xsd:import namespace="5969a3df-fd93-4193-9800-386b14b0b801"/>
    <xsd:import namespace="bbb43a6e-1429-4ccb-956e-ec88e26878fc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969a3df-fd93-4193-9800-386b14b0b801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Balises d’images" ma:readOnly="false" ma:fieldId="{5cf76f15-5ced-4ddc-b409-7134ff3c332f}" ma:taxonomyMulti="true" ma:sspId="40b370b0-9eaa-4130-b410-c3818eab2b98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bb43a6e-1429-4ccb-956e-ec88e26878fc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1155ccfb-52d8-4c17-8317-860a04b3be96}" ma:internalName="TaxCatchAll" ma:showField="CatchAllData" ma:web="bbb43a6e-1429-4ccb-956e-ec88e26878f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ype de contenu"/>
        <xsd:element ref="dc:title" minOccurs="0" maxOccurs="1" ma:index="4" ma:displayName="Titr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2E22CB30-4722-4C52-A4E6-A6AFB2DFE7CE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45FA71BF-77C7-47EC-A61E-9E5D5EFB6734}">
  <ds:schemaRefs>
    <ds:schemaRef ds:uri="http://schemas.microsoft.com/office/2006/documentManagement/types"/>
    <ds:schemaRef ds:uri="http://purl.org/dc/elements/1.1/"/>
    <ds:schemaRef ds:uri="http://schemas.microsoft.com/office/2006/metadata/properties"/>
    <ds:schemaRef ds:uri="http://www.w3.org/XML/1998/namespace"/>
    <ds:schemaRef ds:uri="7d51cf81-1658-445f-b2eb-c715923bbf35"/>
    <ds:schemaRef ds:uri="http://schemas.microsoft.com/office/infopath/2007/PartnerControls"/>
    <ds:schemaRef ds:uri="http://schemas.openxmlformats.org/package/2006/metadata/core-properties"/>
    <ds:schemaRef ds:uri="http://purl.org/dc/dcmitype/"/>
    <ds:schemaRef ds:uri="http://purl.org/dc/terms/"/>
  </ds:schemaRefs>
</ds:datastoreItem>
</file>

<file path=customXml/itemProps3.xml><?xml version="1.0" encoding="utf-8"?>
<ds:datastoreItem xmlns:ds="http://schemas.openxmlformats.org/officeDocument/2006/customXml" ds:itemID="{769ACB7C-9CFF-4C96-B761-7368C9FCF771}"/>
</file>

<file path=docProps/app.xml><?xml version="1.0" encoding="utf-8"?>
<Properties xmlns="http://schemas.openxmlformats.org/officeDocument/2006/extended-properties" xmlns:vt="http://schemas.openxmlformats.org/officeDocument/2006/docPropsVTypes">
  <TotalTime>25254</TotalTime>
  <Words>3364</Words>
  <Application>Microsoft Office PowerPoint</Application>
  <PresentationFormat>Affichage à l'écran (4:3)</PresentationFormat>
  <Paragraphs>503</Paragraphs>
  <Slides>69</Slides>
  <Notes>5</Notes>
  <HiddenSlides>0</HiddenSlides>
  <MMClips>0</MMClips>
  <ScaleCrop>false</ScaleCrop>
  <HeadingPairs>
    <vt:vector size="8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Serveurs OLE incorporés</vt:lpstr>
      </vt:variant>
      <vt:variant>
        <vt:i4>4</vt:i4>
      </vt:variant>
      <vt:variant>
        <vt:lpstr>Titres des diapositives</vt:lpstr>
      </vt:variant>
      <vt:variant>
        <vt:i4>69</vt:i4>
      </vt:variant>
    </vt:vector>
  </HeadingPairs>
  <TitlesOfParts>
    <vt:vector size="78" baseType="lpstr">
      <vt:lpstr>Arial</vt:lpstr>
      <vt:lpstr>Calibri</vt:lpstr>
      <vt:lpstr>Cambria Math</vt:lpstr>
      <vt:lpstr>Times New Roman</vt:lpstr>
      <vt:lpstr>Modèle par défaut</vt:lpstr>
      <vt:lpstr>Équation</vt:lpstr>
      <vt:lpstr>Graphique</vt:lpstr>
      <vt:lpstr>Worksheet</vt:lpstr>
      <vt:lpstr>Feuille de calcul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 Lissage exponentiel</dc:title>
  <dc:creator>amrani</dc:creator>
  <cp:lastModifiedBy>IBRAHIM AMRANI JOUTEI IDRISSI</cp:lastModifiedBy>
  <cp:revision>411</cp:revision>
  <dcterms:created xsi:type="dcterms:W3CDTF">2014-12-25T11:29:48Z</dcterms:created>
  <dcterms:modified xsi:type="dcterms:W3CDTF">2025-02-06T11:31:33Z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0x01010002883354558EB646B359024A5B9BA63C</vt:lpwstr>
  </property>
</Properties>
</file>